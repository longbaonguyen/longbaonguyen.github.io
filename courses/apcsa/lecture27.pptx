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76" r:id="rId25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5" Type="http://schemas.openxmlformats.org/officeDocument/2006/relationships/slide" Target="slides/slide10.xml"/><Relationship Id="rId26" Type="http://schemas.openxmlformats.org/officeDocument/2006/relationships/presProps" Target="presProps.xml"/><Relationship Id="rId27" Type="http://schemas.openxmlformats.org/officeDocument/2006/relationships/slide" Target="slides/slide2.xml"/><Relationship Id="rId28" Type="http://schemas.openxmlformats.org/officeDocument/2006/relationships/slide" Target="slides/slide3.xml"/><Relationship Id="rId29" Type="http://schemas.openxmlformats.org/officeDocument/2006/relationships/slide" Target="slides/slide4.xml"/><Relationship Id="rId30" Type="http://schemas.openxmlformats.org/officeDocument/2006/relationships/slide" Target="slides/slide5.xml"/><Relationship Id="rId31" Type="http://schemas.openxmlformats.org/officeDocument/2006/relationships/slide" Target="slides/slide6.xml"/><Relationship Id="rId32" Type="http://schemas.openxmlformats.org/officeDocument/2006/relationships/slide" Target="slides/slide7.xml"/><Relationship Id="rId33" Type="http://schemas.openxmlformats.org/officeDocument/2006/relationships/slide" Target="slides/slide8.xml"/><Relationship Id="rId34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hdr"/>
          </p:nvPr>
        </p:nvSpPr>
        <p:spPr>
          <a:xfrm>
            <a:off x="-36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dt" idx="1"/>
          </p:nvPr>
        </p:nvSpPr>
        <p:spPr>
          <a:xfrm>
            <a:off x="388440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sldImg"/>
          </p:nvPr>
        </p:nvSpPr>
        <p:spPr>
          <a:xfrm>
            <a:off x="1143000" y="685440"/>
            <a:ext cx="4572000" cy="34290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Click to move the slide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ftr" idx="2"/>
          </p:nvPr>
        </p:nvSpPr>
        <p:spPr>
          <a:xfrm>
            <a:off x="-3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sldNum" idx="3"/>
          </p:nvPr>
        </p:nvSpPr>
        <p:spPr>
          <a:xfrm>
            <a:off x="388440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0CC4B10-92CC-4FBD-BC4C-410558125951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AutoShape 3"/>
          <p:cNvSpPr/>
          <p:nvPr/>
        </p:nvSpPr>
        <p:spPr>
          <a:xfrm>
            <a:off x="0" y="0"/>
            <a:ext cx="9144000" cy="1066680"/>
          </a:xfrm>
          <a:prstGeom prst="roundRect">
            <a:avLst>
              <a:gd name="adj" fmla="val 111"/>
            </a:avLst>
          </a:prstGeom>
          <a:gradFill rotWithShape="0">
            <a:gsLst>
              <a:gs pos="0">
                <a:srgbClr val="244e72"/>
              </a:gs>
              <a:gs pos="100000">
                <a:srgbClr val="5a9fd4"/>
              </a:gs>
            </a:gsLst>
            <a:lin ang="4500000"/>
          </a:gra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anchor="ctr">
            <a:noAutofit/>
          </a:bodyPr>
          <a:p>
            <a:pPr>
              <a:lnSpc>
                <a:spcPct val="93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231840" indent="-23184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spcBef>
                <a:spcPts val="601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2" marL="914400" indent="-17460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3" marL="1203480" indent="-173160">
              <a:spcBef>
                <a:spcPts val="601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4" marL="1596960" indent="-220680">
              <a:spcBef>
                <a:spcPts val="601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5" marL="1596960" indent="-220680">
              <a:spcBef>
                <a:spcPts val="601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6" marL="1596960" indent="-220680">
              <a:spcBef>
                <a:spcPts val="601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3" name="Slide Number Placeholder 3"/>
          <p:cNvSpPr/>
          <p:nvPr/>
        </p:nvSpPr>
        <p:spPr>
          <a:xfrm>
            <a:off x="8229600" y="6356520"/>
            <a:ext cx="7621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indent="0" algn="r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E9FD8D7-522B-49D1-A2BB-12DED10114D8}" type="slidenum">
              <a:rPr b="0" lang="en-US" sz="1200" spc="-1" strike="noStrike">
                <a:solidFill>
                  <a:srgbClr val="424242"/>
                </a:solidFill>
                <a:latin typeface="Verdan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3"/>
          <p:cNvSpPr/>
          <p:nvPr/>
        </p:nvSpPr>
        <p:spPr>
          <a:xfrm>
            <a:off x="0" y="0"/>
            <a:ext cx="9144000" cy="1390680"/>
          </a:xfrm>
          <a:prstGeom prst="roundRect">
            <a:avLst>
              <a:gd name="adj" fmla="val 111"/>
            </a:avLst>
          </a:prstGeom>
          <a:gradFill rotWithShape="0">
            <a:gsLst>
              <a:gs pos="0">
                <a:srgbClr val="244e72"/>
              </a:gs>
              <a:gs pos="100000">
                <a:srgbClr val="5a9fd4"/>
              </a:gs>
            </a:gsLst>
            <a:lin ang="4500000"/>
          </a:gra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anchor="ctr">
            <a:noAutofit/>
          </a:bodyPr>
          <a:p>
            <a:pPr>
              <a:lnSpc>
                <a:spcPct val="93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231840" indent="-23184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spcBef>
                <a:spcPts val="601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2" marL="914400" indent="-17460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3" marL="1203480" indent="-173160">
              <a:spcBef>
                <a:spcPts val="601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4" marL="1596960" indent="-220680">
              <a:spcBef>
                <a:spcPts val="601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5" marL="1596960" indent="-220680">
              <a:spcBef>
                <a:spcPts val="601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6" marL="1596960" indent="-220680">
              <a:spcBef>
                <a:spcPts val="601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7772400" cy="228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000000"/>
                </a:solidFill>
                <a:latin typeface="Tahoma"/>
              </a:rPr>
              <a:t>Unit 4: Data Collections</a:t>
            </a:r>
            <a:br>
              <a:rPr sz="3400"/>
            </a:br>
            <a:r>
              <a:rPr b="1" lang="en-US" sz="3400" spc="-1" strike="noStrike">
                <a:solidFill>
                  <a:srgbClr val="000000"/>
                </a:solidFill>
                <a:latin typeface="Tahoma"/>
              </a:rPr>
              <a:t>  Introduction to Using Data Sets</a:t>
            </a:r>
            <a:endParaRPr b="1" lang="en-US" sz="3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Rectangle 3"/>
          <p:cNvSpPr/>
          <p:nvPr/>
        </p:nvSpPr>
        <p:spPr>
          <a:xfrm>
            <a:off x="1360440" y="4114800"/>
            <a:ext cx="6400800" cy="175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 fontScale="93333" lnSpcReduction="10000"/>
          </a:bodyPr>
          <a:p>
            <a:pPr>
              <a:lnSpc>
                <a:spcPct val="10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Aligned to: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AP Computer Science A Course and Exam Description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Effective Fall 2025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Topic 4.2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Box 4"/>
          <p:cNvSpPr/>
          <p:nvPr/>
        </p:nvSpPr>
        <p:spPr>
          <a:xfrm>
            <a:off x="169560" y="6248520"/>
            <a:ext cx="33566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https://longbaonguyen.github.io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Box 4"/>
          <p:cNvSpPr/>
          <p:nvPr/>
        </p:nvSpPr>
        <p:spPr>
          <a:xfrm>
            <a:off x="163800" y="5688000"/>
            <a:ext cx="6858720" cy="73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This work is licensed under the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Creative Commons Attribution-NonCommercial-ShareAlike 4.0 International License.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What Is a Data Set?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51920" y="1294920"/>
            <a:ext cx="8991720" cy="541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A data set is a collection of specific pieces of information.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Test scores for a class. Daily rainfall for a year. Every transaction a shop made last month.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What makes it a data set rather than a pile of numbers is that the pieces are related and can be examined together to answer a question.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nodeType="clickEffect" fill="hold">
                      <p:stCondLst>
                        <p:cond delay="indefinite"/>
                      </p:stCondLst>
                      <p:childTnLst>
                        <p:par>
                          <p:cTn id="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nodeType="clickEffect" fill="hold">
                      <p:stCondLst>
                        <p:cond delay="indefinite"/>
                      </p:stCondLst>
                      <p:childTnLst>
                        <p:par>
                          <p:cTn id="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nodeType="clickEffect" fill="hold">
                      <p:stCondLst>
                        <p:cond delay="indefinite"/>
                      </p:stCondLst>
                      <p:childTnLst>
                        <p:par>
                          <p:cTn id="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How We Work With One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51920" y="1294920"/>
            <a:ext cx="8991720" cy="541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You almost never look at a data set all at once. You work through it.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Values in the set are accessed and used ONE AT A TIME, and each one is processed toward whatever outcome you are after.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That pattern — visit each value, do something with it, carry a result forward — is a traversal, and it is what the rest of this unit is about.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Arrays, ArrayLists and files are three ways to hold a data set. The traversal barely changes.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nodeType="clickEffect" fill="hold">
                      <p:stCondLst>
                        <p:cond delay="indefinite"/>
                      </p:stCondLst>
                      <p:childTnLst>
                        <p:par>
                          <p:cTn id="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nodeType="clickEffect" fill="hold">
                      <p:stCondLst>
                        <p:cond delay="indefinite"/>
                      </p:stCondLst>
                      <p:childTnLst>
                        <p:par>
                          <p:cTn id="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nodeType="clickEffect" fill="hold">
                      <p:stCondLst>
                        <p:cond delay="indefinite"/>
                      </p:stCondLst>
                      <p:childTnLst>
                        <p:par>
                          <p:cTn id="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Plan Before You Code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51920" y="1294920"/>
            <a:ext cx="8991720" cy="541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Data can be represented in a chart or a table. That picture is not decoration — it is how you plan the algorithm.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Laying the data out shows you what one row is, which column you care about, and what you are accumulating as you go.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Describe the algorithm in plain language first. If you cannot say it in English, the Java will not save you.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nodeType="clickEffect" fill="hold">
                      <p:stCondLst>
                        <p:cond delay="indefinite"/>
                      </p:stCondLst>
                      <p:childTnLst>
                        <p:par>
                          <p:cTn id="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nodeType="clickEffect" fill="hold">
                      <p:stCondLst>
                        <p:cond delay="indefinite"/>
                      </p:stCondLst>
                      <p:childTnLst>
                        <p:par>
                          <p:cTn id="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nodeType="clickEffect" fill="hold">
                      <p:stCondLst>
                        <p:cond delay="indefinite"/>
                      </p:stCondLst>
                      <p:childTnLst>
                        <p:par>
                          <p:cTn id="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A Data Set to Work With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51920" y="1294920"/>
            <a:ext cx="8991720" cy="541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A cafeteria waste audit, five school days: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  Day   Meals served   Pounds discarded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  ---   ------------   ----------------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   1         412              38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   2         398              51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   3         405              33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   4         421              47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   5         388              62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Each row is one day. Each column is one thing measured about that day.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nodeType="clickEffect" fill="hold">
                      <p:stCondLst>
                        <p:cond delay="indefinite"/>
                      </p:stCondLst>
                      <p:childTnLst>
                        <p:par>
                          <p:cTn id="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nodeType="clickEffect" fill="hold">
                      <p:stCondLst>
                        <p:cond delay="indefinite"/>
                      </p:stCondLst>
                      <p:childTnLst>
                        <p:par>
                          <p:cTn id="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nodeType="clickEffect" fill="hold">
                      <p:stCondLst>
                        <p:cond delay="indefinite"/>
                      </p:stCondLst>
                      <p:childTnLst>
                        <p:par>
                          <p:cTn id="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From Table to Algorithm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51920" y="1294920"/>
            <a:ext cx="8991720" cy="541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Question: which day wasted the most food per meal served?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In words, before any Java: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1) Start with no best day yet.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2) For each row, compute pounds discarded divided by meals served.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3) If that is bigger than the best so far, remember this day instead.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4) When the rows run out, the remembered day is the answer.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That description is the algorithm. Writing it in Java is now translation, not invention.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nodeType="clickEffect" fill="hold">
                      <p:stCondLst>
                        <p:cond delay="indefinite"/>
                      </p:stCondLst>
                      <p:childTnLst>
                        <p:par>
                          <p:cTn id="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nodeType="clickEffect" fill="hold">
                      <p:stCondLst>
                        <p:cond delay="indefinite"/>
                      </p:stCondLst>
                      <p:childTnLst>
                        <p:par>
                          <p:cTn id="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nodeType="clickEffect" fill="hold">
                      <p:stCondLst>
                        <p:cond delay="indefinite"/>
                      </p:stCondLst>
                      <p:childTnLst>
                        <p:par>
                          <p:cTn id="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Three Questions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51920" y="1294920"/>
            <a:ext cx="8991720" cy="541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When you are staring at a data set and do not know where to start, answer these: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1) What am I looking at each step?  (one row? one number?)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2) What am I carrying with me?  (a running total? a count? the best so far?)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3) What do I do when the data runs out?  (return it? divide it? print it?)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Almost every algorithm in this unit is those three answers in a loop.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nodeType="clickEffect" fill="hold">
                      <p:stCondLst>
                        <p:cond delay="indefinite"/>
                      </p:stCondLst>
                      <p:childTnLst>
                        <p:par>
                          <p:cTn id="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nodeType="clickEffect" fill="hold">
                      <p:stCondLst>
                        <p:cond delay="indefinite"/>
                      </p:stCondLst>
                      <p:childTnLst>
                        <p:par>
                          <p:cTn id="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nodeType="clickEffect" fill="hold">
                      <p:stCondLst>
                        <p:cond delay="indefinite"/>
                      </p:stCondLst>
                      <p:childTnLst>
                        <p:par>
                          <p:cTn id="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Algorithms to Know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51920" y="1294920"/>
            <a:ext cx="8991720" cy="541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Over a data set, you will be asked to: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total the values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count the ones that meet a condition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find the largest or smallest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compute an average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find the item with the biggest something (not the biggest value itself)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check whether every value, or any value, satisfies a test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Learn the shape of these once and the specific question stops mattering.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nodeType="clickEffect" fill="hold">
                      <p:stCondLst>
                        <p:cond delay="indefinite"/>
                      </p:stCondLst>
                      <p:childTnLst>
                        <p:par>
                          <p:cTn id="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nodeType="clickEffect" fill="hold">
                      <p:stCondLst>
                        <p:cond delay="indefinite"/>
                      </p:stCondLst>
                      <p:childTnLst>
                        <p:par>
                          <p:cTn id="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nodeType="clickEffect" fill="hold">
                      <p:stCondLst>
                        <p:cond delay="indefinite"/>
                      </p:stCondLst>
                      <p:childTnLst>
                        <p:par>
                          <p:cTn id="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Your Turn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51920" y="1294920"/>
            <a:ext cx="8991720" cy="541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Using the cafeteria table, describe each of these in words — carrying, comparing, and finishing: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1) What was the average number of meals served per day?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2) How many days had more than 45 pounds of waste?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3) Which day had the best ratio of meals served to pounds discarded?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Do not write Java yet. Write sentences. Then compare with a partner — where you disagree is where the specification was ambiguous.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nodeType="clickEffect" fill="hold">
                      <p:stCondLst>
                        <p:cond delay="indefinite"/>
                      </p:stCondLst>
                      <p:childTnLst>
                        <p:par>
                          <p:cTn id="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nodeType="clickEffect" fill="hold">
                      <p:stCondLst>
                        <p:cond delay="indefinite"/>
                      </p:stCondLst>
                      <p:childTnLst>
                        <p:par>
                          <p:cTn id="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nodeType="clickEffect" fill="hold">
                      <p:stCondLst>
                        <p:cond delay="indefinite"/>
                      </p:stCondLst>
                      <p:childTnLst>
                        <p:par>
                          <p:cTn id="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References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For more tutorials/lecture notes in Java, Python, game programming, artificial intelligence with neural networks: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https://longbaonguyen.github.io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67" name="Rectangle 1"/>
          <p:cNvSpPr/>
          <p:nvPr/>
        </p:nvSpPr>
        <p:spPr>
          <a:xfrm>
            <a:off x="228600" y="1447920"/>
            <a:ext cx="8458200" cy="14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343080" indent="-343080">
              <a:buClr>
                <a:srgbClr val="000000"/>
              </a:buClr>
              <a:buFont typeface="Arial"/>
              <a:buAutoNum type="arabicParenR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Building Java Programs: A Back to Basics Approach by Stuart Reges and Marty Stepp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2) Runestone CSAwesome Curriculum: https://runestone.academy/runestone/books/published/csawesome/index.html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6533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2008-06-28T20:57:21Z</dcterms:created>
  <dc:creator>Marty Stepp</dc:creator>
  <dc:description>Slides used in the University of Washington's CSE 142 Python sessions.</dc:description>
  <cp:keywords>Python</cp:keywords>
  <dc:language>en-US</dc:language>
  <cp:lastModifiedBy>Long Nguyen</cp:lastModifiedBy>
  <cp:lastPrinted>2019-10-07T11:45:46Z</cp:lastPrinted>
  <dcterms:modified xsi:type="dcterms:W3CDTF">2023-03-01T14:46:30Z</dcterms:modified>
  <cp:revision>291</cp:revision>
  <dc:subject/>
  <dc:title>CSE 142 Python Slides</dc:title>
</cp:coreProperties>
</file>