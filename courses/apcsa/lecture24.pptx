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76" r:id="rId2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5" Type="http://schemas.openxmlformats.org/officeDocument/2006/relationships/slide" Target="slides/slide12.xml"/><Relationship Id="rId26" Type="http://schemas.openxmlformats.org/officeDocument/2006/relationships/presProps" Target="presProps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1"/>
          </p:nvPr>
        </p:nvSpPr>
        <p:spPr>
          <a:xfrm>
            <a:off x="3884400" y="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Img"/>
          </p:nvPr>
        </p:nvSpPr>
        <p:spPr>
          <a:xfrm>
            <a:off x="1143000" y="685440"/>
            <a:ext cx="4572000" cy="34290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move the slide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2"/>
          </p:nvPr>
        </p:nvSpPr>
        <p:spPr>
          <a:xfrm>
            <a:off x="-3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3"/>
          </p:nvPr>
        </p:nvSpPr>
        <p:spPr>
          <a:xfrm>
            <a:off x="388440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0CC4B10-92CC-4FBD-BC4C-410558125951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AutoShape 3"/>
          <p:cNvSpPr/>
          <p:nvPr/>
        </p:nvSpPr>
        <p:spPr>
          <a:xfrm>
            <a:off x="0" y="0"/>
            <a:ext cx="9144000" cy="1066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3" name="Slide Number Placeholder 3"/>
          <p:cNvSpPr/>
          <p:nvPr/>
        </p:nvSpPr>
        <p:spPr>
          <a:xfrm>
            <a:off x="822960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indent="0" algn="r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9FD8D7-522B-49D1-A2BB-12DED10114D8}" type="slidenum">
              <a:rPr b="0" lang="en-US" sz="1200" spc="-1" strike="noStrike">
                <a:solidFill>
                  <a:srgbClr val="424242"/>
                </a:solidFill>
                <a:latin typeface="Verdan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3"/>
          <p:cNvSpPr/>
          <p:nvPr/>
        </p:nvSpPr>
        <p:spPr>
          <a:xfrm>
            <a:off x="0" y="0"/>
            <a:ext cx="9144000" cy="1390680"/>
          </a:xfrm>
          <a:prstGeom prst="roundRect">
            <a:avLst>
              <a:gd name="adj" fmla="val 111"/>
            </a:avLst>
          </a:prstGeom>
          <a:gradFill rotWithShape="0">
            <a:gsLst>
              <a:gs pos="0">
                <a:srgbClr val="244e72"/>
              </a:gs>
              <a:gs pos="100000">
                <a:srgbClr val="5a9fd4"/>
              </a:gs>
            </a:gsLst>
            <a:lin ang="4500000"/>
          </a:gra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anchor="ctr">
            <a:noAutofit/>
          </a:bodyPr>
          <a:p>
            <a:pPr>
              <a:lnSpc>
                <a:spcPct val="93000"/>
              </a:lnSpc>
              <a:tabLst>
                <a:tab algn="l" pos="0"/>
                <a:tab algn="l" pos="457200"/>
                <a:tab algn="l" pos="914400"/>
                <a:tab algn="l" pos="1371600"/>
                <a:tab algn="l" pos="1828800"/>
                <a:tab algn="l" pos="2286000"/>
                <a:tab algn="l" pos="2743200"/>
                <a:tab algn="l" pos="3200400"/>
                <a:tab algn="l" pos="3657600"/>
                <a:tab algn="l" pos="4114800"/>
                <a:tab algn="l" pos="4572000"/>
                <a:tab algn="l" pos="5029200"/>
                <a:tab algn="l" pos="5486400"/>
                <a:tab algn="l" pos="5943600"/>
                <a:tab algn="l" pos="6400800"/>
                <a:tab algn="l" pos="6858000"/>
                <a:tab algn="l" pos="7315200"/>
                <a:tab algn="l" pos="7772400"/>
                <a:tab algn="l" pos="8229600"/>
                <a:tab algn="l" pos="8686800"/>
                <a:tab algn="l" pos="91440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231840" indent="-23184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1" marL="625320" indent="-2793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2" marL="914400" indent="-17460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3" marL="1203480" indent="-173160">
              <a:spcBef>
                <a:spcPts val="601"/>
              </a:spcBef>
              <a:buClr>
                <a:srgbClr val="000000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4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5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lvl="6" marL="1596960" indent="-220680">
              <a:spcBef>
                <a:spcPts val="601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7772400" cy="228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000000"/>
                </a:solidFill>
                <a:latin typeface="Tahoma"/>
              </a:rPr>
              <a:t>Unit 3: Class Creation</a:t>
            </a:r>
            <a:br>
              <a:rPr sz="3400"/>
            </a:br>
            <a:r>
              <a:rPr b="1" lang="en-US" sz="3400" spc="-1" strike="noStrike">
                <a:solidFill>
                  <a:srgbClr val="000000"/>
                </a:solidFill>
                <a:latin typeface="Tahoma"/>
              </a:rPr>
              <a:t>  Abstraction and Program Design</a:t>
            </a:r>
            <a:endParaRPr b="1" lang="en-US" sz="3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Rectangle 3"/>
          <p:cNvSpPr/>
          <p:nvPr/>
        </p:nvSpPr>
        <p:spPr>
          <a:xfrm>
            <a:off x="1360440" y="4114800"/>
            <a:ext cx="6400800" cy="17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 fontScale="93333" lnSpcReduction="10000"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Aligned to: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AP Computer Science A Course and Exam Description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Effective Fall 2025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Tahoma"/>
              </a:rPr>
              <a:t>Topic 3.1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Box 4"/>
          <p:cNvSpPr/>
          <p:nvPr/>
        </p:nvSpPr>
        <p:spPr>
          <a:xfrm>
            <a:off x="169560" y="6248520"/>
            <a:ext cx="33566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https://longbaonguyen.github.io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Box 4"/>
          <p:cNvSpPr/>
          <p:nvPr/>
        </p:nvSpPr>
        <p:spPr>
          <a:xfrm>
            <a:off x="163800" y="5688000"/>
            <a:ext cx="6858720" cy="7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This work is licensed under the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Creative Commons Attribution-NonCommercial-ShareAlike 4.0 International License.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What is Abstraction?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abstraction: reducing complexity by hiding the details you do not need right now.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You have used it all year without naming it. When you write: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double r = Math.sqrt(2);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you do not know or care how Java computes a square root. You know what it gives you back. That is the whole idea.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Abstraction is what lets one person build something bigger than one person can hold in their head.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Two Kinds to Name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procedural abstraction: using a method for what it does, without knowing how it does it.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You call it by name. Someone else wrote the body.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data abstraction: separating what a type is from how it is actually stored.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 Deck of cards is a deck whether it is stored in an array or an ArrayList. The client does not need to know which.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Both are the same move: name the thing, hide the machinery.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Procedural Abstraction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Here is the same computation, written out three times: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int sum1 = 0;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for (int s : ada)  sum1 += s;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double avgAda = (double) sum1 / ada.length;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...and again for ben, and again for chen. Now change the rule and you must find and fix all three.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Pull it into one method and the duplication is gone: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public static double average(int[] a)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Parameters are what make a method general. Without them you would need a separate method per array.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Data Abstraction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Suppose you are given a Deck class and told only this: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void shuffle()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String deal()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int cardsRemaining()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You can write an entire card game against that, without ever opening Deck.java.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Later the author swaps the internal array for an ArrayList. Your game still compiles and still runs.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That is the payoff: the inside can change because the outside was a promise, not a peek.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Attributes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The CED gives these terms precise meanings, and they are testable: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An ATTRIBUTE is a type of data abstraction defined in a class, outside any method or constructor.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An INSTANCE VARIABLE is an attribute whose value is unique to each object of the class.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 CLASS VARIABLE is an attribute shared by all instances of the class.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So attribute is the design word. Instance variable and class variable are the two kinds you actually declare.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Design Before You Type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Given a problem in English, the design work happens before any Java.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Read the description and look for two things: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NOUNS become classes and attributes — the things the program knows.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VERBS become behaviors — the things the program does.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This is not a rule that always works, but it is a reliable place to start.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A Vending Machine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"The machine holds a number of items, each with a price. It accepts coins, tells the customer how much they have inserted, dispenses an item if enough money was paid, and returns change."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Attributes (what it knows):  the items it holds, each item price, money inserted so far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Behaviors (what it does):  insertCoin, amountInserted, dispense, giveChange, restock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Notice we have written no Java at all — and the class is already designed.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Representing a Design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The CED asks you to represent a design in natural language or in a diagram. Both are fine. A simple box works: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VendingMachine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------------------------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items, prices, inserted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------------------------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insertCoin(int cents)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dispense(int slot)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buNone/>
            </a:pPr>
            <a:r>
              <a:rPr b="0" lang="en-US" sz="2400" spc="-1" strike="noStrike" i="0">
                <a:solidFill>
                  <a:srgbClr val="000000"/>
                </a:solidFill>
                <a:latin typeface="Courier New"/>
              </a:rPr>
              <a:t>  giveChange()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Name on top, attributes in the middle, behaviors at the bottom.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This Is FRQ 2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Question 2 of the free response is Class Design. It hands you a specification in English and asks for a class.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The translation is always the same: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attributes  →  private instance variables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behaviors  →  methods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the values needed to start  →  the constructor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Students who lose points here usually started typing before they decided what the class knows.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Your Turn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151920" y="1294920"/>
            <a:ext cx="8991720" cy="541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"A library book has a title, an author, and a status showing whether it is checked out. A book can be checked out, returned, and asked whether it is available. The library can also be asked to print the title and author together."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Before writing any code: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1) List the attributes.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2) List the behaviors, with the parameters each one needs.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3) Decide which values the constructor must receive.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 marL="231840" indent="-231840" lvl="0">
              <a:spcBef>
                <a:spcPts val="601"/>
              </a:spcBef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 i="0">
                <a:solidFill>
                  <a:srgbClr val="000000"/>
                </a:solidFill>
                <a:latin typeface="Tahoma"/>
              </a:rPr>
              <a:t>Compare your design with a partner. More than one good answer exists — that is the point.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nodeType="clickEffect" fill="hold">
                      <p:stCondLst>
                        <p:cond delay="indefinite"/>
                      </p:stCondLst>
                      <p:childTnLst>
                        <p:par>
                          <p:cTn id="4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nodeType="clickEffect" fill="hold">
                      <p:stCondLst>
                        <p:cond delay="indefinite"/>
                      </p:stCondLst>
                      <p:childTnLst>
                        <p:par>
                          <p:cTn id="12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nodeType="clickEffect" fill="hold">
                      <p:stCondLst>
                        <p:cond delay="indefinite"/>
                      </p:stCondLst>
                      <p:childTnLst>
                        <p:par>
                          <p:cTn id="20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nodeType="clickEffect" fill="hold">
                      <p:stCondLst>
                        <p:cond delay="indefinite"/>
                      </p:stCondLst>
                      <p:childTnLst>
                        <p:par>
                          <p:cTn id="28" nodeType="withEffect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Tahoma"/>
              </a:rPr>
              <a:t>References</a:t>
            </a:r>
            <a:endParaRPr b="1" lang="en-US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51920" y="1295280"/>
            <a:ext cx="8991720" cy="51818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For more tutorials/lecture notes in Java, Python, game programming, artificial intelligence with neural networks: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Tahoma"/>
              </a:rPr>
              <a:t>https://longbaonguyen.github.io</a:t>
            </a: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  <a:p>
            <a:pPr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pc="-1" strike="noStrike">
              <a:solidFill>
                <a:srgbClr val="000000"/>
              </a:solidFill>
              <a:latin typeface="Tahoma"/>
            </a:endParaRPr>
          </a:p>
        </p:txBody>
      </p:sp>
      <p:sp>
        <p:nvSpPr>
          <p:cNvPr id="67" name="Rectangle 1"/>
          <p:cNvSpPr/>
          <p:nvPr/>
        </p:nvSpPr>
        <p:spPr>
          <a:xfrm>
            <a:off x="228600" y="1447920"/>
            <a:ext cx="8458200" cy="14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343080" indent="-343080">
              <a:buClr>
                <a:srgbClr val="000000"/>
              </a:buClr>
              <a:buFont typeface="Arial"/>
              <a:buAutoNum type="arabicParenR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Building Java Programs: A Back to Basics Approach by Stuart Reges and Marty Stepp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2) Runestone CSAwesome Curriculum: https://runestone.academy/runestone/books/published/csawesome/index.html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6533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2008-06-28T20:57:21Z</dcterms:created>
  <dc:creator>Marty Stepp</dc:creator>
  <dc:description>Slides used in the University of Washington's CSE 142 Python sessions.</dc:description>
  <cp:keywords>Python</cp:keywords>
  <dc:language>en-US</dc:language>
  <cp:lastModifiedBy>Long Nguyen</cp:lastModifiedBy>
  <cp:lastPrinted>2019-10-07T11:45:46Z</cp:lastPrinted>
  <dcterms:modified xsi:type="dcterms:W3CDTF">2023-03-01T14:46:30Z</dcterms:modified>
  <cp:revision>291</cp:revision>
  <dc:subject/>
  <dc:title>CSE 142 Python Slides</dc:title>
</cp:coreProperties>
</file>