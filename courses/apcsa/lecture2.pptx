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86" r:id="rId36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<Relationship Id="rId36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735CD6-BA52-402B-8922-559B5392BE8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38F421-6C9F-4E77-820F-A69FC64A71C4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 variable is also like the MS / MR buttons on a calculator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variables must be declared before they are used, just like methods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lide Number Placeholder 3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3EE73E-6B4B-4C11-8589-3781AA52B5B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4DDFD0-1D76-40C1-8AF6-B4B67AACAAD2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 variable is also like the MS / MR buttons on a calculator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variables must be declared before they are used, just like methods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lide Number Placeholder 3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9A55E4-15A8-4624-A890-3D4CDB4EA5D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9592FC-E6F7-4735-8DCF-098442894200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 variable is also like the MS / MR buttons on a calculator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variables must be declared before they are used, just like methods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lide Number Placeholder 3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757579-5C99-4E36-8E02-F53F8E53453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A1FCA1-59BA-468A-ADE2-0D4E446B86AA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300716-E033-4481-9690-28AEBBE141B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x = x + 2;     increases the value stored in variable x by two.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56AF6E-6938-4907-B1E8-A02B77A3FA9F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Box 2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776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B636B5-1A34-4B21-823B-3F4B690E4AA5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F123F6-70FD-4D6E-8F61-159E8E4C86E5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It's also useful to write a program that prompts for multiple values, both on the same line or each on its own 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AEB514-8248-434C-98C0-D68A31808A22}" type="slidenum">
              <a:rPr b="0" lang="en-US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114444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It's also useful to write a program that prompts for multiple values, both on the same line or each on its own line.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D260F4-8683-482F-A05B-EA99CD3A1FCA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1: Using Objects and Methods </a:t>
            </a: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Variables and Datatypes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1371600" y="4038120"/>
            <a:ext cx="6400800" cy="175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Adapted from: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1) Building Java Programs: A Back to Basics Approach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by Stuart Reges and Marty Stepp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2) Runestone CSAwesome Curriculum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 algn="ctr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6" name="TextBox 3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2284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Data Types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28"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type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is a set of values (e.g. integers, floats, etc..) and a set of operations (e.g. +, -, *, /, etc..)  on them.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Data types can be categorized as either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primitive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or 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reference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primitive data types used in this course define the set of operations for numbers and Boolean(true or false) values.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Reference variables or object variables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 hold a reference(or address) to an object of a class(more on this in a future lecture).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nodeType="clickEffect" fill="hold">
                      <p:stCondLst>
                        <p:cond delay="indefinite"/>
                      </p:stCondLst>
                      <p:childTnLst>
                        <p:par>
                          <p:cTn id="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Primitive types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primitive types on the Advanced Placement Computer Science A exam are: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int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- which store integers (whole numbers like 3, -76, 20393)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double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- which store floating point numbers (decimal numbers like 6.3, -0.9, and 60293.93032)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boolean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- which store Boolean values (either true or false).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nodeType="clickEffect" fill="hold">
                      <p:stCondLst>
                        <p:cond delay="indefinite"/>
                      </p:stCondLst>
                      <p:childTnLst>
                        <p:par>
                          <p:cTn id="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nodeType="clickEffect" fill="hold">
                      <p:stCondLst>
                        <p:cond delay="indefinite"/>
                      </p:stCondLst>
                      <p:childTnLst>
                        <p:par>
                          <p:cTn id="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The Range of int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28"/>
          </a:bodyPr>
          <a:p>
            <a:pPr marL="272880" indent="-272880" lvl="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 int uses 32 bits of memory, and one bit stores the sign. So an int cannot hold every whole number — only the values from Integer.MIN_VALUE to Integer.MAX_VALUE: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 lvl="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Integer.MIN_VALUE = -2147483648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 lvl="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Integer.MAX_VALUE =  2147483647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 lvl="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Going past the maximum does not give an error. The value wraps around to the minimum. This is called overflow: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 lvl="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int big = Integer.MAX_VALUE;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 lvl="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System.out.println(big + 1);   // prints -2147483648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 lvl="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double has a far larger range, but stores only about 15 significant digits, so double arithmetic is not exact.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42" dur="indefinite" restart="never" nodeType="tmRoot">
          <p:childTnLst>
            <p:seq>
              <p:cTn id="43" dur="indefinite" nodeType="mainSeq">
                <p:childTnLst>
                  <p:par>
                    <p:cTn id="44" nodeType="clickEffect" fill="hold">
                      <p:stCondLst>
                        <p:cond delay="indefinite"/>
                      </p:stCondLst>
                      <p:childTnLst>
                        <p:par>
                          <p:cTn id="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nodeType="clickEffect" fill="hold">
                      <p:stCondLst>
                        <p:cond delay="indefinite"/>
                      </p:stCondLst>
                      <p:childTnLst>
                        <p:par>
                          <p:cTn id="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Receipt example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Tahoma"/>
              </a:rPr>
              <a:t>What's bad about the following code?</a:t>
            </a:r>
            <a:endParaRPr b="0" lang="en-US" sz="25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class Receipt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static void main(String[] args)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9900"/>
                </a:solidFill>
                <a:latin typeface="Courier New"/>
              </a:rPr>
              <a:t>// Calculate total owed, assuming 8% tax / 15% tip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System.out.println("Subtotal:");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System.out.println(38 + 40 + 30);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System.out.println("Tax:");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System.out.println((38 + 40 + 30) * .08);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System.out.println("Tip:");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System.out.println((38 + 40 + 30) * .15);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System.out.println("Total:");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System.out.println(38 + 40 + 30 +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(38 + 40 + 30) * .08 +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(38 + 40 + 30) * .15);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subtotal expression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(38 + 40 + 30)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is repeated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So many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println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statements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We will use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variables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to solve the above problems.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" dur="indefinite" restart="never" nodeType="tmRoot">
          <p:childTnLst>
            <p:seq>
              <p:cTn id="30" dur="indefinite" nodeType="mainSeq">
                <p:childTnLst>
                  <p:par>
                    <p:cTn id="31" nodeType="clickEffect" fill="hold">
                      <p:stCondLst>
                        <p:cond delay="indefinite"/>
                      </p:stCondLst>
                      <p:childTnLst>
                        <p:par>
                          <p:cTn id="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1000"/>
                                        <p:tgtEl>
                                          <p:spTgt spid="2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1000"/>
                                        <p:tgtEl>
                                          <p:spTgt spid="2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1000"/>
                                        <p:tgtEl>
                                          <p:spTgt spid="2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Variables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28"/>
          </a:bodyPr>
          <a:p>
            <a:pPr marL="272880" indent="-27288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variable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 piece of the computer's memory that is given a name and type, and can store a value.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Like preset stations on a car stereo, or cell phone speed dial: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Steps for using a variable: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246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Tahoma"/>
              </a:rPr>
              <a:t>Declare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 it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- state its name and type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246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Tahoma"/>
              </a:rPr>
              <a:t>Initialize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it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- store a value into it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2462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25146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Tahoma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it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- print it or use it as part of an expression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26" name="Group 4"/>
          <p:cNvGrpSpPr/>
          <p:nvPr/>
        </p:nvGrpSpPr>
        <p:grpSpPr>
          <a:xfrm>
            <a:off x="1066680" y="3162240"/>
            <a:ext cx="4826160" cy="1181160"/>
            <a:chOff x="1066680" y="3162240"/>
            <a:chExt cx="4826160" cy="1181160"/>
          </a:xfrm>
        </p:grpSpPr>
        <p:pic>
          <p:nvPicPr>
            <p:cNvPr id="27" name="Picture 5" descr="car_stereo"/>
            <p:cNvPicPr/>
            <p:nvPr/>
          </p:nvPicPr>
          <p:blipFill>
            <a:blip r:embed="rId1"/>
            <a:srcRect l="0" t="33199" r="0" b="35405"/>
            <a:stretch/>
          </p:blipFill>
          <p:spPr>
            <a:xfrm>
              <a:off x="1066680" y="3162240"/>
              <a:ext cx="4826160" cy="1181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" name="Oval 6"/>
            <p:cNvSpPr/>
            <p:nvPr/>
          </p:nvSpPr>
          <p:spPr>
            <a:xfrm>
              <a:off x="2456280" y="3929400"/>
              <a:ext cx="2258640" cy="361080"/>
            </a:xfrm>
            <a:prstGeom prst="ellipse">
              <a:avLst/>
            </a:prstGeom>
            <a:noFill/>
            <a:ln w="63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spcBef>
                  <a:spcPts val="499"/>
                </a:spcBef>
                <a:buClr>
                  <a:srgbClr val="800080"/>
                </a:buClr>
                <a:buSzPct val="55000"/>
                <a:buFont typeface="Wingdings" charset="2"/>
                <a:buChar char=""/>
                <a:tabLst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9" name="Picture 7" descr=""/>
          <p:cNvPicPr/>
          <p:nvPr/>
        </p:nvPicPr>
        <p:blipFill>
          <a:blip r:embed="rId2"/>
          <a:srcRect l="0" t="0" r="3169" b="0"/>
          <a:stretch/>
        </p:blipFill>
        <p:spPr>
          <a:xfrm>
            <a:off x="6705720" y="2984400"/>
            <a:ext cx="1504800" cy="1676520"/>
          </a:xfrm>
          <a:prstGeom prst="rect">
            <a:avLst/>
          </a:prstGeom>
          <a:ln w="0">
            <a:noFill/>
          </a:ln>
        </p:spPr>
      </p:pic>
    </p:spTree>
  </p:cSld>
  <p:timing>
    <p:tnLst>
      <p:par>
        <p:cTn id="42" dur="indefinite" restart="never" nodeType="tmRoot">
          <p:childTnLst>
            <p:seq>
              <p:cTn id="43" dur="indefinite" nodeType="mainSeq">
                <p:childTnLst>
                  <p:par>
                    <p:cTn id="44" nodeType="clickEffect" fill="hold">
                      <p:stCondLst>
                        <p:cond delay="indefinite"/>
                      </p:stCondLst>
                      <p:childTnLst>
                        <p:par>
                          <p:cTn id="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nodeType="clickEffect" fill="hold">
                      <p:stCondLst>
                        <p:cond delay="indefinite"/>
                      </p:stCondLst>
                      <p:childTnLst>
                        <p:par>
                          <p:cTn id="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Declaration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variable declaration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Sets aside memory for storing a value.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Variables must be declared</a:t>
            </a:r>
            <a:r>
              <a:rPr b="0" i="1" lang="en-US" sz="2200" spc="-1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before they can be used.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Syntax: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type</a:t>
            </a:r>
            <a:r>
              <a:rPr b="1" i="1" lang="en-US" sz="22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name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name is an </a:t>
            </a:r>
            <a:r>
              <a:rPr b="0" i="1" lang="en-US" sz="2000" spc="-1" strike="noStrike">
                <a:solidFill>
                  <a:srgbClr val="000000"/>
                </a:solidFill>
                <a:latin typeface="Tahoma"/>
              </a:rPr>
              <a:t>identifier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int x;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double myGPA;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32" name=""/>
          <p:cNvGraphicFramePr/>
          <p:nvPr/>
        </p:nvGraphicFramePr>
        <p:xfrm>
          <a:off x="5562720" y="4114800"/>
          <a:ext cx="198108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99072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"/>
          <p:cNvGraphicFramePr/>
          <p:nvPr/>
        </p:nvGraphicFramePr>
        <p:xfrm>
          <a:off x="5562720" y="5384880"/>
          <a:ext cx="304776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205740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myGPA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60" dur="indefinite" restart="never" nodeType="tmRoot">
          <p:childTnLst>
            <p:seq>
              <p:cTn id="61" dur="indefinite" nodeType="mainSeq">
                <p:childTnLst>
                  <p:par>
                    <p:cTn id="62" nodeType="clickEffect" fill="hold">
                      <p:stCondLst>
                        <p:cond delay="indefinite"/>
                      </p:stCondLst>
                      <p:childTnLst>
                        <p:par>
                          <p:cTn id="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nodeType="clickEffect" fill="hold">
                      <p:stCondLst>
                        <p:cond delay="indefinite"/>
                      </p:stCondLst>
                      <p:childTnLst>
                        <p:par>
                          <p:cTn id="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nodeType="clickEffect" fill="hold">
                      <p:stCondLst>
                        <p:cond delay="indefinite"/>
                      </p:stCondLst>
                      <p:childTnLst>
                        <p:par>
                          <p:cTn id="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nodeType="clickEffect" fill="hold">
                      <p:stCondLst>
                        <p:cond delay="indefinite"/>
                      </p:stCondLst>
                      <p:childTnLst>
                        <p:par>
                          <p:cTn id="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Assignment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713"/>
          </a:bodyPr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assignment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Stores a value into a variable.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value can be an expression; the variable stores its result.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Syntax: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name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=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expression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2" marL="1143000" indent="-2286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Courier New"/>
              </a:rPr>
              <a:t>int x;</a:t>
            </a:r>
            <a:br>
              <a:rPr sz="2200"/>
            </a:br>
            <a:r>
              <a:rPr b="1" lang="en-US" sz="2200" spc="-1" strike="noStrike">
                <a:solidFill>
                  <a:srgbClr val="000000"/>
                </a:solidFill>
                <a:latin typeface="Courier New"/>
                <a:ea typeface="Courier New"/>
              </a:rPr>
              <a:t>x = 3;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Courier New"/>
              </a:rPr>
              <a:t>double myGPA;</a:t>
            </a:r>
            <a:br>
              <a:rPr sz="2200"/>
            </a:br>
            <a:r>
              <a:rPr b="1" lang="en-US" sz="2200" spc="-1" strike="noStrike">
                <a:solidFill>
                  <a:srgbClr val="000000"/>
                </a:solidFill>
                <a:latin typeface="Courier New"/>
                <a:ea typeface="Courier New"/>
              </a:rPr>
              <a:t>myGPA = 1.0 + 2.25;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36" name=""/>
          <p:cNvGraphicFramePr/>
          <p:nvPr/>
        </p:nvGraphicFramePr>
        <p:xfrm>
          <a:off x="5562720" y="4114800"/>
          <a:ext cx="198108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99072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3399"/>
                          </a:solidFill>
                          <a:latin typeface="Courier New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"/>
          <p:cNvGraphicFramePr/>
          <p:nvPr/>
        </p:nvGraphicFramePr>
        <p:xfrm>
          <a:off x="5562720" y="5410080"/>
          <a:ext cx="3047760" cy="660600"/>
        </p:xfrm>
        <a:graphic>
          <a:graphicData uri="http://schemas.openxmlformats.org/drawingml/2006/table">
            <a:tbl>
              <a:tblPr/>
              <a:tblGrid>
                <a:gridCol w="990360"/>
                <a:gridCol w="2057400"/>
              </a:tblGrid>
              <a:tr h="66060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myGPA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3399"/>
                          </a:solidFill>
                          <a:latin typeface="Courier New"/>
                        </a:rPr>
                        <a:t>3.25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Using variables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28"/>
          </a:bodyPr>
          <a:p>
            <a:pPr marL="272880" indent="-27288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Once given a value, a variable can be used in expressions: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x;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x = 3;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System.out.println("x is " + 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x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);    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x is 3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2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System.out.println(5 * 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x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- 1);      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14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You can assign a value more than once: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800"/>
            </a:b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x;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x = 3;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System.out.println(x + " here");    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3 here</a:t>
            </a:r>
            <a:br>
              <a:rPr sz="2000"/>
            </a:br>
            <a:br>
              <a:rPr sz="2000"/>
            </a:b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x = 4 + 7;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System.out.println("now x is " + x);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now x is 11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40" name=""/>
          <p:cNvGraphicFramePr/>
          <p:nvPr/>
        </p:nvGraphicFramePr>
        <p:xfrm>
          <a:off x="6705720" y="3962520"/>
          <a:ext cx="198108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99072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"/>
          <p:cNvGraphicFramePr/>
          <p:nvPr/>
        </p:nvGraphicFramePr>
        <p:xfrm>
          <a:off x="6705720" y="3962520"/>
          <a:ext cx="198108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99072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3399"/>
                          </a:solidFill>
                          <a:latin typeface="Courier New"/>
                        </a:rPr>
                        <a:t>11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5"/>
          <p:cNvSpPr/>
          <p:nvPr/>
        </p:nvSpPr>
        <p:spPr>
          <a:xfrm>
            <a:off x="3733920" y="1652760"/>
            <a:ext cx="396216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0000"/>
                </a:solidFill>
                <a:latin typeface="Arial"/>
              </a:rPr>
              <a:t>string concatenation: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0000"/>
                </a:solidFill>
                <a:latin typeface="Arial"/>
              </a:rPr>
              <a:t>string + number = concatenated string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pc="-1" strike="noStrike">
                <a:solidFill>
                  <a:srgbClr val="ff0000"/>
                </a:solidFill>
                <a:latin typeface="Arial"/>
              </a:rPr>
              <a:t>(more on this later)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" name="Straight Arrow Connector 6"/>
          <p:cNvCxnSpPr/>
          <p:nvPr/>
        </p:nvCxnSpPr>
        <p:spPr>
          <a:xfrm>
            <a:off x="4952880" y="2437920"/>
            <a:ext cx="76680" cy="22932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</p:cxnSp>
    </p:spTree>
  </p:cSld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nodeType="clickEffect" fill="hold">
                      <p:stCondLst>
                        <p:cond delay="indefinite"/>
                      </p:stCondLst>
                      <p:childTnLst>
                        <p:par>
                          <p:cTn id="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nodeType="clickEffect" fill="hold">
                      <p:stCondLst>
                        <p:cond delay="indefinite"/>
                      </p:stCondLst>
                      <p:childTnLst>
                        <p:par>
                          <p:cTn id="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nodeType="clickEffect" fill="hold">
                      <p:stCondLst>
                        <p:cond delay="indefinite"/>
                      </p:stCondLst>
                      <p:childTnLst>
                        <p:par>
                          <p:cTn id="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nodeType="clickEffect" fill="hold">
                      <p:stCondLst>
                        <p:cond delay="indefinite"/>
                      </p:stCondLst>
                      <p:childTnLst>
                        <p:par>
                          <p:cTn id="1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nodeType="clickEffect" fill="hold">
                      <p:stCondLst>
                        <p:cond delay="indefinite"/>
                      </p:stCondLst>
                      <p:childTnLst>
                        <p:par>
                          <p:cTn id="1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nodeType="clickEffect" fill="hold">
                      <p:stCondLst>
                        <p:cond delay="indefinite"/>
                      </p:stCondLst>
                      <p:childTnLst>
                        <p:par>
                          <p:cTn id="1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nodeType="clickEffect" fill="hold">
                      <p:stCondLst>
                        <p:cond delay="indefinite"/>
                      </p:stCondLst>
                      <p:childTnLst>
                        <p:par>
                          <p:cTn id="1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Declaration/initialization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 variable can be declared/initialized in one statement.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Syntax: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type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name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=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value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double myGPA = 3.95;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int x = (12 - 3) * 2;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46" name=""/>
          <p:cNvGraphicFramePr/>
          <p:nvPr/>
        </p:nvGraphicFramePr>
        <p:xfrm>
          <a:off x="5562720" y="5388120"/>
          <a:ext cx="198108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99072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18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"/>
          <p:cNvGraphicFramePr/>
          <p:nvPr/>
        </p:nvGraphicFramePr>
        <p:xfrm>
          <a:off x="5562720" y="4114800"/>
          <a:ext cx="304776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205740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myGPA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3.95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116" dur="indefinite" restart="never" nodeType="tmRoot">
          <p:childTnLst>
            <p:seq>
              <p:cTn id="117" dur="indefinite" nodeType="mainSeq">
                <p:childTnLst>
                  <p:par>
                    <p:cTn id="118" nodeType="clickEffect" fill="hold">
                      <p:stCondLst>
                        <p:cond delay="indefinite"/>
                      </p:stCondLst>
                      <p:childTnLst>
                        <p:par>
                          <p:cTn id="1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nodeType="clickEffect" fill="hold">
                      <p:stCondLst>
                        <p:cond delay="indefinite"/>
                      </p:stCondLst>
                      <p:childTnLst>
                        <p:par>
                          <p:cTn id="1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nodeType="clickEffect" fill="hold">
                      <p:stCondLst>
                        <p:cond delay="indefinite"/>
                      </p:stCondLst>
                      <p:childTnLst>
                        <p:par>
                          <p:cTn id="1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nodeType="clickEffect" fill="hold">
                      <p:stCondLst>
                        <p:cond delay="indefinite"/>
                      </p:stCondLst>
                      <p:childTnLst>
                        <p:par>
                          <p:cTn id="1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Assignment and algebra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28"/>
          </a:bodyPr>
          <a:p>
            <a:pPr marL="272880" indent="-27288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Assignment uses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=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, but it is not an algebraic equation.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224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55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=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means,  </a:t>
            </a:r>
            <a:r>
              <a:rPr b="0" i="1" lang="en-US" sz="2200" spc="-1" strike="noStrike">
                <a:solidFill>
                  <a:srgbClr val="000000"/>
                </a:solidFill>
                <a:latin typeface="Tahoma"/>
              </a:rPr>
              <a:t>"store the value at right in variable at left"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2" marL="1143000" indent="-2286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right side expression is evaluated first,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and then its result is stored in the variable at left.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What happens here?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224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Courier New"/>
              </a:rPr>
              <a:t>int x = 3;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ourier New"/>
                <a:ea typeface="Courier New"/>
              </a:rPr>
              <a:t>x = x + 2;  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// no solutions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	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	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   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// mathematically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	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	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   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  <a:ea typeface="Courier New"/>
              </a:rPr>
              <a:t>// not an equation!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50" name=""/>
          <p:cNvGraphicFramePr/>
          <p:nvPr/>
        </p:nvGraphicFramePr>
        <p:xfrm>
          <a:off x="5791320" y="4638600"/>
          <a:ext cx="1981080" cy="660600"/>
        </p:xfrm>
        <a:graphic>
          <a:graphicData uri="http://schemas.openxmlformats.org/drawingml/2006/table">
            <a:tbl>
              <a:tblPr/>
              <a:tblGrid>
                <a:gridCol w="990360"/>
                <a:gridCol w="990720"/>
              </a:tblGrid>
              <a:tr h="66060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"/>
          <p:cNvGraphicFramePr/>
          <p:nvPr/>
        </p:nvGraphicFramePr>
        <p:xfrm>
          <a:off x="5791320" y="4648320"/>
          <a:ext cx="1981080" cy="660240"/>
        </p:xfrm>
        <a:graphic>
          <a:graphicData uri="http://schemas.openxmlformats.org/drawingml/2006/table">
            <a:tbl>
              <a:tblPr/>
              <a:tblGrid>
                <a:gridCol w="990360"/>
                <a:gridCol w="990720"/>
              </a:tblGrid>
              <a:tr h="66024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x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3399"/>
                          </a:solidFill>
                          <a:latin typeface="Courier New"/>
                        </a:rPr>
                        <a:t>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134" dur="indefinite" restart="never" nodeType="tmRoot">
          <p:childTnLst>
            <p:seq>
              <p:cTn id="135" dur="indefinite" nodeType="mainSeq">
                <p:childTnLst>
                  <p:par>
                    <p:cTn id="136" nodeType="clickEffect" fill="hold">
                      <p:stCondLst>
                        <p:cond delay="indefinite"/>
                      </p:stCondLst>
                      <p:childTnLst>
                        <p:par>
                          <p:cTn id="1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nodeType="clickEffect" fill="hold">
                      <p:stCondLst>
                        <p:cond delay="indefinite"/>
                      </p:stCondLst>
                      <p:childTnLst>
                        <p:par>
                          <p:cTn id="1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nodeType="clickEffect" fill="hold">
                      <p:stCondLst>
                        <p:cond delay="indefinite"/>
                      </p:stCondLst>
                      <p:childTnLst>
                        <p:par>
                          <p:cTn id="1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nodeType="clickEffect" fill="hold">
                      <p:stCondLst>
                        <p:cond delay="indefinite"/>
                      </p:stCondLst>
                      <p:childTnLst>
                        <p:par>
                          <p:cTn id="1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nodeType="clickEffect" fill="hold">
                      <p:stCondLst>
                        <p:cond delay="indefinite"/>
                      </p:stCondLst>
                      <p:childTnLst>
                        <p:par>
                          <p:cTn id="1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nodeType="clickEffect" fill="hold">
                      <p:stCondLst>
                        <p:cond delay="indefinite"/>
                      </p:stCondLst>
                      <p:childTnLst>
                        <p:par>
                          <p:cTn id="1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Multiple Variables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Multiple variables of the same type can be declared and initialized at the same time.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45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45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Syntax: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type name1, name 2, name3;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int x, y, z;  </a:t>
            </a:r>
            <a:r>
              <a:rPr b="0" lang="en-US" sz="2200" spc="-1" strike="noStrike">
                <a:solidFill>
                  <a:srgbClr val="00b050"/>
                </a:solidFill>
                <a:latin typeface="Courier New"/>
              </a:rPr>
              <a:t>// declare three integers.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type name1 = value1, name2 = value2, name3 = value3;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int a = 1, b = 2, c = 3;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declare and initialize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three integers.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62" dur="indefinite" restart="never" nodeType="tmRoot">
          <p:childTnLst>
            <p:seq>
              <p:cTn id="163" dur="indefinite" nodeType="mainSeq">
                <p:childTnLst>
                  <p:par>
                    <p:cTn id="164" nodeType="clickEffect" fill="hold">
                      <p:stCondLst>
                        <p:cond delay="indefinite"/>
                      </p:stCondLst>
                      <p:childTnLst>
                        <p:par>
                          <p:cTn id="1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nodeType="clickEffect" fill="hold">
                      <p:stCondLst>
                        <p:cond delay="indefinite"/>
                      </p:stCondLst>
                      <p:childTnLst>
                        <p:par>
                          <p:cTn id="1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nodeType="clickEffect" fill="hold">
                      <p:stCondLst>
                        <p:cond delay="indefinite"/>
                      </p:stCondLst>
                      <p:childTnLst>
                        <p:par>
                          <p:cTn id="1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Assignment and types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 variable can only store a value of its own type.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100000"/>
              </a:lnSpc>
              <a:spcBef>
                <a:spcPts val="550"/>
              </a:spcBef>
              <a:buClr>
                <a:srgbClr val="800000"/>
              </a:buClr>
              <a:buFont typeface="Courier New"/>
              <a:buChar char="–"/>
              <a:tabLst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800000"/>
                </a:solidFill>
                <a:latin typeface="Courier New"/>
              </a:rPr>
              <a:t>int x = 2.5;    </a:t>
            </a:r>
            <a:r>
              <a:rPr b="1" lang="en-US" sz="2200" spc="-1" strike="noStrike">
                <a:solidFill>
                  <a:srgbClr val="800000"/>
                </a:solidFill>
                <a:latin typeface="Courier New"/>
              </a:rPr>
              <a:t>// ERROR: incompatible types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spcBef>
                <a:spcPts val="550"/>
              </a:spcBef>
              <a:tabLst>
                <a:tab algn="l" pos="0"/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spcBef>
                <a:spcPts val="550"/>
              </a:spcBef>
              <a:tabLst>
                <a:tab algn="l" pos="0"/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An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int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value can be stored in a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double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variable.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value is converted into the equivalent real number.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spcBef>
                <a:spcPts val="550"/>
              </a:spcBef>
              <a:tabLst>
                <a:tab algn="l" pos="0"/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10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double myGPA = 4;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743040" indent="-285840">
              <a:lnSpc>
                <a:spcPct val="7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229068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56" name=""/>
          <p:cNvGraphicFramePr/>
          <p:nvPr/>
        </p:nvGraphicFramePr>
        <p:xfrm>
          <a:off x="5791320" y="4216320"/>
          <a:ext cx="3047760" cy="660600"/>
        </p:xfrm>
        <a:graphic>
          <a:graphicData uri="http://schemas.openxmlformats.org/drawingml/2006/table">
            <a:tbl>
              <a:tblPr/>
              <a:tblGrid>
                <a:gridCol w="990360"/>
                <a:gridCol w="2057400"/>
              </a:tblGrid>
              <a:tr h="660600"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myGPA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 anchorCtr="1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4.0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176" dur="indefinite" restart="never" nodeType="tmRoot">
          <p:childTnLst>
            <p:seq>
              <p:cTn id="177" dur="indefinite" nodeType="mainSeq">
                <p:childTnLst>
                  <p:par>
                    <p:cTn id="178" nodeType="clickEffect" fill="hold">
                      <p:stCondLst>
                        <p:cond delay="indefinite"/>
                      </p:stCondLst>
                      <p:childTnLst>
                        <p:par>
                          <p:cTn id="1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nodeType="clickEffect" fill="hold">
                      <p:stCondLst>
                        <p:cond delay="indefinite"/>
                      </p:stCondLst>
                      <p:childTnLst>
                        <p:par>
                          <p:cTn id="1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Compiler errors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Order matters.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int x;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ourier New"/>
              </a:rPr>
              <a:t>7 = x; </a:t>
            </a:r>
            <a:r>
              <a:rPr b="1" lang="en-US" sz="2400" spc="-1" strike="noStrike">
                <a:solidFill>
                  <a:srgbClr val="800000"/>
                </a:solidFill>
                <a:latin typeface="Courier New"/>
              </a:rPr>
              <a:t>// ERROR: should be x = 7;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 variable can't be used until it is assigned a value.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x;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System.out.println(x);   </a:t>
            </a:r>
            <a:r>
              <a:rPr b="1" lang="en-US" sz="2000" spc="-1" strike="noStrike">
                <a:solidFill>
                  <a:srgbClr val="800000"/>
                </a:solidFill>
                <a:latin typeface="Courier New"/>
              </a:rPr>
              <a:t>// ERROR: x has no value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You may not declare the same variable twice.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x;</a:t>
            </a:r>
            <a:br>
              <a:rPr sz="2000"/>
            </a:b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int x;</a:t>
            </a:r>
            <a:r>
              <a:rPr b="0" lang="en-US" sz="2000" spc="-1" strike="noStrike">
                <a:solidFill>
                  <a:srgbClr val="a50021"/>
                </a:solidFill>
                <a:latin typeface="Courier New"/>
              </a:rPr>
              <a:t>                   </a:t>
            </a:r>
            <a:r>
              <a:rPr b="1" lang="en-US" sz="2000" spc="-1" strike="noStrike">
                <a:solidFill>
                  <a:srgbClr val="800000"/>
                </a:solidFill>
                <a:latin typeface="Courier New"/>
              </a:rPr>
              <a:t>// ERROR: x already exists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x = 3;</a:t>
            </a:r>
            <a:br>
              <a:rPr sz="2000"/>
            </a:b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int x = 5;               </a:t>
            </a:r>
            <a:r>
              <a:rPr b="1" lang="en-US" sz="2000" spc="-1" strike="noStrike">
                <a:solidFill>
                  <a:srgbClr val="800000"/>
                </a:solidFill>
                <a:latin typeface="Courier New"/>
              </a:rPr>
              <a:t>// ERROR: x already exists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1143000" indent="-228600">
              <a:spcBef>
                <a:spcPts val="201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How can this code be fixed?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90" dur="indefinite" restart="never" nodeType="tmRoot">
          <p:childTnLst>
            <p:seq>
              <p:cTn id="191" dur="indefinite" nodeType="mainSeq">
                <p:childTnLst>
                  <p:par>
                    <p:cTn id="192" nodeType="clickEffect" fill="hold">
                      <p:stCondLst>
                        <p:cond delay="indefinite"/>
                      </p:stCondLst>
                      <p:childTnLst>
                        <p:par>
                          <p:cTn id="1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nodeType="clickEffect" fill="hold">
                      <p:stCondLst>
                        <p:cond delay="indefinite"/>
                      </p:stCondLst>
                      <p:childTnLst>
                        <p:par>
                          <p:cTn id="2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Printing a variable's value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72880" indent="-272880">
              <a:lnSpc>
                <a:spcPct val="11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+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to print a string and a variable's value on one line.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double grade = (95.1 + 71.9 + 82.6) / 3.0;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"Your grade was " + grade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Courier New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int students = 11 + 17 + 4 + 19 + 14;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System.out.println(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"There are " + students +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                   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" students in the course."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11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Output: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2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Your grade was 83.2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90000"/>
              </a:lnSpc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There are 65 students in the course.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10" dur="indefinite" restart="never" nodeType="tmRoot">
          <p:childTnLst>
            <p:seq>
              <p:cTn id="211" dur="indefinite" nodeType="mainSeq">
                <p:childTnLst>
                  <p:par>
                    <p:cTn id="212" nodeType="clickEffect" fill="hold">
                      <p:stCondLst>
                        <p:cond delay="indefinite"/>
                      </p:stCondLst>
                      <p:childTnLst>
                        <p:par>
                          <p:cTn id="2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Receipt question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  <a:ea typeface="Courier New"/>
              </a:rPr>
              <a:t>Improve the receipt program using variables.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public class Receipt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public static void main(String[] args)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8080"/>
                </a:solidFill>
                <a:latin typeface="Courier New"/>
                <a:ea typeface="Courier New"/>
              </a:rPr>
              <a:t>        </a:t>
            </a:r>
            <a:r>
              <a:rPr b="1" lang="en-US" sz="1800" spc="-1" strike="noStrike">
                <a:solidFill>
                  <a:srgbClr val="008080"/>
                </a:solidFill>
                <a:latin typeface="Courier New"/>
                <a:ea typeface="Courier New"/>
              </a:rPr>
              <a:t>// Calculate total owed, assuming 8% tax / 15% tip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System.out.println("Subtotal:");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System.out.println(38 + 40 + 30);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System.out.println("Tax:");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System.out.println((38 + 40 + 30) * .08);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System.out.println("Tip:");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System.out.println((38 + 40 + 30) * .15);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System.out.println("Total:");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System.out.println(38 + 40 + 30 +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(38 + 40 + 30) * .15 +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           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(38 + 40 + 30) * .08);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Receipt answer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class Receipt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static void main(String[] args)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808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8080"/>
                </a:solidFill>
                <a:latin typeface="Courier New"/>
              </a:rPr>
              <a:t>// Calculate total owed, assuming 8% tax / 15% tip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int subtotal = 38 + 40 + 30;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double tax = subtotal * .08;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double tip = subtotal * .15;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double total = subtotal + tax + tip;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System.out.println("Subtotal: "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+ subtotal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System.out.println("Tax: "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+ tax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System.out.println("Tip: "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+ tip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System.out.println("Total: "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+ total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Type </a:t>
            </a: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boolean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72880" indent="-2728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ourier Ne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boolean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 logical type whose values are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true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and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false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int age = 22;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boolean minor    = 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(age &lt; 21)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boolean lovesAPCS = </a:t>
            </a:r>
            <a:r>
              <a:rPr b="1" lang="en-US" sz="2200" spc="-1" strike="noStrike">
                <a:solidFill>
                  <a:srgbClr val="000000"/>
                </a:solidFill>
                <a:latin typeface="Courier New"/>
              </a:rPr>
              <a:t>true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System.out.println(minor); </a:t>
            </a:r>
            <a:r>
              <a:rPr b="0" lang="en-US" sz="2200" spc="-1" strike="noStrike">
                <a:solidFill>
                  <a:srgbClr val="00b050"/>
                </a:solidFill>
                <a:latin typeface="Courier New"/>
              </a:rPr>
              <a:t>// false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System.out.println(lovesAPCS); </a:t>
            </a:r>
            <a:r>
              <a:rPr b="0" lang="en-US" sz="2200" spc="-1" strike="noStrike">
                <a:solidFill>
                  <a:srgbClr val="00b050"/>
                </a:solidFill>
                <a:latin typeface="Courier New"/>
              </a:rPr>
              <a:t>// true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System.out.println(4 &lt;= 5); </a:t>
            </a:r>
            <a:r>
              <a:rPr b="0" lang="en-US" sz="2200" spc="-1" strike="noStrike">
                <a:solidFill>
                  <a:srgbClr val="00b050"/>
                </a:solidFill>
                <a:latin typeface="Courier New"/>
              </a:rPr>
              <a:t>// true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39720" indent="-245880">
              <a:lnSpc>
                <a:spcPct val="7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200" spc="-1" strike="noStrike">
                <a:solidFill>
                  <a:srgbClr val="008080"/>
                </a:solidFill>
                <a:latin typeface="Courier New"/>
              </a:rPr>
              <a:t>	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20" dur="indefinite" restart="never" nodeType="tmRoot">
          <p:childTnLst>
            <p:seq>
              <p:cTn id="221" dur="indefinite" nodeType="mainSeq">
                <p:childTnLst>
                  <p:par>
                    <p:cTn id="222" nodeType="clickEffect" fill="hold">
                      <p:stCondLst>
                        <p:cond delay="indefinite"/>
                      </p:stCondLst>
                      <p:childTnLst>
                        <p:par>
                          <p:cTn id="2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nodeType="clickEffect" fill="hold">
                      <p:stCondLst>
                        <p:cond delay="indefinite"/>
                      </p:stCondLst>
                      <p:childTnLst>
                        <p:par>
                          <p:cTn id="2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nodeType="clickEffect" fill="hold">
                      <p:stCondLst>
                        <p:cond delay="indefinite"/>
                      </p:stCondLst>
                      <p:childTnLst>
                        <p:par>
                          <p:cTn id="2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nodeType="clickEffect" fill="hold">
                      <p:stCondLst>
                        <p:cond delay="indefinite"/>
                      </p:stCondLst>
                      <p:childTnLst>
                        <p:par>
                          <p:cTn id="2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nodeType="clickEffect" fill="hold">
                      <p:stCondLst>
                        <p:cond delay="indefinite"/>
                      </p:stCondLst>
                      <p:childTnLst>
                        <p:par>
                          <p:cTn id="2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final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72880" indent="-27288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keyword </a:t>
            </a: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final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 can be used in front of a variable declaration to make it a constant that cannot be changed. Constants are traditionally capitalized.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class TestFinal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public static void main(String[] args)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{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final double PI = 3.14;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System.out.println(PI);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PI = 4.2;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This will cause a syntax error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72880" indent="-2728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393840" indent="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42" dur="indefinite" restart="never" nodeType="tmRoot">
          <p:childTnLst>
            <p:seq>
              <p:cTn id="243" dur="indefinite" nodeType="mainSeq">
                <p:childTnLst>
                  <p:par>
                    <p:cTn id="244" nodeType="clickEffect" fill="hold">
                      <p:stCondLst>
                        <p:cond delay="indefinite"/>
                      </p:stCondLst>
                      <p:childTnLst>
                        <p:par>
                          <p:cTn id="2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Naming variables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name of the variable should describe the data it holds. A name like 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score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 helps make your code easier to read.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 name like x is not a good variable name in programming, because it gives no clues as to what kind of data it holds.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Do not name your variables crazy things like 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thisIsAReallyLongName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, especially on the AP exam. You want to make your code easy to understand, not harder.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66" dur="indefinite" restart="never" nodeType="tmRoot">
          <p:childTnLst>
            <p:seq>
              <p:cTn id="267" dur="indefinite" nodeType="mainSeq">
                <p:childTnLst>
                  <p:par>
                    <p:cTn id="268" nodeType="clickEffect" fill="hold">
                      <p:stCondLst>
                        <p:cond delay="indefinite"/>
                      </p:stCondLst>
                      <p:childTnLst>
                        <p:par>
                          <p:cTn id="2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nodeType="clickEffect" fill="hold">
                      <p:stCondLst>
                        <p:cond delay="indefinite"/>
                      </p:stCondLst>
                      <p:childTnLst>
                        <p:par>
                          <p:cTn id="2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Naming variables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/>
          </a:bodyPr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The convention in Java and many programming languages is to always start a variable name with a lower case letter and then uppercase the first letter of each additional word.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Variable names 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can not include spaces 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so uppercasing the first letter of each additional word makes it easier to read the name. Uppercasing the first letter of each additional word is called </a:t>
            </a:r>
            <a:r>
              <a:rPr b="1" lang="en-US" sz="2000" spc="-1" strike="noStrike">
                <a:solidFill>
                  <a:srgbClr val="000000"/>
                </a:solidFill>
                <a:latin typeface="Tahoma"/>
              </a:rPr>
              <a:t>camel case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.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numOfLives = 3;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camel case to highlight words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Another option is to use underscore symbol _ to separate words, but you cannot have spaces in a variable name. Java is case sensitive so playerScore and playerscore are not the same.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indent="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num_of_lives = 3;  </a:t>
            </a:r>
            <a:r>
              <a:rPr b="0" lang="en-US" sz="2000" spc="-1" strike="noStrike">
                <a:solidFill>
                  <a:srgbClr val="00b050"/>
                </a:solidFill>
                <a:latin typeface="Courier New"/>
              </a:rPr>
              <a:t>// use _ to highlight words.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76" dur="indefinite" restart="never" nodeType="tmRoot">
          <p:childTnLst>
            <p:seq>
              <p:cTn id="277" dur="indefinite" nodeType="mainSeq">
                <p:childTnLst>
                  <p:par>
                    <p:cTn id="278" nodeType="clickEffect" fill="hold">
                      <p:stCondLst>
                        <p:cond delay="indefinite"/>
                      </p:stCondLst>
                      <p:childTnLst>
                        <p:par>
                          <p:cTn id="2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nodeType="clickEffect" fill="hold">
                      <p:stCondLst>
                        <p:cond delay="indefinite"/>
                      </p:stCondLst>
                      <p:childTnLst>
                        <p:par>
                          <p:cTn id="2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nodeType="clickEffect" fill="hold">
                      <p:stCondLst>
                        <p:cond delay="indefinite"/>
                      </p:stCondLst>
                      <p:childTnLst>
                        <p:par>
                          <p:cTn id="2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nodeType="clickEffect" fill="hold">
                      <p:stCondLst>
                        <p:cond delay="indefinite"/>
                      </p:stCondLst>
                      <p:childTnLst>
                        <p:par>
                          <p:cTn id="2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4400" spc="-1" strike="noStrike">
                <a:solidFill>
                  <a:srgbClr val="ffffff"/>
                </a:solidFill>
                <a:latin typeface="Tahoma"/>
              </a:rPr>
              <a:t>Keywords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Tahoma"/>
              </a:rPr>
              <a:t>keyword</a:t>
            </a:r>
            <a:r>
              <a:rPr b="0" lang="en-GB" sz="2400" spc="-1" strike="noStrike">
                <a:solidFill>
                  <a:srgbClr val="000000"/>
                </a:solidFill>
                <a:latin typeface="Tahoma"/>
              </a:rPr>
              <a:t>: An identifier that you cannot use to name a variable because it already has a reserved meaning in Java.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abstract    default    if           private      this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boolean     do         implements   protected    throw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break       double     import       </a:t>
            </a:r>
            <a:r>
              <a:rPr b="1" lang="en-GB" sz="1800" spc="-1" strike="noStrike">
                <a:solidFill>
                  <a:srgbClr val="000000"/>
                </a:solidFill>
                <a:latin typeface="Courier New"/>
              </a:rPr>
              <a:t>public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   throws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byte        else       instanceof   return       transient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case        extends    int          short        try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catch       final      interface    </a:t>
            </a:r>
            <a:r>
              <a:rPr b="1" lang="en-GB" sz="1800" spc="-1" strike="noStrike">
                <a:solidFill>
                  <a:srgbClr val="000000"/>
                </a:solidFill>
                <a:latin typeface="Courier New"/>
              </a:rPr>
              <a:t>static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   </a:t>
            </a:r>
            <a:r>
              <a:rPr b="1" lang="en-GB" sz="1800" spc="-1" strike="noStrike">
                <a:solidFill>
                  <a:srgbClr val="000000"/>
                </a:solidFill>
                <a:latin typeface="Courier New"/>
              </a:rPr>
              <a:t>void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char        finally    long         strictfp     volatile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1" lang="en-GB" sz="1800" spc="-1" strike="noStrike">
                <a:solidFill>
                  <a:srgbClr val="000000"/>
                </a:solidFill>
                <a:latin typeface="Courier New"/>
              </a:rPr>
              <a:t>class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   float      native       super        while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const       for        new          switch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GB" sz="1800" spc="-1" strike="noStrike">
                <a:solidFill>
                  <a:srgbClr val="000000"/>
                </a:solidFill>
                <a:latin typeface="Courier New"/>
              </a:rPr>
              <a:t>continue    goto       package      synchronized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Input and </a:t>
            </a: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System.in (not on AP)</a:t>
            </a:r>
            <a:br>
              <a:rPr sz="4400"/>
            </a:br>
            <a:r>
              <a:rPr b="1" lang="en-US" sz="4400" spc="-1" strike="noStrike">
                <a:solidFill>
                  <a:srgbClr val="ff0000"/>
                </a:solidFill>
                <a:latin typeface="Courier New"/>
              </a:rPr>
              <a:t/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 lnSpcReduction="10000"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interactive program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Reads input from the console.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While the program runs, it asks the user to type input.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input typed by the user is stored in variables in the code.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Can be tricky; users are unpredictable and misbehave.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But interactive programs have more interesting behavior.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ourier New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An object that can read input from many sources.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Communicates with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System.in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 (the opposite of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System.out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Can also read from files, web sites, databases, ...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294" dur="indefinite" restart="never" nodeType="tmRoot">
          <p:childTnLst>
            <p:seq>
              <p:cTn id="295" dur="indefinite" nodeType="mainSeq">
                <p:childTnLst>
                  <p:par>
                    <p:cTn id="296" nodeType="clickEffect" fill="hold">
                      <p:stCondLst>
                        <p:cond delay="indefinite"/>
                      </p:stCondLst>
                      <p:childTnLst>
                        <p:par>
                          <p:cTn id="2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nodeType="clickEffect" fill="hold">
                      <p:stCondLst>
                        <p:cond delay="indefinite"/>
                      </p:stCondLst>
                      <p:childTnLst>
                        <p:par>
                          <p:cTn id="3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nodeType="clickEffect" fill="hold">
                      <p:stCondLst>
                        <p:cond delay="indefinite"/>
                      </p:stCondLst>
                      <p:childTnLst>
                        <p:par>
                          <p:cTn id="3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syntax (not on AP)</a:t>
            </a:r>
            <a:br>
              <a:rPr sz="4400"/>
            </a:br>
            <a:r>
              <a:rPr b="1" lang="en-US" sz="4400" spc="-1" strike="noStrike">
                <a:solidFill>
                  <a:srgbClr val="ff0000"/>
                </a:solidFill>
                <a:latin typeface="Courier New"/>
              </a:rPr>
              <a:t/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class is found in 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java.util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package.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import java.util.*;   </a:t>
            </a:r>
            <a:r>
              <a:rPr b="1" lang="en-US" sz="2200" spc="-1" strike="noStrike">
                <a:solidFill>
                  <a:srgbClr val="008080"/>
                </a:solidFill>
                <a:latin typeface="Courier New"/>
              </a:rPr>
              <a:t>// so you can use Scanner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Constructing a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 object to read console input: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Scanner </a:t>
            </a:r>
            <a:r>
              <a:rPr b="1" lang="en-US" sz="2200" spc="-1" strike="noStrike">
                <a:solidFill>
                  <a:srgbClr val="000000"/>
                </a:solidFill>
                <a:latin typeface="Tahoma"/>
              </a:rPr>
              <a:t>name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 = new Scanner(System.in);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Example: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</a:rPr>
              <a:t>Scanner console = new Scanner(System.in);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2" dur="indefinite" restart="never" nodeType="tmRoot">
          <p:childTnLst>
            <p:seq>
              <p:cTn id="313" dur="indefinite" nodeType="mainSeq">
                <p:childTnLst>
                  <p:par>
                    <p:cTn id="314" nodeType="clickEffect" fill="hold">
                      <p:stCondLst>
                        <p:cond delay="indefinite"/>
                      </p:stCondLst>
                      <p:childTnLst>
                        <p:par>
                          <p:cTn id="3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nodeType="clickEffect" fill="hold">
                      <p:stCondLst>
                        <p:cond delay="indefinite"/>
                      </p:stCondLst>
                      <p:childTnLst>
                        <p:par>
                          <p:cTn id="3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methods (not on AP)</a:t>
            </a:r>
            <a:br>
              <a:rPr sz="4400"/>
            </a:br>
            <a:r>
              <a:rPr b="1" lang="en-US" sz="4400" spc="-1" strike="noStrike">
                <a:solidFill>
                  <a:srgbClr val="ff0000"/>
                </a:solidFill>
                <a:latin typeface="Courier New"/>
              </a:rPr>
              <a:t/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880"/>
          </a:bodyPr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lnSpc>
                <a:spcPct val="85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Each method waits until the user presses Enter.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The value typed by the user is returned.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System.out.print("How old are you? ");  </a:t>
            </a:r>
            <a:r>
              <a:rPr b="1" lang="en-US" sz="2000" spc="-1" strike="noStrike">
                <a:solidFill>
                  <a:srgbClr val="008080"/>
                </a:solidFill>
                <a:latin typeface="Courier New"/>
              </a:rPr>
              <a:t>// prompt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age = </a:t>
            </a:r>
            <a:r>
              <a:rPr b="1" lang="en-US" sz="2000" spc="-1" strike="noStrike">
                <a:solidFill>
                  <a:srgbClr val="003399"/>
                </a:solidFill>
                <a:latin typeface="Courier New"/>
              </a:rPr>
              <a:t>console.nextInt()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System.out.println("You typed " + age);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prompt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 message telling the user what input to type.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graphicFrame>
        <p:nvGraphicFramePr>
          <p:cNvPr id="81" name=""/>
          <p:cNvGraphicFramePr/>
          <p:nvPr/>
        </p:nvGraphicFramePr>
        <p:xfrm>
          <a:off x="569880" y="1339920"/>
          <a:ext cx="8001000" cy="1981080"/>
        </p:xfrm>
        <a:graphic>
          <a:graphicData uri="http://schemas.openxmlformats.org/drawingml/2006/table">
            <a:tbl>
              <a:tblPr/>
              <a:tblGrid>
                <a:gridCol w="2133720"/>
                <a:gridCol w="5867280"/>
              </a:tblGrid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Method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Description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nextInt()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an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int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 and returns it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nextDouble()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double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 one-word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String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nextLine()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reads a one-</a:t>
                      </a:r>
                      <a:r>
                        <a:rPr b="0" i="1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line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String</a:t>
                      </a: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 from the user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326" dur="indefinite" restart="never" nodeType="tmRoot">
          <p:childTnLst>
            <p:seq>
              <p:cTn id="327" dur="indefinite" nodeType="mainSeq">
                <p:childTnLst>
                  <p:par>
                    <p:cTn id="328" nodeType="clickEffect" fill="hold">
                      <p:stCondLst>
                        <p:cond delay="indefinite"/>
                      </p:stCondLst>
                      <p:childTnLst>
                        <p:par>
                          <p:cTn id="3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nodeType="clickEffect" fill="hold">
                      <p:stCondLst>
                        <p:cond delay="indefinite"/>
                      </p:stCondLst>
                      <p:childTnLst>
                        <p:par>
                          <p:cTn id="3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example (not on AP)</a:t>
            </a:r>
            <a:br>
              <a:rPr sz="4400"/>
            </a:br>
            <a:r>
              <a:rPr b="1" lang="en-US" sz="4400" spc="-1" strike="noStrike">
                <a:solidFill>
                  <a:srgbClr val="ff0000"/>
                </a:solidFill>
                <a:latin typeface="Courier New"/>
              </a:rPr>
              <a:t/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import java.util.*;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1" lang="en-US" sz="1800" spc="-1" strike="noStrike">
                <a:solidFill>
                  <a:srgbClr val="008080"/>
                </a:solidFill>
                <a:latin typeface="Courier New"/>
              </a:rPr>
              <a:t>// so that I can use Scanner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class UserInputExample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static void main(String[] args)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Scanner console = new Scanner(System.in);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System.out.print("How old are you? 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age = </a:t>
            </a:r>
            <a:r>
              <a:rPr b="1" lang="en-US" sz="1800" spc="-1" strike="noStrike">
                <a:solidFill>
                  <a:srgbClr val="003399"/>
                </a:solidFill>
                <a:latin typeface="Courier New"/>
              </a:rPr>
              <a:t>console.nextInt()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years = 65 - age;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System.out.println(years + " years to retirement!");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marL="231840" indent="0">
              <a:lnSpc>
                <a:spcPct val="90000"/>
              </a:lnSpc>
              <a:spcBef>
                <a:spcPts val="2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Console (user input underlined):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How old are you? 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36 years until retirement!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4" name="Line 4"/>
          <p:cNvSpPr/>
          <p:nvPr/>
        </p:nvSpPr>
        <p:spPr>
          <a:xfrm>
            <a:off x="1407960" y="2971800"/>
            <a:ext cx="228600" cy="0"/>
          </a:xfrm>
          <a:prstGeom prst="line">
            <a:avLst/>
          </a:prstGeom>
          <a:ln w="25560">
            <a:solidFill>
              <a:srgbClr val="8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Line 5"/>
          <p:cNvSpPr/>
          <p:nvPr/>
        </p:nvSpPr>
        <p:spPr>
          <a:xfrm>
            <a:off x="1407960" y="3224160"/>
            <a:ext cx="228600" cy="0"/>
          </a:xfrm>
          <a:prstGeom prst="line">
            <a:avLst/>
          </a:prstGeom>
          <a:ln w="25560">
            <a:solidFill>
              <a:srgbClr val="8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Line 6"/>
          <p:cNvSpPr/>
          <p:nvPr/>
        </p:nvSpPr>
        <p:spPr>
          <a:xfrm>
            <a:off x="1407960" y="3886200"/>
            <a:ext cx="228600" cy="0"/>
          </a:xfrm>
          <a:prstGeom prst="line">
            <a:avLst/>
          </a:prstGeom>
          <a:ln w="25560">
            <a:solidFill>
              <a:srgbClr val="800000"/>
            </a:solidFill>
            <a:miter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Box 7"/>
          <p:cNvSpPr/>
          <p:nvPr/>
        </p:nvSpPr>
        <p:spPr>
          <a:xfrm>
            <a:off x="2538000" y="5765760"/>
            <a:ext cx="1020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282600" indent="-28260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Times New Roman"/>
              </a:rPr>
              <a:t>29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8" name="Group 8"/>
          <p:cNvGrpSpPr/>
          <p:nvPr/>
        </p:nvGrpSpPr>
        <p:grpSpPr>
          <a:xfrm>
            <a:off x="3276720" y="5867280"/>
            <a:ext cx="2367000" cy="961920"/>
            <a:chOff x="3276720" y="5867280"/>
            <a:chExt cx="2367000" cy="961920"/>
          </a:xfrm>
        </p:grpSpPr>
        <p:pic>
          <p:nvPicPr>
            <p:cNvPr id="89" name="Picture 9" descr=""/>
            <p:cNvPicPr/>
            <p:nvPr/>
          </p:nvPicPr>
          <p:blipFill>
            <a:blip r:embed="rId1"/>
            <a:srcRect l="0" t="0" r="5017" b="0"/>
            <a:stretch/>
          </p:blipFill>
          <p:spPr>
            <a:xfrm>
              <a:off x="4648320" y="5867280"/>
              <a:ext cx="995400" cy="961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0" name="Line 10"/>
            <p:cNvSpPr/>
            <p:nvPr/>
          </p:nvSpPr>
          <p:spPr>
            <a:xfrm flipH="1" flipV="1">
              <a:off x="3276720" y="5927040"/>
              <a:ext cx="1371600" cy="304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1" name="Line 11"/>
          <p:cNvSpPr/>
          <p:nvPr/>
        </p:nvSpPr>
        <p:spPr>
          <a:xfrm flipV="1">
            <a:off x="3076560" y="3352680"/>
            <a:ext cx="961920" cy="236232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2" name="Group 12"/>
          <p:cNvGrpSpPr/>
          <p:nvPr/>
        </p:nvGrpSpPr>
        <p:grpSpPr>
          <a:xfrm>
            <a:off x="5672160" y="3200400"/>
            <a:ext cx="576000" cy="474840"/>
            <a:chOff x="5672160" y="3200400"/>
            <a:chExt cx="576000" cy="474840"/>
          </a:xfrm>
        </p:grpSpPr>
        <p:pic>
          <p:nvPicPr>
            <p:cNvPr id="93" name="Picture 13" descr=""/>
            <p:cNvPicPr/>
            <p:nvPr/>
          </p:nvPicPr>
          <p:blipFill>
            <a:blip r:embed="rId2"/>
            <a:stretch/>
          </p:blipFill>
          <p:spPr>
            <a:xfrm>
              <a:off x="5672160" y="3200400"/>
              <a:ext cx="392760" cy="474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4" name="Text Box 14"/>
            <p:cNvSpPr/>
            <p:nvPr/>
          </p:nvSpPr>
          <p:spPr>
            <a:xfrm>
              <a:off x="6064920" y="3338280"/>
              <a:ext cx="18324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82600" indent="-282600">
                <a:lnSpc>
                  <a:spcPct val="100000"/>
                </a:lnSpc>
                <a:spcBef>
                  <a:spcPts val="499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95" name=""/>
          <p:cNvGraphicFramePr/>
          <p:nvPr/>
        </p:nvGraphicFramePr>
        <p:xfrm>
          <a:off x="7543800" y="2743200"/>
          <a:ext cx="1295280" cy="396720"/>
        </p:xfrm>
        <a:graphic>
          <a:graphicData uri="http://schemas.openxmlformats.org/drawingml/2006/table">
            <a:tbl>
              <a:tblPr/>
              <a:tblGrid>
                <a:gridCol w="647640"/>
                <a:gridCol w="647640"/>
              </a:tblGrid>
              <a:tr h="3967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age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29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6" name=""/>
          <p:cNvGraphicFramePr/>
          <p:nvPr/>
        </p:nvGraphicFramePr>
        <p:xfrm>
          <a:off x="7238880" y="3262320"/>
          <a:ext cx="1594080" cy="396720"/>
        </p:xfrm>
        <a:graphic>
          <a:graphicData uri="http://schemas.openxmlformats.org/drawingml/2006/table">
            <a:tbl>
              <a:tblPr/>
              <a:tblGrid>
                <a:gridCol w="946440"/>
                <a:gridCol w="647640"/>
              </a:tblGrid>
              <a:tr h="39672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years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ourier New"/>
                        </a:rPr>
                        <a:t>36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340" dur="indefinite" restart="never" nodeType="tmRoot">
          <p:childTnLst>
            <p:seq>
              <p:cTn id="341" dur="indefinite" nodeType="mainSeq">
                <p:childTnLst>
                  <p:par>
                    <p:cTn id="342" nodeType="clickEffect" fill="hold">
                      <p:stCondLst>
                        <p:cond delay="indefinite"/>
                      </p:stCondLst>
                      <p:childTnLst>
                        <p:par>
                          <p:cTn id="3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5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52" dur="1000"/>
                                        <p:tgtEl>
                                          <p:spTgt spid="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nodeType="clickEffect" fill="hold">
                      <p:stCondLst>
                        <p:cond delay="indefinite"/>
                      </p:stCondLst>
                      <p:childTnLst>
                        <p:par>
                          <p:cTn id="3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56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3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61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6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nodeType="clickEffect" fill="hold">
                      <p:stCondLst>
                        <p:cond delay="indefinite"/>
                      </p:stCondLst>
                      <p:childTnLst>
                        <p:par>
                          <p:cTn id="3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2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7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80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nodeType="clickEffect" fill="hold">
                      <p:stCondLst>
                        <p:cond delay="indefinite"/>
                      </p:stCondLst>
                      <p:childTnLst>
                        <p:par>
                          <p:cTn id="3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88" nodeType="after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89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0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39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39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nodeType="clickEffect" fill="hold">
                      <p:stCondLst>
                        <p:cond delay="indefinite"/>
                      </p:stCondLst>
                      <p:childTnLst>
                        <p:par>
                          <p:cTn id="3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0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4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05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nodeType="clickEffect" fill="hold">
                      <p:stCondLst>
                        <p:cond delay="indefinite"/>
                      </p:stCondLst>
                      <p:childTnLst>
                        <p:par>
                          <p:cTn id="4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2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1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1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1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1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42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5" dur="1000"/>
                                        <p:tgtEl>
                                          <p:spTgt spid="8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Input tokens (not on AP)</a:t>
            </a:r>
            <a:br>
              <a:rPr sz="4400"/>
            </a:br>
            <a:r>
              <a:rPr b="1" lang="en-US" sz="4400" spc="-1" strike="noStrike">
                <a:solidFill>
                  <a:srgbClr val="ff0000"/>
                </a:solidFill>
                <a:latin typeface="Courier New"/>
              </a:rPr>
              <a:t/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 lnSpcReduction="10000"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ahoma"/>
              </a:rPr>
              <a:t>token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: A unit of user input, as read by the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Tokens are separated by </a:t>
            </a:r>
            <a:r>
              <a:rPr b="0" i="1" lang="en-US" sz="2200" spc="-1" strike="noStrike">
                <a:solidFill>
                  <a:srgbClr val="000000"/>
                </a:solidFill>
                <a:latin typeface="Tahoma"/>
              </a:rPr>
              <a:t>whitespace</a:t>
            </a: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 (spaces, tabs, new lines).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550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How many tokens appear on the following line of input?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23  John Smith   42.0  "Hello world"  $2.50  "  19"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When a token is not the type you ask for, it crashes.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System.out.print("What is your age? ");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int age = </a:t>
            </a:r>
            <a:r>
              <a:rPr b="1" lang="en-US" sz="2000" spc="-1" strike="noStrike">
                <a:solidFill>
                  <a:srgbClr val="800000"/>
                </a:solidFill>
                <a:latin typeface="Courier New"/>
              </a:rPr>
              <a:t>console.nextInt()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Output: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ourier New"/>
              </a:rPr>
              <a:t>	</a:t>
            </a: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What is your age? </a:t>
            </a:r>
            <a:r>
              <a:rPr b="1" lang="en-US" sz="2000" spc="-1" strike="noStrike" u="sng">
                <a:solidFill>
                  <a:srgbClr val="000000"/>
                </a:solidFill>
                <a:uFillTx/>
                <a:latin typeface="Courier New"/>
              </a:rPr>
              <a:t>Timmy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java.util.InputMismatchException 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        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at java.util.Scanner.next(Unknown Source)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        </a:t>
            </a:r>
            <a:r>
              <a:rPr b="0" lang="en-US" sz="2000" spc="-1" strike="noStrike">
                <a:solidFill>
                  <a:srgbClr val="800000"/>
                </a:solidFill>
                <a:latin typeface="Courier New"/>
              </a:rPr>
              <a:t>at java.util.Scanner.nextInt(Unknown Source)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7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</a:rPr>
              <a:t>...</a:t>
            </a:r>
            <a:endParaRPr b="0" lang="en-US" sz="20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426" dur="indefinite" restart="never" nodeType="tmRoot">
          <p:childTnLst>
            <p:seq>
              <p:cTn id="427" dur="indefinite" nodeType="mainSeq">
                <p:childTnLst>
                  <p:par>
                    <p:cTn id="428" nodeType="clickEffect" fill="hold">
                      <p:stCondLst>
                        <p:cond delay="indefinite"/>
                      </p:stCondLst>
                      <p:childTnLst>
                        <p:par>
                          <p:cTn id="4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1000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5" dur="1000"/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8" dur="1000"/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1" dur="1000"/>
                                        <p:tgtEl>
                                          <p:spTgt spid="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4" dur="1000"/>
                                        <p:tgtEl>
                                          <p:spTgt spid="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1000"/>
                                        <p:tgtEl>
                                          <p:spTgt spid="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1000"/>
                                        <p:tgtEl>
                                          <p:spTgt spid="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1000"/>
                                        <p:tgtEl>
                                          <p:spTgt spid="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1000"/>
                                        <p:tgtEl>
                                          <p:spTgt spid="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9" dur="1000"/>
                                        <p:tgtEl>
                                          <p:spTgt spid="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1000"/>
                                        <p:tgtEl>
                                          <p:spTgt spid="9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5" dur="1000"/>
                                        <p:tgtEl>
                                          <p:spTgt spid="9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ourier New"/>
              </a:rPr>
              <a:t>Scanner</a:t>
            </a: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 example 2 (not on AP)</a:t>
            </a:r>
            <a:br>
              <a:rPr sz="4400"/>
            </a:br>
            <a:r>
              <a:rPr b="1" lang="en-US" sz="4400" spc="-1" strike="noStrike">
                <a:solidFill>
                  <a:srgbClr val="ff0000"/>
                </a:solidFill>
                <a:latin typeface="Courier New"/>
              </a:rPr>
              <a:t/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import java.util.*;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</a:t>
            </a:r>
            <a:r>
              <a:rPr b="1" lang="en-US" sz="1800" spc="-1" strike="noStrike">
                <a:solidFill>
                  <a:srgbClr val="008080"/>
                </a:solidFill>
                <a:latin typeface="Courier New"/>
              </a:rPr>
              <a:t>// so that I can use Scanner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class ScannerMultiply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public static void main(String[] args) {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Scanner console = new Scanner(System.in);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System.out.print("Please type two numbers: ");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num1 =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console.nextInt();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num2 = </a:t>
            </a:r>
            <a:r>
              <a:rPr b="1" lang="en-US" sz="1800" spc="-1" strike="noStrike">
                <a:solidFill>
                  <a:srgbClr val="000000"/>
                </a:solidFill>
                <a:latin typeface="Courier New"/>
              </a:rPr>
              <a:t>console.nextInt();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int product = num1 * num2;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System.out.println("The product is " + product);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8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ahoma"/>
              </a:rPr>
              <a:t>Valid Outputs (user input underlined):</a:t>
            </a:r>
            <a:endParaRPr b="0" lang="en-US" sz="22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lnSpc>
                <a:spcPct val="80000"/>
              </a:lnSpc>
              <a:spcBef>
                <a:spcPts val="2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9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1" name="TextBox 1"/>
          <p:cNvSpPr/>
          <p:nvPr/>
        </p:nvSpPr>
        <p:spPr>
          <a:xfrm>
            <a:off x="-152280" y="3048120"/>
            <a:ext cx="1839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178160" y="5562720"/>
            <a:ext cx="5423040" cy="14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Please type two numbers: </a:t>
            </a: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ＭＳ Ｐゴシック"/>
              </a:rPr>
              <a:t>8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ＭＳ Ｐゴシック"/>
              </a:rPr>
              <a:t>6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The product is 48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ourier New"/>
                <a:ea typeface="ＭＳ Ｐゴシック"/>
              </a:rPr>
              <a:t>// 2 tokens separated by new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ourier New"/>
                <a:ea typeface="ＭＳ Ｐゴシック"/>
              </a:rPr>
              <a:t>// 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-152280" y="5562720"/>
            <a:ext cx="4876560" cy="14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Please type two numbers: </a:t>
            </a:r>
            <a:r>
              <a:rPr b="1" lang="en-US" sz="1800" spc="-1" strike="noStrike" u="sng">
                <a:solidFill>
                  <a:srgbClr val="000000"/>
                </a:solidFill>
                <a:uFillTx/>
                <a:latin typeface="Courier New"/>
                <a:ea typeface="ＭＳ Ｐゴシック"/>
              </a:rPr>
              <a:t>8 6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ＭＳ Ｐゴシック"/>
              </a:rPr>
              <a:t>The product is 48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ourier New"/>
                <a:ea typeface="ＭＳ Ｐゴシック"/>
              </a:rPr>
              <a:t>// 2 tokens separated by space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466" dur="indefinite" restart="never" nodeType="tmRoot">
          <p:childTnLst>
            <p:seq>
              <p:cTn id="467" dur="indefinite" nodeType="mainSeq">
                <p:childTnLst>
                  <p:par>
                    <p:cTn id="468" nodeType="clickEffect" fill="hold">
                      <p:stCondLst>
                        <p:cond delay="indefinite"/>
                      </p:stCondLst>
                      <p:childTnLst>
                        <p:par>
                          <p:cTn id="4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nodeType="clickEffect" fill="hold">
                      <p:stCondLst>
                        <p:cond delay="indefinite"/>
                      </p:stCondLst>
                      <p:childTnLst>
                        <p:par>
                          <p:cTn id="4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nodeType="clickEffect" fill="hold">
                      <p:stCondLst>
                        <p:cond delay="indefinite"/>
                      </p:stCondLst>
                      <p:childTnLst>
                        <p:par>
                          <p:cTn id="4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Lab 1: String Concatenation 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Create a new repl on replit.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Create two integer variables: pens and pencils. Initialize it to some positive values. Use print statements and String concatenation to have the following output: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Output: (Assuming that the initialized values for pens=18, pencils = 10)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There are 18 pens.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There are 10 pencils.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Total is 28 pens and pencils.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Lab 2: String Concatenation 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51920" y="1295280"/>
            <a:ext cx="8991720" cy="5562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0000"/>
                </a:solidFill>
                <a:latin typeface="Tahoma"/>
              </a:rPr>
              <a:t>Use the SAME repl as from Lab 1 String Concatenation.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Modify your previous lab 1 to ask the user to enter the number pens and pencils rather than hard coding the values. Use print statements and String concatenation to have the following output: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Output: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Enter the number of pens: 10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Enter the number of pencils: 18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Total is 28 pens and pencils. 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0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B Nguyen</cp:lastModifiedBy>
  <cp:lastPrinted>2019-09-09T12:31:50Z</cp:lastPrinted>
  <dcterms:modified xsi:type="dcterms:W3CDTF">2021-09-15T12:19:59Z</dcterms:modified>
  <cp:revision>227</cp:revision>
  <dc:subject/>
  <dc:title>CSE 142 Python Slides</dc:title>
</cp:coreProperties>
</file>