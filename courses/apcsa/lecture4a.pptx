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65" r:id="rId15"/>
    <p:sldId id="258" r:id="rId7"/>
    <p:sldId id="259" r:id="rId8"/>
    <p:sldId id="260" r:id="rId9"/>
    <p:sldId id="261" r:id="rId10"/>
    <p:sldId id="262" r:id="rId11"/>
    <p:sldId id="264" r:id="rId14"/>
    <p:sldId id="263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slide" Target="slides/slide9.xml"/><Relationship Id="rId15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946ABD-A533-45E8-87E1-504E6336A03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16C2C2-794E-4CF0-8198-B67B3F0F5C44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24CEC6-7CA1-45F0-9838-4697B417DAEC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It's also useful to write a program that prompts for multiple values, both on the same line or each on its own 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D51E89-A02F-4CB3-9217-F828C25A5C36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It's also useful to write a program that prompts for multiple values, both on the same line or each on its own 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CA076D-48D7-457C-A198-202C5C8EC64A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1: Using Objects and Methods   User Input with Scanner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Adapted from: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1) Building Java Programs: A Back to Basics Approach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by Stuart Reges and Marty Stepp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51016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Input and </a:t>
            </a: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System.in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interactive program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Reads input from the console.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While the program runs, it asks the user to type input.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input typed by the user is stored in variables in the code.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Can be tricky; users are unpredictable and misbehave.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But interactive programs have more interesting behavior.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ourier Ne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An object that can read input from many sources.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Communicates with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System.in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 (the opposite of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Can also read from files, web sites, databases, ...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nodeType="clickEffect" fill="hold">
                      <p:stCondLst>
                        <p:cond delay="indefinite"/>
                      </p:stCondLst>
                      <p:childTnLst>
                        <p:par>
                          <p:cTn id="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What Is Actually Assessed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 clear about what the exam does and does not ask of you here.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Topic 1.4 says "develop code to read input," and names Scanner as ONE way to read text from the keyboard. But it carries an exclusion: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"Any specific form of input from the user is outside the scope of the AP Computer Science A course and exam."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Topic 4.6 is blunter still: "Accepting input from the keyboard is outside the scope."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So keyboard Scanner code will not be tested. Scanner still matters enormously — but for reading FILES, which is topic 4.6. The exam reference sheet lists only one constructor: Scanner(File f).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Learn this deck as the on-ramp to file reading, not as exam material in itself.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nodeType="clickEffect" fill="hold">
                      <p:stCondLst>
                        <p:cond delay="indefinite"/>
                      </p:stCondLst>
                      <p:childTnLst>
                        <p:par>
                          <p:cTn id="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syntax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class is found in 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java.util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package.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import java.util.*;   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</a:rPr>
              <a:t>// so you can use Scanner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Constructing a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object to read console input: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Scanner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name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= new Scanner(System.in);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Example: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nodeType="clickEffect" fill="hold">
                      <p:stCondLst>
                        <p:cond delay="indefinite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methods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880"/>
          </a:bodyPr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Each method waits until the user presses Enter.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value typed by the user is returned.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System.out.print("How old are you? "); 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prompt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age = </a:t>
            </a:r>
            <a:r>
              <a:rPr b="1" lang="en-US" sz="2000" spc="-1" strike="noStrike">
                <a:solidFill>
                  <a:srgbClr val="003399"/>
                </a:solidFill>
                <a:latin typeface="Courier New"/>
              </a:rPr>
              <a:t>console.nextInt()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System.out.println("You typed " + age);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prompt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message telling the user what input to type.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24" name=""/>
          <p:cNvGraphicFramePr/>
          <p:nvPr/>
        </p:nvGraphicFramePr>
        <p:xfrm>
          <a:off x="569880" y="1339920"/>
          <a:ext cx="8001000" cy="1981080"/>
        </p:xfrm>
        <a:graphic>
          <a:graphicData uri="http://schemas.openxmlformats.org/drawingml/2006/table">
            <a:tbl>
              <a:tblPr/>
              <a:tblGrid>
                <a:gridCol w="2133720"/>
                <a:gridCol w="5867280"/>
              </a:tblGrid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Method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Description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nextInt()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an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int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 and returns it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nextDouble()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double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 one-word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String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nextLine()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 one-</a:t>
                      </a:r>
                      <a:r>
                        <a:rPr b="0" i="1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line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String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nodeType="clickEffect" fill="hold">
                      <p:stCondLst>
                        <p:cond delay="indefinite"/>
                      </p:stCondLst>
                      <p:childTnLst>
                        <p:par>
                          <p:cTn id="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nodeType="clickEffect" fill="hold">
                      <p:stCondLst>
                        <p:cond delay="indefinite"/>
                      </p:stCondLst>
                      <p:childTnLst>
                        <p:par>
                          <p:cTn id="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example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import java.util.*;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1" lang="en-US" sz="1800" spc="-1" strike="noStrike">
                <a:solidFill>
                  <a:srgbClr val="008080"/>
                </a:solidFill>
                <a:latin typeface="Courier New"/>
              </a:rPr>
              <a:t>// so that I can use Scanner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class UserInputExample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System.out.print("How old are you? 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age = </a:t>
            </a:r>
            <a:r>
              <a:rPr b="1" lang="en-US" sz="1800" spc="-1" strike="noStrike">
                <a:solidFill>
                  <a:srgbClr val="003399"/>
                </a:solidFill>
                <a:latin typeface="Courier New"/>
              </a:rPr>
              <a:t>console.nextInt()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years = 65 - age;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System.out.println(years + " years to retirement!");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90000"/>
              </a:lnSpc>
              <a:spcBef>
                <a:spcPts val="2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Console (user input underlined):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How old are you? 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36 years until retirement!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" name="Line 4"/>
          <p:cNvSpPr/>
          <p:nvPr/>
        </p:nvSpPr>
        <p:spPr>
          <a:xfrm>
            <a:off x="1407960" y="2971800"/>
            <a:ext cx="228600" cy="0"/>
          </a:xfrm>
          <a:prstGeom prst="line">
            <a:avLst/>
          </a:prstGeom>
          <a:ln w="25560">
            <a:solidFill>
              <a:srgbClr val="8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Line 5"/>
          <p:cNvSpPr/>
          <p:nvPr/>
        </p:nvSpPr>
        <p:spPr>
          <a:xfrm>
            <a:off x="1407960" y="3224160"/>
            <a:ext cx="228600" cy="0"/>
          </a:xfrm>
          <a:prstGeom prst="line">
            <a:avLst/>
          </a:prstGeom>
          <a:ln w="25560">
            <a:solidFill>
              <a:srgbClr val="8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Line 6"/>
          <p:cNvSpPr/>
          <p:nvPr/>
        </p:nvSpPr>
        <p:spPr>
          <a:xfrm>
            <a:off x="1407960" y="3886200"/>
            <a:ext cx="228600" cy="0"/>
          </a:xfrm>
          <a:prstGeom prst="line">
            <a:avLst/>
          </a:prstGeom>
          <a:ln w="25560">
            <a:solidFill>
              <a:srgbClr val="8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Box 7"/>
          <p:cNvSpPr/>
          <p:nvPr/>
        </p:nvSpPr>
        <p:spPr>
          <a:xfrm>
            <a:off x="2538000" y="5765760"/>
            <a:ext cx="1020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282600" indent="-28260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Times New Roman"/>
              </a:rPr>
              <a:t>29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" name="Group 8"/>
          <p:cNvGrpSpPr/>
          <p:nvPr/>
        </p:nvGrpSpPr>
        <p:grpSpPr>
          <a:xfrm>
            <a:off x="3276720" y="5867280"/>
            <a:ext cx="2367000" cy="961920"/>
            <a:chOff x="3276720" y="5867280"/>
            <a:chExt cx="2367000" cy="961920"/>
          </a:xfrm>
        </p:grpSpPr>
        <p:pic>
          <p:nvPicPr>
            <p:cNvPr id="32" name="Picture 9" descr=""/>
            <p:cNvPicPr/>
            <p:nvPr/>
          </p:nvPicPr>
          <p:blipFill>
            <a:blip r:embed="rId1"/>
            <a:srcRect l="0" t="0" r="5017" b="0"/>
            <a:stretch/>
          </p:blipFill>
          <p:spPr>
            <a:xfrm>
              <a:off x="4648320" y="5867280"/>
              <a:ext cx="995400" cy="961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3" name="Line 10"/>
            <p:cNvSpPr/>
            <p:nvPr/>
          </p:nvSpPr>
          <p:spPr>
            <a:xfrm flipH="1" flipV="1">
              <a:off x="3276720" y="5927040"/>
              <a:ext cx="1371600" cy="304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" name="Line 11"/>
          <p:cNvSpPr/>
          <p:nvPr/>
        </p:nvSpPr>
        <p:spPr>
          <a:xfrm flipV="1">
            <a:off x="3076560" y="3352680"/>
            <a:ext cx="961920" cy="236232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" name="Group 12"/>
          <p:cNvGrpSpPr/>
          <p:nvPr/>
        </p:nvGrpSpPr>
        <p:grpSpPr>
          <a:xfrm>
            <a:off x="5672160" y="3200400"/>
            <a:ext cx="576000" cy="474840"/>
            <a:chOff x="5672160" y="3200400"/>
            <a:chExt cx="576000" cy="474840"/>
          </a:xfrm>
        </p:grpSpPr>
        <p:pic>
          <p:nvPicPr>
            <p:cNvPr id="36" name="Picture 13" descr=""/>
            <p:cNvPicPr/>
            <p:nvPr/>
          </p:nvPicPr>
          <p:blipFill>
            <a:blip r:embed="rId2"/>
            <a:stretch/>
          </p:blipFill>
          <p:spPr>
            <a:xfrm>
              <a:off x="5672160" y="3200400"/>
              <a:ext cx="392760" cy="474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7" name="Text Box 14"/>
            <p:cNvSpPr/>
            <p:nvPr/>
          </p:nvSpPr>
          <p:spPr>
            <a:xfrm>
              <a:off x="6064920" y="3338280"/>
              <a:ext cx="18324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82600" indent="-282600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38" name=""/>
          <p:cNvGraphicFramePr/>
          <p:nvPr/>
        </p:nvGraphicFramePr>
        <p:xfrm>
          <a:off x="7543800" y="2743200"/>
          <a:ext cx="1295280" cy="396720"/>
        </p:xfrm>
        <a:graphic>
          <a:graphicData uri="http://schemas.openxmlformats.org/drawingml/2006/table">
            <a:tbl>
              <a:tblPr/>
              <a:tblGrid>
                <a:gridCol w="647640"/>
                <a:gridCol w="647640"/>
              </a:tblGrid>
              <a:tr h="3967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age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29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"/>
          <p:cNvGraphicFramePr/>
          <p:nvPr/>
        </p:nvGraphicFramePr>
        <p:xfrm>
          <a:off x="7238880" y="3262320"/>
          <a:ext cx="1594080" cy="396720"/>
        </p:xfrm>
        <a:graphic>
          <a:graphicData uri="http://schemas.openxmlformats.org/drawingml/2006/table">
            <a:tbl>
              <a:tblPr/>
              <a:tblGrid>
                <a:gridCol w="946440"/>
                <a:gridCol w="647640"/>
              </a:tblGrid>
              <a:tr h="3967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years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nodeType="clickEffect" fill="hold">
                      <p:stCondLst>
                        <p:cond delay="indefinite"/>
                      </p:stCondLst>
                      <p:childTnLst>
                        <p:par>
                          <p:cTn id="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" dur="1000"/>
                                        <p:tgtEl>
                                          <p:spTgt spid="2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nodeType="clickEffect" fill="hold">
                      <p:stCondLst>
                        <p:cond delay="indefinite"/>
                      </p:stCondLst>
                      <p:childTnLst>
                        <p:par>
                          <p:cTn id="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nodeType="clickEffect" fill="hold">
                      <p:stCondLst>
                        <p:cond delay="indefinite"/>
                      </p:stCondLst>
                      <p:childTnLst>
                        <p:par>
                          <p:cTn id="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nodeType="clickEffect" fill="hold">
                      <p:stCondLst>
                        <p:cond delay="indefinite"/>
                      </p:stCondLst>
                      <p:childTnLst>
                        <p:par>
                          <p:cTn id="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nodeType="after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9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nodeType="clickEffect" fill="hold">
                      <p:stCondLst>
                        <p:cond delay="indefinite"/>
                      </p:stCondLst>
                      <p:childTnLst>
                        <p:par>
                          <p:cTn id="1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0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2" dur="1000"/>
                                        <p:tgtEl>
                                          <p:spTgt spid="2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Input tokens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token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unit of user input, as read by 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Tokens are separated by </a:t>
            </a:r>
            <a:r>
              <a:rPr b="0" i="1" lang="en-US" sz="2200" spc="-1" strike="noStrike">
                <a:solidFill>
                  <a:srgbClr val="000000"/>
                </a:solidFill>
                <a:latin typeface="Tahoma"/>
              </a:rPr>
              <a:t>whitespace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(spaces, tabs, new lines).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How many tokens appear on the following line of input?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23  John Smith   42.0  "Hello world"  $2.50  "  19"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When a token is not the type you ask for, it crashes.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System.out.print("What is your age? ");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age = </a:t>
            </a:r>
            <a:r>
              <a:rPr b="1" lang="en-US" sz="2000" spc="-1" strike="noStrike">
                <a:solidFill>
                  <a:srgbClr val="800000"/>
                </a:solidFill>
                <a:latin typeface="Courier New"/>
              </a:rPr>
              <a:t>console.nextInt()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Output: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What is your age? </a:t>
            </a:r>
            <a:r>
              <a:rPr b="1" lang="en-US" sz="2000" spc="-1" strike="noStrike" u="sng">
                <a:solidFill>
                  <a:srgbClr val="000000"/>
                </a:solidFill>
                <a:uFillTx/>
                <a:latin typeface="Courier New"/>
              </a:rPr>
              <a:t>Timmy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java.util.InputMismatchException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        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at java.util.Scanner.next(Unknown Source)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        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at java.util.Scanner.nextInt(Unknown Source)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...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nodeType="clickEffect" fill="hold">
                      <p:stCondLst>
                        <p:cond delay="indefinite"/>
                      </p:stCondLst>
                      <p:childTnLst>
                        <p:par>
                          <p:cTn id="1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10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1000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1000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1000"/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1000"/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4" dur="1000"/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1000"/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1000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1000"/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1000"/>
                                        <p:tgtEl>
                                          <p:spTgt spid="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1000"/>
                                        <p:tgtEl>
                                          <p:spTgt spid="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1000"/>
                                        <p:tgtEl>
                                          <p:spTgt spid="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example 2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import java.util.*;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1" lang="en-US" sz="1800" spc="-1" strike="noStrike">
                <a:solidFill>
                  <a:srgbClr val="008080"/>
                </a:solidFill>
                <a:latin typeface="Courier New"/>
              </a:rPr>
              <a:t>// so that I can use Scanner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class ScannerMultiply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System.out.print("Please type two numbers: 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num1 =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console.nextInt();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num2 =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console.nextInt();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product = num1 * num2;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System.out.println("The product is " + product);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Valid Outputs (user input underlined):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4" name="TextBox 1"/>
          <p:cNvSpPr/>
          <p:nvPr/>
        </p:nvSpPr>
        <p:spPr>
          <a:xfrm>
            <a:off x="-152280" y="3048120"/>
            <a:ext cx="1839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4178160" y="5562720"/>
            <a:ext cx="5423040" cy="14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Please type two numbers: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ＭＳ Ｐゴシック"/>
              </a:rPr>
              <a:t>8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ＭＳ Ｐゴシック"/>
              </a:rPr>
              <a:t>6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The product is 48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ourier New"/>
                <a:ea typeface="ＭＳ Ｐゴシック"/>
              </a:rPr>
              <a:t>// 2 tokens separated by new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ourier New"/>
                <a:ea typeface="ＭＳ Ｐゴシック"/>
              </a:rPr>
              <a:t>// 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5"/>
          <p:cNvSpPr/>
          <p:nvPr/>
        </p:nvSpPr>
        <p:spPr>
          <a:xfrm>
            <a:off x="-152280" y="5562720"/>
            <a:ext cx="4876560" cy="14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Please type two numbers: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ＭＳ Ｐゴシック"/>
              </a:rPr>
              <a:t>8 6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The product is 48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ourier New"/>
                <a:ea typeface="ＭＳ Ｐゴシック"/>
              </a:rPr>
              <a:t>// 2 tokens separated by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nodeType="clickEffect" fill="hold">
                      <p:stCondLst>
                        <p:cond delay="indefinite"/>
                      </p:stCondLst>
                      <p:childTnLst>
                        <p:par>
                          <p:cTn id="1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nodeType="clickEffect" fill="hold">
                      <p:stCondLst>
                        <p:cond delay="indefinite"/>
                      </p:stCondLst>
                      <p:childTnLst>
                        <p:par>
                          <p:cTn id="1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Reading from a Text File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Scanner does not have to read the keyboard. Hand it a File instead and it reads from that file, using the same methods you already know.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import java.io.File;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import java.util.Scanner;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Scanner input = new Scanner(new File("data.txt"));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while (input.hasNext()) {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String line = input.nextLine();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System.out.println(line);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input.close();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hasNext() returns false once nothing is left to read, so it is what ends the loop. close() releases the file when you are done.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method that opens a file must declare throws IOException in its header. Reading files is on the exam; writing files is not.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nodeType="clickEffect" fill="hold">
                      <p:stCondLst>
                        <p:cond delay="indefinite"/>
                      </p:stCondLst>
                      <p:childTnLst>
                        <p:par>
                          <p:cTn id="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/>
          </a:bodyPr>
          <a:p>
            <a:pPr marL="272880" indent="-27288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Courier Ne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's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next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method reads a word of input as a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String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System.out.print("What is your name? 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String name = console.next();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System.out.println(”Your name is " + name);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Output: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What is your name?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</a:rPr>
              <a:t>Chelsey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Your name is Chelsey. 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nextLine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method reads a line of input as a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String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System.out.print("What is your address? 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String address =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console.nextLine();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System.out.println(”Your address is ” + address);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Output: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What is your address?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</a:rPr>
              <a:t>123 Fake st.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Your address is 123 Fake st.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Strings as user input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87" dur="indefinite" restart="never" nodeType="tmRoot">
          <p:childTnLst>
            <p:seq>
              <p:cTn id="188" dur="indefinite" nodeType="mainSeq">
                <p:childTnLst>
                  <p:par>
                    <p:cTn id="189" nodeType="clickEffect" fill="hold">
                      <p:stCondLst>
                        <p:cond delay="indefinite"/>
                      </p:stCondLst>
                      <p:childTnLst>
                        <p:par>
                          <p:cTn id="1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B Nguyen</cp:lastModifiedBy>
  <cp:lastPrinted>2019-09-12T13:40:33Z</cp:lastPrinted>
  <dcterms:modified xsi:type="dcterms:W3CDTF">2020-08-09T04:57:24Z</dcterms:modified>
  <cp:revision>227</cp:revision>
  <dc:subject/>
  <dc:title>CSE 142 Python Slides</dc:title>
</cp:coreProperties>
</file>