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1" r:id="rId1"/>
  </p:sldMasterIdLst>
  <p:notesMasterIdLst>
    <p:notesMasterId r:id="rId36"/>
  </p:notesMasterIdLst>
  <p:sldIdLst>
    <p:sldId id="349" r:id="rId2"/>
    <p:sldId id="350" r:id="rId3"/>
    <p:sldId id="313" r:id="rId4"/>
    <p:sldId id="314" r:id="rId5"/>
    <p:sldId id="317" r:id="rId6"/>
    <p:sldId id="348" r:id="rId7"/>
    <p:sldId id="315" r:id="rId8"/>
    <p:sldId id="316" r:id="rId9"/>
    <p:sldId id="345" r:id="rId10"/>
    <p:sldId id="652" r:id="rId11"/>
    <p:sldId id="654" r:id="rId12"/>
    <p:sldId id="323" r:id="rId13"/>
    <p:sldId id="650" r:id="rId14"/>
    <p:sldId id="320" r:id="rId15"/>
    <p:sldId id="321" r:id="rId16"/>
    <p:sldId id="322" r:id="rId17"/>
    <p:sldId id="343" r:id="rId18"/>
    <p:sldId id="342" r:id="rId19"/>
    <p:sldId id="643" r:id="rId20"/>
    <p:sldId id="647" r:id="rId21"/>
    <p:sldId id="648" r:id="rId22"/>
    <p:sldId id="351" r:id="rId23"/>
    <p:sldId id="626" r:id="rId24"/>
    <p:sldId id="627" r:id="rId25"/>
    <p:sldId id="328" r:id="rId26"/>
    <p:sldId id="655" r:id="rId27"/>
    <p:sldId id="329" r:id="rId28"/>
    <p:sldId id="335" r:id="rId29"/>
    <p:sldId id="336" r:id="rId30"/>
    <p:sldId id="337" r:id="rId31"/>
    <p:sldId id="628" r:id="rId32"/>
    <p:sldId id="629" r:id="rId33"/>
    <p:sldId id="598" r:id="rId34"/>
    <p:sldId id="649" r:id="rId35"/>
  </p:sldIdLst>
  <p:sldSz cx="9144000" cy="5715000" type="screen16x10"/>
  <p:notesSz cx="6858000" cy="9144000"/>
  <p:defaultTextStyle>
    <a:defPPr>
      <a:defRPr lang="en-US"/>
    </a:defPPr>
    <a:lvl1pPr marL="0" algn="l" defTabSz="356616" rtl="0" eaLnBrk="1" latinLnBrk="0" hangingPunct="1">
      <a:defRPr sz="1404" kern="1200">
        <a:solidFill>
          <a:schemeClr val="tx1"/>
        </a:solidFill>
        <a:latin typeface="+mn-lt"/>
        <a:ea typeface="+mn-ea"/>
        <a:cs typeface="+mn-cs"/>
      </a:defRPr>
    </a:lvl1pPr>
    <a:lvl2pPr marL="356616" algn="l" defTabSz="356616" rtl="0" eaLnBrk="1" latinLnBrk="0" hangingPunct="1">
      <a:defRPr sz="1404" kern="1200">
        <a:solidFill>
          <a:schemeClr val="tx1"/>
        </a:solidFill>
        <a:latin typeface="+mn-lt"/>
        <a:ea typeface="+mn-ea"/>
        <a:cs typeface="+mn-cs"/>
      </a:defRPr>
    </a:lvl2pPr>
    <a:lvl3pPr marL="713232" algn="l" defTabSz="356616" rtl="0" eaLnBrk="1" latinLnBrk="0" hangingPunct="1">
      <a:defRPr sz="1404" kern="1200">
        <a:solidFill>
          <a:schemeClr val="tx1"/>
        </a:solidFill>
        <a:latin typeface="+mn-lt"/>
        <a:ea typeface="+mn-ea"/>
        <a:cs typeface="+mn-cs"/>
      </a:defRPr>
    </a:lvl3pPr>
    <a:lvl4pPr marL="1069848" algn="l" defTabSz="356616" rtl="0" eaLnBrk="1" latinLnBrk="0" hangingPunct="1">
      <a:defRPr sz="1404" kern="1200">
        <a:solidFill>
          <a:schemeClr val="tx1"/>
        </a:solidFill>
        <a:latin typeface="+mn-lt"/>
        <a:ea typeface="+mn-ea"/>
        <a:cs typeface="+mn-cs"/>
      </a:defRPr>
    </a:lvl4pPr>
    <a:lvl5pPr marL="1426464" algn="l" defTabSz="356616" rtl="0" eaLnBrk="1" latinLnBrk="0" hangingPunct="1">
      <a:defRPr sz="1404" kern="1200">
        <a:solidFill>
          <a:schemeClr val="tx1"/>
        </a:solidFill>
        <a:latin typeface="+mn-lt"/>
        <a:ea typeface="+mn-ea"/>
        <a:cs typeface="+mn-cs"/>
      </a:defRPr>
    </a:lvl5pPr>
    <a:lvl6pPr marL="1783080" algn="l" defTabSz="356616" rtl="0" eaLnBrk="1" latinLnBrk="0" hangingPunct="1">
      <a:defRPr sz="1404" kern="1200">
        <a:solidFill>
          <a:schemeClr val="tx1"/>
        </a:solidFill>
        <a:latin typeface="+mn-lt"/>
        <a:ea typeface="+mn-ea"/>
        <a:cs typeface="+mn-cs"/>
      </a:defRPr>
    </a:lvl6pPr>
    <a:lvl7pPr marL="2139696" algn="l" defTabSz="356616" rtl="0" eaLnBrk="1" latinLnBrk="0" hangingPunct="1">
      <a:defRPr sz="1404" kern="1200">
        <a:solidFill>
          <a:schemeClr val="tx1"/>
        </a:solidFill>
        <a:latin typeface="+mn-lt"/>
        <a:ea typeface="+mn-ea"/>
        <a:cs typeface="+mn-cs"/>
      </a:defRPr>
    </a:lvl7pPr>
    <a:lvl8pPr marL="2496312" algn="l" defTabSz="356616" rtl="0" eaLnBrk="1" latinLnBrk="0" hangingPunct="1">
      <a:defRPr sz="1404" kern="1200">
        <a:solidFill>
          <a:schemeClr val="tx1"/>
        </a:solidFill>
        <a:latin typeface="+mn-lt"/>
        <a:ea typeface="+mn-ea"/>
        <a:cs typeface="+mn-cs"/>
      </a:defRPr>
    </a:lvl8pPr>
    <a:lvl9pPr marL="2852928" algn="l" defTabSz="356616"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DA19AD-D56D-604B-B26F-1ABCE9E2E7F2}" v="1" dt="2026-02-10T17:52:50.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12"/>
    <p:restoredTop sz="95370"/>
  </p:normalViewPr>
  <p:slideViewPr>
    <p:cSldViewPr snapToGrid="0" snapToObjects="1">
      <p:cViewPr varScale="1">
        <p:scale>
          <a:sx n="128" d="100"/>
          <a:sy n="128" d="100"/>
        </p:scale>
        <p:origin x="9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 B Nguyen" userId="f59fb8f3-a021-417a-8bc1-65c8d471c621" providerId="ADAL" clId="{93BE87BA-F8CA-5C1F-82FF-B4CAB5F485A1}"/>
    <pc:docChg chg="addSld modSld sldOrd">
      <pc:chgData name="Long B Nguyen" userId="f59fb8f3-a021-417a-8bc1-65c8d471c621" providerId="ADAL" clId="{93BE87BA-F8CA-5C1F-82FF-B4CAB5F485A1}" dt="2026-02-10T17:52:50.590" v="2"/>
      <pc:docMkLst>
        <pc:docMk/>
      </pc:docMkLst>
      <pc:sldChg chg="ord">
        <pc:chgData name="Long B Nguyen" userId="f59fb8f3-a021-417a-8bc1-65c8d471c621" providerId="ADAL" clId="{93BE87BA-F8CA-5C1F-82FF-B4CAB5F485A1}" dt="2026-02-05T14:46:01.161" v="0" actId="20578"/>
        <pc:sldMkLst>
          <pc:docMk/>
          <pc:sldMk cId="3176068915" sldId="323"/>
        </pc:sldMkLst>
      </pc:sldChg>
      <pc:sldChg chg="addSp new">
        <pc:chgData name="Long B Nguyen" userId="f59fb8f3-a021-417a-8bc1-65c8d471c621" providerId="ADAL" clId="{93BE87BA-F8CA-5C1F-82FF-B4CAB5F485A1}" dt="2026-02-10T17:52:50.590" v="2"/>
        <pc:sldMkLst>
          <pc:docMk/>
          <pc:sldMk cId="3305937636" sldId="655"/>
        </pc:sldMkLst>
        <pc:picChg chg="add">
          <ac:chgData name="Long B Nguyen" userId="f59fb8f3-a021-417a-8bc1-65c8d471c621" providerId="ADAL" clId="{93BE87BA-F8CA-5C1F-82FF-B4CAB5F485A1}" dt="2026-02-10T17:52:50.590" v="2"/>
          <ac:picMkLst>
            <pc:docMk/>
            <pc:sldMk cId="3305937636" sldId="655"/>
            <ac:picMk id="5" creationId="{7C569F14-237A-407F-6123-3E9A18BF1A4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59725-BFEE-644C-A872-B7D4268C5620}" type="datetimeFigureOut">
              <a:rPr lang="en-US" smtClean="0"/>
              <a:t>2/10/26</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6290AE-058D-1344-A3D3-E0EB99844BF9}" type="slidenum">
              <a:rPr lang="en-US" smtClean="0"/>
              <a:t>‹#›</a:t>
            </a:fld>
            <a:endParaRPr lang="en-US"/>
          </a:p>
        </p:txBody>
      </p:sp>
    </p:spTree>
    <p:extLst>
      <p:ext uri="{BB962C8B-B14F-4D97-AF65-F5344CB8AC3E}">
        <p14:creationId xmlns:p14="http://schemas.microsoft.com/office/powerpoint/2010/main" val="1768111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FAD0774A-C327-5C47-B3DC-5140AAE7E81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483603F-536E-5348-85CA-469E92E29B2B}" type="slidenum">
              <a:rPr lang="en-US" altLang="en-US" smtClean="0"/>
              <a:pPr/>
              <a:t>33</a:t>
            </a:fld>
            <a:endParaRPr lang="en-US" altLang="en-US"/>
          </a:p>
        </p:txBody>
      </p:sp>
      <p:sp>
        <p:nvSpPr>
          <p:cNvPr id="50178" name="Rectangle 2">
            <a:extLst>
              <a:ext uri="{FF2B5EF4-FFF2-40B4-BE49-F238E27FC236}">
                <a16:creationId xmlns:a16="http://schemas.microsoft.com/office/drawing/2014/main" id="{1BA78FAA-916D-C940-BDA3-90C03500E2AA}"/>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a:extLst>
              <a:ext uri="{FF2B5EF4-FFF2-40B4-BE49-F238E27FC236}">
                <a16:creationId xmlns:a16="http://schemas.microsoft.com/office/drawing/2014/main" id="{4AAB2FF5-D4ED-B740-80F6-BE335EA26060}"/>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Crash Course: Cybersecurity</a:t>
            </a:r>
          </a:p>
        </p:txBody>
      </p:sp>
    </p:spTree>
    <p:extLst>
      <p:ext uri="{BB962C8B-B14F-4D97-AF65-F5344CB8AC3E}">
        <p14:creationId xmlns:p14="http://schemas.microsoft.com/office/powerpoint/2010/main" val="186017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FAD0774A-C327-5C47-B3DC-5140AAE7E81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483603F-536E-5348-85CA-469E92E29B2B}" type="slidenum">
              <a:rPr lang="en-US" altLang="en-US" smtClean="0"/>
              <a:pPr/>
              <a:t>34</a:t>
            </a:fld>
            <a:endParaRPr lang="en-US" altLang="en-US"/>
          </a:p>
        </p:txBody>
      </p:sp>
      <p:sp>
        <p:nvSpPr>
          <p:cNvPr id="50178" name="Rectangle 2">
            <a:extLst>
              <a:ext uri="{FF2B5EF4-FFF2-40B4-BE49-F238E27FC236}">
                <a16:creationId xmlns:a16="http://schemas.microsoft.com/office/drawing/2014/main" id="{1BA78FAA-916D-C940-BDA3-90C03500E2AA}"/>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a:extLst>
              <a:ext uri="{FF2B5EF4-FFF2-40B4-BE49-F238E27FC236}">
                <a16:creationId xmlns:a16="http://schemas.microsoft.com/office/drawing/2014/main" id="{4AAB2FF5-D4ED-B740-80F6-BE335EA26060}"/>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Crash Course: Cybersecurity</a:t>
            </a:r>
          </a:p>
        </p:txBody>
      </p:sp>
    </p:spTree>
    <p:extLst>
      <p:ext uri="{BB962C8B-B14F-4D97-AF65-F5344CB8AC3E}">
        <p14:creationId xmlns:p14="http://schemas.microsoft.com/office/powerpoint/2010/main" val="1123757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23619B-719A-5549-9239-F6FF1BD2846D}" type="datetime1">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42896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C5CB90-DEDB-994B-84BC-9FDB717C5CBD}" type="datetime1">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09770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F75833-FF0C-6644-AC7B-34B254D0A954}" type="datetime1">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84383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DCE700-E6AE-524E-BEEB-46A7E76E8986}" type="datetime1">
              <a:rPr lang="en-US" smtClean="0"/>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74480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30EA8A-B19A-644A-B658-96DEEEE04EF1}" type="datetime1">
              <a:rPr lang="en-US" smtClean="0"/>
              <a:t>2/10/26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99681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4E8E52-1C5D-7D47-B85E-8BFF5979B0CB}" type="datetime1">
              <a:rPr lang="en-US" smtClean="0"/>
              <a:t>2/10/26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8543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611565-A0EF-0543-9120-E8D7910551BC}" type="datetime1">
              <a:rPr lang="en-US" smtClean="0"/>
              <a:t>2/10/26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4254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359E2FF-3518-C44C-BE92-D041C193D2F8}" type="datetime1">
              <a:rPr lang="en-US" smtClean="0"/>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03316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9884FF3-7B81-634E-9C77-D2386ED448CF}" type="datetime1">
              <a:rPr lang="en-US" smtClean="0"/>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66140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9469B0-555B-D345-BF9F-2FB120243016}" type="datetime1">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2194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6B20A9-234F-5A47-9885-F549043114F6}" type="datetime1">
              <a:rPr lang="en-US" smtClean="0"/>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52237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8F612B6D-4BD4-3345-A8C8-BA2EEC41AF3A}" type="datetime1">
              <a:rPr lang="en-US" smtClean="0"/>
              <a:t>2/10/26</a:t>
            </a:fld>
            <a:endParaRPr lang="en-US" dirty="0"/>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7727167"/>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616" y="0"/>
            <a:ext cx="8182719" cy="5715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56616"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715000"/>
          </a:xfrm>
          <a:prstGeom prst="rect">
            <a:avLst/>
          </a:prstGeom>
        </p:spPr>
      </p:pic>
      <p:sp>
        <p:nvSpPr>
          <p:cNvPr id="2" name="Title 1">
            <a:extLst>
              <a:ext uri="{FF2B5EF4-FFF2-40B4-BE49-F238E27FC236}">
                <a16:creationId xmlns:a16="http://schemas.microsoft.com/office/drawing/2014/main" id="{6117A749-B1BA-E24B-8FB0-0604EF651FB3}"/>
              </a:ext>
            </a:extLst>
          </p:cNvPr>
          <p:cNvSpPr>
            <a:spLocks noGrp="1"/>
          </p:cNvSpPr>
          <p:nvPr>
            <p:ph type="ctrTitle"/>
          </p:nvPr>
        </p:nvSpPr>
        <p:spPr>
          <a:xfrm>
            <a:off x="1741952" y="1644595"/>
            <a:ext cx="5872351" cy="1555871"/>
          </a:xfrm>
        </p:spPr>
        <p:txBody>
          <a:bodyPr>
            <a:normAutofit/>
          </a:bodyPr>
          <a:lstStyle/>
          <a:p>
            <a:r>
              <a:rPr lang="en-US" dirty="0">
                <a:solidFill>
                  <a:srgbClr val="FFFFFF"/>
                </a:solidFill>
              </a:rPr>
              <a:t>Understanding Data Part 1</a:t>
            </a:r>
          </a:p>
        </p:txBody>
      </p:sp>
      <p:sp>
        <p:nvSpPr>
          <p:cNvPr id="3" name="Subtitle 2">
            <a:extLst>
              <a:ext uri="{FF2B5EF4-FFF2-40B4-BE49-F238E27FC236}">
                <a16:creationId xmlns:a16="http://schemas.microsoft.com/office/drawing/2014/main" id="{1BDC47C8-6776-7B44-9CD4-95FC91452D62}"/>
              </a:ext>
            </a:extLst>
          </p:cNvPr>
          <p:cNvSpPr>
            <a:spLocks noGrp="1"/>
          </p:cNvSpPr>
          <p:nvPr>
            <p:ph type="subTitle" idx="1"/>
          </p:nvPr>
        </p:nvSpPr>
        <p:spPr>
          <a:xfrm>
            <a:off x="2284026" y="3395598"/>
            <a:ext cx="4578895" cy="568399"/>
          </a:xfrm>
        </p:spPr>
        <p:txBody>
          <a:bodyPr>
            <a:normAutofit/>
          </a:bodyPr>
          <a:lstStyle/>
          <a:p>
            <a:r>
              <a:rPr lang="en-US" b="1">
                <a:solidFill>
                  <a:srgbClr val="FFFFFF"/>
                </a:solidFill>
              </a:rPr>
              <a:t>Representing Data </a:t>
            </a:r>
            <a:r>
              <a:rPr lang="en-US" b="1" dirty="0">
                <a:solidFill>
                  <a:srgbClr val="FFFFFF"/>
                </a:solidFill>
              </a:rPr>
              <a:t>Digitally</a:t>
            </a:r>
          </a:p>
        </p:txBody>
      </p:sp>
      <p:sp>
        <p:nvSpPr>
          <p:cNvPr id="4" name="Subtitle 2">
            <a:extLst>
              <a:ext uri="{FF2B5EF4-FFF2-40B4-BE49-F238E27FC236}">
                <a16:creationId xmlns:a16="http://schemas.microsoft.com/office/drawing/2014/main" id="{C4071586-F58C-CD48-BB49-60F4B2277ED8}"/>
              </a:ext>
            </a:extLst>
          </p:cNvPr>
          <p:cNvSpPr txBox="1">
            <a:spLocks/>
          </p:cNvSpPr>
          <p:nvPr/>
        </p:nvSpPr>
        <p:spPr>
          <a:xfrm>
            <a:off x="2183952" y="3285007"/>
            <a:ext cx="4507445" cy="54231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en-US" sz="2400" b="1"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
        <p:nvSpPr>
          <p:cNvPr id="5" name="Slide Number Placeholder 4">
            <a:extLst>
              <a:ext uri="{FF2B5EF4-FFF2-40B4-BE49-F238E27FC236}">
                <a16:creationId xmlns:a16="http://schemas.microsoft.com/office/drawing/2014/main" id="{E17C1383-2C77-99C0-D265-1BAB8FC9F021}"/>
              </a:ext>
            </a:extLst>
          </p:cNvPr>
          <p:cNvSpPr>
            <a:spLocks noGrp="1"/>
          </p:cNvSpPr>
          <p:nvPr>
            <p:ph type="sldNum" sz="quarter" idx="12"/>
          </p:nvPr>
        </p:nvSpPr>
        <p:spPr/>
        <p:txBody>
          <a:bodyPr/>
          <a:lstStyle/>
          <a:p>
            <a:fld id="{D57F1E4F-1CFF-5643-939E-02111984F565}" type="slidenum">
              <a:rPr lang="en-US" smtClean="0"/>
              <a:t>1</a:t>
            </a:fld>
            <a:endParaRPr lang="en-US" dirty="0"/>
          </a:p>
        </p:txBody>
      </p:sp>
    </p:spTree>
    <p:extLst>
      <p:ext uri="{BB962C8B-B14F-4D97-AF65-F5344CB8AC3E}">
        <p14:creationId xmlns:p14="http://schemas.microsoft.com/office/powerpoint/2010/main" val="1685712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BCBA125C-ACA7-FB47-96FC-9420F821AD81}"/>
              </a:ext>
            </a:extLst>
          </p:cNvPr>
          <p:cNvSpPr>
            <a:spLocks noGrp="1" noChangeArrowheads="1"/>
          </p:cNvSpPr>
          <p:nvPr>
            <p:ph type="title"/>
          </p:nvPr>
        </p:nvSpPr>
        <p:spPr>
          <a:xfrm>
            <a:off x="158631" y="179462"/>
            <a:ext cx="7886700" cy="605602"/>
          </a:xfrm>
        </p:spPr>
        <p:txBody>
          <a:bodyPr/>
          <a:lstStyle/>
          <a:p>
            <a:pPr eaLnBrk="1" hangingPunct="1"/>
            <a:r>
              <a:rPr lang="en-US" altLang="en-US" dirty="0">
                <a:ea typeface="ＭＳ Ｐゴシック" panose="020B0600070205080204" pitchFamily="34" charset="-128"/>
              </a:rPr>
              <a:t>Data</a:t>
            </a:r>
          </a:p>
        </p:txBody>
      </p:sp>
      <p:sp>
        <p:nvSpPr>
          <p:cNvPr id="3" name="Content Placeholder 2">
            <a:extLst>
              <a:ext uri="{FF2B5EF4-FFF2-40B4-BE49-F238E27FC236}">
                <a16:creationId xmlns:a16="http://schemas.microsoft.com/office/drawing/2014/main" id="{44A58473-3189-0C44-8A5E-E353CDFB3E5C}"/>
              </a:ext>
            </a:extLst>
          </p:cNvPr>
          <p:cNvSpPr>
            <a:spLocks noGrp="1" noChangeArrowheads="1"/>
          </p:cNvSpPr>
          <p:nvPr>
            <p:ph idx="1"/>
          </p:nvPr>
        </p:nvSpPr>
        <p:spPr>
          <a:xfrm>
            <a:off x="107355" y="699604"/>
            <a:ext cx="8985369" cy="4929936"/>
          </a:xfrm>
        </p:spPr>
        <p:txBody>
          <a:bodyPr>
            <a:normAutofit lnSpcReduction="10000"/>
          </a:bodyPr>
          <a:lstStyle/>
          <a:p>
            <a:pPr marL="0" indent="0">
              <a:buNone/>
            </a:pPr>
            <a:r>
              <a:rPr lang="en-US" dirty="0"/>
              <a:t>Data values can be stored in variables, lists of items, or standalone constants.</a:t>
            </a:r>
            <a:endParaRPr lang="en-US" sz="2000" dirty="0"/>
          </a:p>
          <a:p>
            <a:pPr marL="0" indent="0">
              <a:buNone/>
            </a:pPr>
            <a:endParaRPr lang="en-US" altLang="en-US" sz="1833" dirty="0">
              <a:latin typeface="Tahoma" panose="020B0604030504040204" pitchFamily="34" charset="0"/>
              <a:ea typeface="ＭＳ Ｐゴシック" panose="020B0600070205080204" pitchFamily="34" charset="-128"/>
            </a:endParaRPr>
          </a:p>
          <a:p>
            <a:pPr marL="0" indent="0">
              <a:buNone/>
            </a:pPr>
            <a:r>
              <a:rPr lang="en-US" dirty="0"/>
              <a:t>Computing devices represent data(text, numbers, audio, images) </a:t>
            </a:r>
            <a:r>
              <a:rPr lang="en-US" b="1" dirty="0"/>
              <a:t>digitally</a:t>
            </a:r>
            <a:r>
              <a:rPr lang="en-US" dirty="0"/>
              <a:t>, meaning that the lowest-level components of any value are </a:t>
            </a:r>
            <a:r>
              <a:rPr lang="en-US" b="1" dirty="0"/>
              <a:t>bits</a:t>
            </a:r>
            <a:r>
              <a:rPr lang="en-US" dirty="0"/>
              <a:t>. </a:t>
            </a:r>
          </a:p>
          <a:p>
            <a:pPr marL="0" indent="0">
              <a:buNone/>
            </a:pPr>
            <a:endParaRPr lang="en-US" dirty="0"/>
          </a:p>
          <a:p>
            <a:pPr marL="0" indent="0">
              <a:buNone/>
            </a:pPr>
            <a:r>
              <a:rPr lang="en-US" b="1" dirty="0"/>
              <a:t>Bit</a:t>
            </a:r>
            <a:r>
              <a:rPr lang="en-US" i="1" dirty="0"/>
              <a:t> </a:t>
            </a:r>
            <a:r>
              <a:rPr lang="en-US" dirty="0"/>
              <a:t>is shorthand for </a:t>
            </a:r>
            <a:r>
              <a:rPr lang="en-US" b="1" dirty="0"/>
              <a:t>binary digit</a:t>
            </a:r>
            <a:r>
              <a:rPr lang="en-US" i="1" dirty="0"/>
              <a:t> </a:t>
            </a:r>
            <a:r>
              <a:rPr lang="en-US" dirty="0"/>
              <a:t>and is either 0 or a 1. This system of representing data is called </a:t>
            </a:r>
            <a:r>
              <a:rPr lang="en-US" b="1" dirty="0"/>
              <a:t>binary</a:t>
            </a:r>
            <a:r>
              <a:rPr lang="en-US" dirty="0"/>
              <a:t> (base 2) which uses only combinations of the digits zero and one. </a:t>
            </a:r>
          </a:p>
          <a:p>
            <a:pPr marL="0" indent="0">
              <a:buNone/>
            </a:pPr>
            <a:endParaRPr lang="en-US" dirty="0"/>
          </a:p>
          <a:p>
            <a:pPr marL="0" indent="0">
              <a:buNone/>
            </a:pPr>
            <a:r>
              <a:rPr lang="en-US" altLang="en-US" b="1" dirty="0">
                <a:latin typeface="INCONSOLATA" panose="020B0609030003000000" pitchFamily="49" charset="77"/>
                <a:ea typeface="ＭＳ Ｐゴシック" panose="020B0600070205080204" pitchFamily="34" charset="-128"/>
              </a:rPr>
              <a:t>name = "Mike Smith"		</a:t>
            </a:r>
            <a:r>
              <a:rPr lang="en-US" altLang="en-US" sz="1900" b="1" dirty="0">
                <a:solidFill>
                  <a:srgbClr val="FF0000"/>
                </a:solidFill>
                <a:latin typeface="INCONSOLATA" panose="020B0609030003000000" pitchFamily="49" charset="77"/>
                <a:ea typeface="ＭＳ Ｐゴシック" panose="020B0600070205080204" pitchFamily="34" charset="-128"/>
              </a:rPr>
              <a:t># represented internally as 0's and 1's</a:t>
            </a:r>
            <a:endParaRPr lang="en-US" altLang="en-US" sz="1900" b="1" dirty="0">
              <a:latin typeface="INCONSOLATA" panose="020B0609030003000000" pitchFamily="49" charset="77"/>
              <a:ea typeface="ＭＳ Ｐゴシック" panose="020B0600070205080204" pitchFamily="34" charset="-128"/>
            </a:endParaRPr>
          </a:p>
          <a:p>
            <a:pPr marL="0" indent="0">
              <a:buNone/>
            </a:pPr>
            <a:r>
              <a:rPr lang="en-US" altLang="en-US" b="1" dirty="0">
                <a:latin typeface="INCONSOLATA" panose="020B0609030003000000" pitchFamily="49" charset="77"/>
                <a:ea typeface="ＭＳ Ｐゴシック" panose="020B0600070205080204" pitchFamily="34" charset="-128"/>
              </a:rPr>
              <a:t>grades = [87, 91, 75] 	</a:t>
            </a:r>
            <a:r>
              <a:rPr lang="en-US" altLang="en-US" sz="1900" b="1" dirty="0">
                <a:solidFill>
                  <a:srgbClr val="FF0000"/>
                </a:solidFill>
                <a:latin typeface="INCONSOLATA" panose="020B0609030003000000" pitchFamily="49" charset="77"/>
                <a:ea typeface="ＭＳ Ｐゴシック" panose="020B0600070205080204" pitchFamily="34" charset="-128"/>
              </a:rPr>
              <a:t># represented internally as 0's and 1's</a:t>
            </a:r>
            <a:endParaRPr lang="en-US" sz="1900" dirty="0">
              <a:solidFill>
                <a:srgbClr val="FF0000"/>
              </a:solidFill>
            </a:endParaRPr>
          </a:p>
          <a:p>
            <a:pPr marL="0" indent="0">
              <a:buNone/>
            </a:pPr>
            <a:endParaRPr lang="en-US" dirty="0"/>
          </a:p>
          <a:p>
            <a:pPr marL="0" indent="0">
              <a:buNone/>
            </a:pPr>
            <a:r>
              <a:rPr lang="en-US" dirty="0"/>
              <a:t>Thus, </a:t>
            </a:r>
            <a:r>
              <a:rPr lang="en-US" b="1" dirty="0"/>
              <a:t>digital data</a:t>
            </a:r>
            <a:r>
              <a:rPr lang="en-US" dirty="0"/>
              <a:t> is simply some sequence of 0's and 1s representing some information. An image, audio recording or movie can be represented using just 0’s and 1’s!</a:t>
            </a:r>
            <a:endParaRPr lang="en-US" sz="2000" dirty="0"/>
          </a:p>
          <a:p>
            <a:pPr marL="0" indent="0">
              <a:buNone/>
            </a:pPr>
            <a:endParaRPr lang="en-US" altLang="en-US" sz="1833" dirty="0">
              <a:latin typeface="Tahoma" panose="020B0604030504040204" pitchFamily="34" charset="0"/>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407C4AD2-1CE4-84C8-2CB9-EE9395A3AC2A}"/>
              </a:ext>
            </a:extLst>
          </p:cNvPr>
          <p:cNvSpPr>
            <a:spLocks noGrp="1"/>
          </p:cNvSpPr>
          <p:nvPr>
            <p:ph type="sldNum" sz="quarter" idx="12"/>
          </p:nvPr>
        </p:nvSpPr>
        <p:spPr/>
        <p:txBody>
          <a:bodyPr/>
          <a:lstStyle/>
          <a:p>
            <a:fld id="{D57F1E4F-1CFF-5643-939E-02111984F565}" type="slidenum">
              <a:rPr lang="en-US" smtClean="0"/>
              <a:t>2</a:t>
            </a:fld>
            <a:endParaRPr lang="en-US" dirty="0"/>
          </a:p>
        </p:txBody>
      </p:sp>
    </p:spTree>
    <p:extLst>
      <p:ext uri="{BB962C8B-B14F-4D97-AF65-F5344CB8AC3E}">
        <p14:creationId xmlns:p14="http://schemas.microsoft.com/office/powerpoint/2010/main" val="1173183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BCBA125C-ACA7-FB47-96FC-9420F821AD81}"/>
              </a:ext>
            </a:extLst>
          </p:cNvPr>
          <p:cNvSpPr>
            <a:spLocks noGrp="1" noChangeArrowheads="1"/>
          </p:cNvSpPr>
          <p:nvPr>
            <p:ph type="title"/>
          </p:nvPr>
        </p:nvSpPr>
        <p:spPr>
          <a:xfrm>
            <a:off x="235543" y="179462"/>
            <a:ext cx="7886700" cy="622693"/>
          </a:xfrm>
        </p:spPr>
        <p:txBody>
          <a:bodyPr/>
          <a:lstStyle/>
          <a:p>
            <a:pPr eaLnBrk="1" hangingPunct="1"/>
            <a:r>
              <a:rPr lang="en-US" altLang="en-US" dirty="0">
                <a:ea typeface="ＭＳ Ｐゴシック" panose="020B0600070205080204" pitchFamily="34" charset="-128"/>
              </a:rPr>
              <a:t>Base 10 </a:t>
            </a:r>
            <a:r>
              <a:rPr lang="en-US" altLang="zh-CN" dirty="0">
                <a:ea typeface="宋体" panose="02010600030101010101" pitchFamily="2" charset="-122"/>
              </a:rPr>
              <a:t>(Decimal numbers)</a:t>
            </a:r>
            <a:endParaRPr lang="en-US" altLang="en-US" dirty="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44A58473-3189-0C44-8A5E-E353CDFB3E5C}"/>
              </a:ext>
            </a:extLst>
          </p:cNvPr>
          <p:cNvSpPr>
            <a:spLocks noGrp="1" noChangeArrowheads="1"/>
          </p:cNvSpPr>
          <p:nvPr>
            <p:ph idx="1"/>
          </p:nvPr>
        </p:nvSpPr>
        <p:spPr>
          <a:xfrm>
            <a:off x="235543" y="931492"/>
            <a:ext cx="8763178" cy="4604046"/>
          </a:xfrm>
        </p:spPr>
        <p:txBody>
          <a:bodyPr>
            <a:normAutofit/>
          </a:bodyPr>
          <a:lstStyle/>
          <a:p>
            <a:pPr marL="0" indent="0">
              <a:buNone/>
            </a:pPr>
            <a:r>
              <a:rPr lang="en-US" altLang="en-US" dirty="0">
                <a:solidFill>
                  <a:srgbClr val="000000"/>
                </a:solidFill>
                <a:ea typeface="ＭＳ Ｐゴシック" panose="020B0600070205080204" pitchFamily="34" charset="-128"/>
              </a:rPr>
              <a:t>Computers store all information in the form of binary numbers. To understand binary numbers, let's first look at a more familiar system: decimal numbers.</a:t>
            </a:r>
          </a:p>
          <a:p>
            <a:pPr marL="0" indent="0">
              <a:buNone/>
            </a:pPr>
            <a:endParaRPr lang="en-US" altLang="en-US" dirty="0">
              <a:solidFill>
                <a:srgbClr val="000000"/>
              </a:solidFill>
              <a:ea typeface="ＭＳ Ｐゴシック" panose="020B0600070205080204" pitchFamily="34" charset="-128"/>
            </a:endParaRPr>
          </a:p>
          <a:p>
            <a:pPr marL="0" indent="0">
              <a:buNone/>
            </a:pPr>
            <a:r>
              <a:rPr lang="en-US" altLang="en-US" dirty="0">
                <a:solidFill>
                  <a:srgbClr val="000000"/>
                </a:solidFill>
                <a:ea typeface="ＭＳ Ｐゴシック" panose="020B0600070205080204" pitchFamily="34" charset="-128"/>
              </a:rPr>
              <a:t>Decimal numbers is base 10. It uses 10 digits </a:t>
            </a:r>
            <a:r>
              <a:rPr lang="en-US" altLang="zh-CN" dirty="0">
                <a:ea typeface="宋体" panose="02010600030101010101" pitchFamily="2" charset="-122"/>
              </a:rPr>
              <a:t>{0,1,2,3…,9}.  </a:t>
            </a:r>
            <a:r>
              <a:rPr lang="en-US" altLang="en-US" dirty="0">
                <a:solidFill>
                  <a:srgbClr val="000000"/>
                </a:solidFill>
                <a:ea typeface="ＭＳ Ｐゴシック" panose="020B0600070205080204" pitchFamily="34" charset="-128"/>
              </a:rPr>
              <a:t>Why do we prefer base 10? There are many reasons but one simple reason is simply because we </a:t>
            </a:r>
            <a:r>
              <a:rPr lang="en-US" altLang="zh-CN" dirty="0">
                <a:ea typeface="宋体" panose="02010600030101010101" pitchFamily="2" charset="-122"/>
              </a:rPr>
              <a:t>have ten fingers.</a:t>
            </a:r>
          </a:p>
          <a:p>
            <a:pPr marL="0" indent="0">
              <a:buNone/>
            </a:pPr>
            <a:endParaRPr lang="en-US" altLang="zh-CN" dirty="0">
              <a:ea typeface="宋体" panose="02010600030101010101" pitchFamily="2" charset="-122"/>
            </a:endParaRPr>
          </a:p>
          <a:p>
            <a:pPr marL="0" indent="0">
              <a:buNone/>
            </a:pPr>
            <a:r>
              <a:rPr lang="en-US" altLang="zh-CN" dirty="0">
                <a:ea typeface="宋体" panose="02010600030101010101" pitchFamily="2" charset="-122"/>
              </a:rPr>
              <a:t>Base 10 (Decimal) uses 10 digits: {0,1,2,3…,9}.</a:t>
            </a:r>
          </a:p>
          <a:p>
            <a:pPr marL="0" indent="0">
              <a:buNone/>
            </a:pPr>
            <a:r>
              <a:rPr lang="en-US" altLang="zh-CN" dirty="0">
                <a:ea typeface="宋体" panose="02010600030101010101" pitchFamily="2" charset="-122"/>
              </a:rPr>
              <a:t>Base 2 (Binary) uses 2 digits: {0,1}.</a:t>
            </a:r>
          </a:p>
          <a:p>
            <a:pPr marL="0" indent="0">
              <a:buNone/>
            </a:pPr>
            <a:r>
              <a:rPr lang="en-US" altLang="zh-CN" dirty="0">
                <a:ea typeface="宋体" panose="02010600030101010101" pitchFamily="2" charset="-122"/>
              </a:rPr>
              <a:t>Base 8 (Octal) uses 8 digits: {0,1,2,3,4,5,6,7}</a:t>
            </a:r>
          </a:p>
          <a:p>
            <a:pPr marL="0" indent="0">
              <a:buNone/>
            </a:pPr>
            <a:r>
              <a:rPr lang="en-US" altLang="zh-CN" dirty="0">
                <a:ea typeface="宋体" panose="02010600030101010101" pitchFamily="2" charset="-122"/>
              </a:rPr>
              <a:t>Base 16 (Hexadecimal) uses 16 digits: {0,1,2,3,4…,9,A,B,C,D,E,F}</a:t>
            </a:r>
          </a:p>
          <a:p>
            <a:pPr marL="0" indent="0">
              <a:buNone/>
            </a:pPr>
            <a:endParaRPr lang="en-US" altLang="zh-CN" dirty="0">
              <a:ea typeface="宋体" panose="02010600030101010101" pitchFamily="2" charset="-122"/>
            </a:endParaRPr>
          </a:p>
          <a:p>
            <a:pPr marL="0" indent="0"/>
            <a:endParaRPr lang="en-US" altLang="en-US" dirty="0">
              <a:ea typeface="ＭＳ Ｐゴシック" panose="020B0600070205080204" pitchFamily="34" charset="-128"/>
            </a:endParaRPr>
          </a:p>
          <a:p>
            <a:pPr marL="0" indent="0">
              <a:buNone/>
            </a:pPr>
            <a:endParaRPr lang="en-US" altLang="en-US" dirty="0">
              <a:ea typeface="ＭＳ Ｐゴシック" panose="020B0600070205080204" pitchFamily="34" charset="-128"/>
            </a:endParaRPr>
          </a:p>
          <a:p>
            <a:pPr marL="0" indent="0">
              <a:buNone/>
            </a:pPr>
            <a:endParaRPr lang="en-US" altLang="en-US" dirty="0">
              <a:latin typeface="Tahoma" panose="020B0604030504040204" pitchFamily="34" charset="0"/>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AF7A9A84-11FD-EB67-6EC6-8EBF8151A866}"/>
              </a:ext>
            </a:extLst>
          </p:cNvPr>
          <p:cNvSpPr>
            <a:spLocks noGrp="1"/>
          </p:cNvSpPr>
          <p:nvPr>
            <p:ph type="sldNum" sz="quarter" idx="12"/>
          </p:nvPr>
        </p:nvSpPr>
        <p:spPr/>
        <p:txBody>
          <a:bodyPr/>
          <a:lstStyle/>
          <a:p>
            <a:fld id="{D57F1E4F-1CFF-5643-939E-02111984F565}" type="slidenum">
              <a:rPr lang="en-US" smtClean="0"/>
              <a:t>3</a:t>
            </a:fld>
            <a:endParaRPr lang="en-US" dirty="0"/>
          </a:p>
        </p:txBody>
      </p:sp>
    </p:spTree>
    <p:extLst>
      <p:ext uri="{BB962C8B-B14F-4D97-AF65-F5344CB8AC3E}">
        <p14:creationId xmlns:p14="http://schemas.microsoft.com/office/powerpoint/2010/main" val="83380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D64B8878-850A-FD49-812E-00E5D00C2909}"/>
              </a:ext>
            </a:extLst>
          </p:cNvPr>
          <p:cNvSpPr>
            <a:spLocks noGrp="1" noChangeArrowheads="1"/>
          </p:cNvSpPr>
          <p:nvPr>
            <p:ph type="title"/>
          </p:nvPr>
        </p:nvSpPr>
        <p:spPr>
          <a:xfrm>
            <a:off x="150085" y="187817"/>
            <a:ext cx="7886700" cy="759427"/>
          </a:xfrm>
        </p:spPr>
        <p:txBody>
          <a:bodyPr/>
          <a:lstStyle/>
          <a:p>
            <a:pPr eaLnBrk="1" hangingPunct="1"/>
            <a:r>
              <a:rPr lang="en-US" altLang="en-US">
                <a:ea typeface="ＭＳ Ｐゴシック" panose="020B0600070205080204" pitchFamily="34" charset="-128"/>
              </a:rPr>
              <a:t>Base 10 </a:t>
            </a:r>
            <a:r>
              <a:rPr lang="en-US" altLang="zh-CN">
                <a:ea typeface="宋体" panose="02010600030101010101" pitchFamily="2" charset="-122"/>
              </a:rPr>
              <a:t>(Decimal numbers)</a:t>
            </a:r>
            <a:endParaRPr lang="en-US" altLang="en-US">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A2015382-9B7F-FE46-8251-9DC1E84F44FE}"/>
              </a:ext>
            </a:extLst>
          </p:cNvPr>
          <p:cNvSpPr>
            <a:spLocks noGrp="1"/>
          </p:cNvSpPr>
          <p:nvPr>
            <p:ph idx="1"/>
          </p:nvPr>
        </p:nvSpPr>
        <p:spPr>
          <a:xfrm>
            <a:off x="150085" y="947244"/>
            <a:ext cx="8780270" cy="4462244"/>
          </a:xfrm>
        </p:spPr>
        <p:txBody>
          <a:bodyPr/>
          <a:lstStyle/>
          <a:p>
            <a:pPr marL="0" indent="0">
              <a:buNone/>
              <a:defRPr/>
            </a:pPr>
            <a:r>
              <a:rPr lang="en-US" dirty="0">
                <a:latin typeface="Gill Sans MT" panose="020B0502020104020203" pitchFamily="34" charset="77"/>
                <a:cs typeface="Tahoma"/>
              </a:rPr>
              <a:t>Each digit has a weight corresponding to a power of 10. Multiply each digit with its weight and then sum. </a:t>
            </a:r>
          </a:p>
          <a:p>
            <a:pPr marL="0" indent="0">
              <a:buNone/>
              <a:defRPr/>
            </a:pPr>
            <a:endParaRPr lang="en-US" sz="2333" dirty="0">
              <a:solidFill>
                <a:schemeClr val="tx1">
                  <a:lumMod val="75000"/>
                </a:schemeClr>
              </a:solidFill>
            </a:endParaRPr>
          </a:p>
          <a:p>
            <a:pPr marL="0" indent="0">
              <a:buNone/>
              <a:defRPr/>
            </a:pPr>
            <a:endParaRPr lang="en-US" sz="1833" dirty="0"/>
          </a:p>
          <a:p>
            <a:pPr marL="0" indent="0">
              <a:buNone/>
              <a:defRPr/>
            </a:pPr>
            <a:r>
              <a:rPr lang="en-US" altLang="zh-CN" dirty="0">
                <a:ea typeface="宋体" charset="0"/>
                <a:cs typeface="宋体" charset="0"/>
              </a:rPr>
              <a:t>What does </a:t>
            </a:r>
            <a:r>
              <a:rPr lang="en-US" dirty="0"/>
              <a:t>15</a:t>
            </a:r>
            <a:r>
              <a:rPr lang="en-US" altLang="zh-CN" dirty="0">
                <a:ea typeface="宋体" charset="0"/>
                <a:cs typeface="宋体" charset="0"/>
              </a:rPr>
              <a:t>7 mean?</a:t>
            </a:r>
            <a:endParaRPr lang="en-US" dirty="0"/>
          </a:p>
          <a:p>
            <a:pPr marL="342900" lvl="1" indent="0">
              <a:buNone/>
              <a:defRPr/>
            </a:pPr>
            <a:r>
              <a:rPr lang="en-US" sz="2000" dirty="0"/>
              <a:t>15</a:t>
            </a:r>
            <a:r>
              <a:rPr lang="en-US" altLang="zh-CN" sz="2000" dirty="0">
                <a:ea typeface="宋体" charset="0"/>
                <a:cs typeface="宋体" charset="0"/>
              </a:rPr>
              <a:t>7</a:t>
            </a:r>
            <a:r>
              <a:rPr lang="en-US" sz="2000" dirty="0"/>
              <a:t> = 1 x 100 + 5 x 10 + </a:t>
            </a:r>
            <a:r>
              <a:rPr lang="en-US" altLang="zh-CN" sz="2000" dirty="0">
                <a:ea typeface="宋体" charset="0"/>
                <a:cs typeface="宋体" charset="0"/>
              </a:rPr>
              <a:t>7</a:t>
            </a:r>
            <a:r>
              <a:rPr lang="en-US" sz="2000" dirty="0"/>
              <a:t> x 1</a:t>
            </a:r>
          </a:p>
          <a:p>
            <a:pPr marL="0" indent="0">
              <a:buNone/>
              <a:defRPr/>
            </a:pPr>
            <a:r>
              <a:rPr lang="en-US" sz="2000" dirty="0"/>
              <a:t>          = 1 x 10</a:t>
            </a:r>
            <a:r>
              <a:rPr lang="en-US" sz="2000" baseline="30000" dirty="0"/>
              <a:t>2</a:t>
            </a:r>
            <a:r>
              <a:rPr lang="en-US" sz="2000" dirty="0"/>
              <a:t> + 5 x 10</a:t>
            </a:r>
            <a:r>
              <a:rPr lang="en-US" sz="2000" baseline="30000" dirty="0"/>
              <a:t>1</a:t>
            </a:r>
            <a:r>
              <a:rPr lang="en-US" sz="2000" dirty="0"/>
              <a:t> + </a:t>
            </a:r>
            <a:r>
              <a:rPr lang="en-US" altLang="zh-CN" sz="2000" dirty="0">
                <a:ea typeface="宋体" charset="0"/>
                <a:cs typeface="宋体" charset="0"/>
              </a:rPr>
              <a:t>7</a:t>
            </a:r>
            <a:r>
              <a:rPr lang="en-US" sz="2000" dirty="0"/>
              <a:t> x 10</a:t>
            </a:r>
            <a:r>
              <a:rPr lang="en-US" sz="2000" baseline="30000" dirty="0"/>
              <a:t>0</a:t>
            </a:r>
            <a:endParaRPr lang="en-US" altLang="zh-CN" sz="2000" baseline="30000" dirty="0">
              <a:ea typeface="宋体" charset="0"/>
              <a:cs typeface="宋体" charset="0"/>
            </a:endParaRPr>
          </a:p>
          <a:p>
            <a:pPr marL="0" indent="0">
              <a:buNone/>
              <a:defRPr/>
            </a:pPr>
            <a:endParaRPr lang="en-US" sz="2000" dirty="0"/>
          </a:p>
          <a:p>
            <a:pPr marL="0" indent="0">
              <a:buNone/>
              <a:defRPr/>
            </a:pPr>
            <a:endParaRPr lang="en-US" sz="1833" dirty="0"/>
          </a:p>
        </p:txBody>
      </p:sp>
      <p:sp>
        <p:nvSpPr>
          <p:cNvPr id="2" name="Slide Number Placeholder 1">
            <a:extLst>
              <a:ext uri="{FF2B5EF4-FFF2-40B4-BE49-F238E27FC236}">
                <a16:creationId xmlns:a16="http://schemas.microsoft.com/office/drawing/2014/main" id="{7EDDC462-A425-109E-0985-6F60BD2ED21D}"/>
              </a:ext>
            </a:extLst>
          </p:cNvPr>
          <p:cNvSpPr>
            <a:spLocks noGrp="1"/>
          </p:cNvSpPr>
          <p:nvPr>
            <p:ph type="sldNum" sz="quarter" idx="12"/>
          </p:nvPr>
        </p:nvSpPr>
        <p:spPr/>
        <p:txBody>
          <a:bodyPr/>
          <a:lstStyle/>
          <a:p>
            <a:fld id="{D57F1E4F-1CFF-5643-939E-02111984F565}" type="slidenum">
              <a:rPr lang="en-US" smtClean="0"/>
              <a:t>4</a:t>
            </a:fld>
            <a:endParaRPr lang="en-US" dirty="0"/>
          </a:p>
        </p:txBody>
      </p:sp>
    </p:spTree>
    <p:extLst>
      <p:ext uri="{BB962C8B-B14F-4D97-AF65-F5344CB8AC3E}">
        <p14:creationId xmlns:p14="http://schemas.microsoft.com/office/powerpoint/2010/main" val="419994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5E6C904F-B0D2-8542-BF56-4B43E4386E3D}"/>
              </a:ext>
            </a:extLst>
          </p:cNvPr>
          <p:cNvSpPr>
            <a:spLocks noGrp="1" noChangeArrowheads="1"/>
          </p:cNvSpPr>
          <p:nvPr>
            <p:ph type="title"/>
          </p:nvPr>
        </p:nvSpPr>
        <p:spPr>
          <a:xfrm>
            <a:off x="175723" y="205964"/>
            <a:ext cx="7886700" cy="723133"/>
          </a:xfrm>
        </p:spPr>
        <p:txBody>
          <a:bodyPr/>
          <a:lstStyle/>
          <a:p>
            <a:pPr eaLnBrk="1" hangingPunct="1"/>
            <a:r>
              <a:rPr lang="en-US" altLang="en-US" dirty="0">
                <a:ea typeface="ＭＳ Ｐゴシック" panose="020B0600070205080204" pitchFamily="34" charset="-128"/>
              </a:rPr>
              <a:t>Base 10 (Decimal)</a:t>
            </a:r>
          </a:p>
        </p:txBody>
      </p:sp>
      <p:sp>
        <p:nvSpPr>
          <p:cNvPr id="23554" name="Content Placeholder 2">
            <a:extLst>
              <a:ext uri="{FF2B5EF4-FFF2-40B4-BE49-F238E27FC236}">
                <a16:creationId xmlns:a16="http://schemas.microsoft.com/office/drawing/2014/main" id="{3BD2A87C-D635-9046-861F-C063DCE1B6DA}"/>
              </a:ext>
            </a:extLst>
          </p:cNvPr>
          <p:cNvSpPr>
            <a:spLocks noGrp="1" noChangeArrowheads="1"/>
          </p:cNvSpPr>
          <p:nvPr>
            <p:ph idx="1"/>
          </p:nvPr>
        </p:nvSpPr>
        <p:spPr/>
        <p:txBody>
          <a:bodyPr/>
          <a:lstStyle/>
          <a:p>
            <a:pPr marL="0" indent="0">
              <a:buNone/>
            </a:pPr>
            <a:endParaRPr lang="en-US" altLang="en-US" sz="2000">
              <a:ea typeface="ＭＳ Ｐゴシック" panose="020B0600070205080204" pitchFamily="34" charset="-128"/>
            </a:endParaRPr>
          </a:p>
          <a:p>
            <a:pPr marL="0" indent="0">
              <a:buNone/>
            </a:pPr>
            <a:endParaRPr lang="en-US" altLang="en-US" sz="1833">
              <a:ea typeface="ＭＳ Ｐゴシック" panose="020B0600070205080204" pitchFamily="34" charset="-128"/>
            </a:endParaRPr>
          </a:p>
          <a:p>
            <a:pPr marL="0" indent="0">
              <a:buNone/>
            </a:pPr>
            <a:endParaRPr lang="en-US" altLang="en-US" sz="1833">
              <a:latin typeface="Tahoma" panose="020B0604030504040204" pitchFamily="34" charset="0"/>
              <a:ea typeface="ＭＳ Ｐゴシック" panose="020B0600070205080204" pitchFamily="34" charset="-128"/>
            </a:endParaRPr>
          </a:p>
        </p:txBody>
      </p:sp>
      <p:pic>
        <p:nvPicPr>
          <p:cNvPr id="2" name="Picture 1">
            <a:extLst>
              <a:ext uri="{FF2B5EF4-FFF2-40B4-BE49-F238E27FC236}">
                <a16:creationId xmlns:a16="http://schemas.microsoft.com/office/drawing/2014/main" id="{D5FC4C3C-5059-9845-989F-6DA2B906114F}"/>
              </a:ext>
            </a:extLst>
          </p:cNvPr>
          <p:cNvPicPr>
            <a:picLocks noChangeAspect="1"/>
          </p:cNvPicPr>
          <p:nvPr/>
        </p:nvPicPr>
        <p:blipFill>
          <a:blip r:embed="rId2"/>
          <a:stretch>
            <a:fillRect/>
          </a:stretch>
        </p:blipFill>
        <p:spPr>
          <a:xfrm>
            <a:off x="47902" y="1403111"/>
            <a:ext cx="8904840" cy="3626115"/>
          </a:xfrm>
          <a:prstGeom prst="rect">
            <a:avLst/>
          </a:prstGeom>
        </p:spPr>
      </p:pic>
      <p:sp>
        <p:nvSpPr>
          <p:cNvPr id="3" name="Slide Number Placeholder 2">
            <a:extLst>
              <a:ext uri="{FF2B5EF4-FFF2-40B4-BE49-F238E27FC236}">
                <a16:creationId xmlns:a16="http://schemas.microsoft.com/office/drawing/2014/main" id="{A74C6077-B3F5-03FD-63B9-A0916C43634F}"/>
              </a:ext>
            </a:extLst>
          </p:cNvPr>
          <p:cNvSpPr>
            <a:spLocks noGrp="1"/>
          </p:cNvSpPr>
          <p:nvPr>
            <p:ph type="sldNum" sz="quarter" idx="12"/>
          </p:nvPr>
        </p:nvSpPr>
        <p:spPr/>
        <p:txBody>
          <a:bodyPr/>
          <a:lstStyle/>
          <a:p>
            <a:fld id="{D57F1E4F-1CFF-5643-939E-02111984F565}" type="slidenum">
              <a:rPr lang="en-US" smtClean="0"/>
              <a:t>5</a:t>
            </a:fld>
            <a:endParaRPr lang="en-US" dirty="0"/>
          </a:p>
        </p:txBody>
      </p:sp>
    </p:spTree>
    <p:extLst>
      <p:ext uri="{BB962C8B-B14F-4D97-AF65-F5344CB8AC3E}">
        <p14:creationId xmlns:p14="http://schemas.microsoft.com/office/powerpoint/2010/main" val="1105327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5E6C904F-B0D2-8542-BF56-4B43E4386E3D}"/>
              </a:ext>
            </a:extLst>
          </p:cNvPr>
          <p:cNvSpPr>
            <a:spLocks noGrp="1" noChangeArrowheads="1"/>
          </p:cNvSpPr>
          <p:nvPr>
            <p:ph type="title"/>
          </p:nvPr>
        </p:nvSpPr>
        <p:spPr>
          <a:xfrm>
            <a:off x="158631" y="179461"/>
            <a:ext cx="7886700" cy="639786"/>
          </a:xfrm>
        </p:spPr>
        <p:txBody>
          <a:bodyPr/>
          <a:lstStyle/>
          <a:p>
            <a:pPr eaLnBrk="1" hangingPunct="1"/>
            <a:r>
              <a:rPr lang="en-US" altLang="en-US" dirty="0">
                <a:ea typeface="ＭＳ Ｐゴシック" panose="020B0600070205080204" pitchFamily="34" charset="-128"/>
              </a:rPr>
              <a:t>Base 2 (Binary)</a:t>
            </a:r>
          </a:p>
        </p:txBody>
      </p:sp>
      <p:sp>
        <p:nvSpPr>
          <p:cNvPr id="23554" name="Content Placeholder 2">
            <a:extLst>
              <a:ext uri="{FF2B5EF4-FFF2-40B4-BE49-F238E27FC236}">
                <a16:creationId xmlns:a16="http://schemas.microsoft.com/office/drawing/2014/main" id="{3BD2A87C-D635-9046-861F-C063DCE1B6DA}"/>
              </a:ext>
            </a:extLst>
          </p:cNvPr>
          <p:cNvSpPr>
            <a:spLocks noGrp="1" noChangeArrowheads="1"/>
          </p:cNvSpPr>
          <p:nvPr>
            <p:ph idx="1"/>
          </p:nvPr>
        </p:nvSpPr>
        <p:spPr/>
        <p:txBody>
          <a:bodyPr/>
          <a:lstStyle/>
          <a:p>
            <a:pPr marL="0" indent="0">
              <a:buNone/>
            </a:pPr>
            <a:endParaRPr lang="en-US" altLang="en-US" sz="2000">
              <a:ea typeface="ＭＳ Ｐゴシック" panose="020B0600070205080204" pitchFamily="34" charset="-128"/>
            </a:endParaRPr>
          </a:p>
          <a:p>
            <a:pPr marL="0" indent="0">
              <a:buNone/>
            </a:pPr>
            <a:endParaRPr lang="en-US" altLang="en-US" sz="1833">
              <a:ea typeface="ＭＳ Ｐゴシック" panose="020B0600070205080204" pitchFamily="34" charset="-128"/>
            </a:endParaRPr>
          </a:p>
          <a:p>
            <a:pPr marL="0" indent="0">
              <a:buNone/>
            </a:pPr>
            <a:endParaRPr lang="en-US" altLang="en-US" sz="1833">
              <a:latin typeface="Tahoma" panose="020B0604030504040204" pitchFamily="34" charset="0"/>
              <a:ea typeface="ＭＳ Ｐゴシック" panose="020B0600070205080204" pitchFamily="34" charset="-128"/>
            </a:endParaRPr>
          </a:p>
        </p:txBody>
      </p:sp>
      <p:pic>
        <p:nvPicPr>
          <p:cNvPr id="3" name="Picture 2">
            <a:extLst>
              <a:ext uri="{FF2B5EF4-FFF2-40B4-BE49-F238E27FC236}">
                <a16:creationId xmlns:a16="http://schemas.microsoft.com/office/drawing/2014/main" id="{CB795113-FB6C-E648-85D0-183CDD5AF882}"/>
              </a:ext>
            </a:extLst>
          </p:cNvPr>
          <p:cNvPicPr>
            <a:picLocks noChangeAspect="1"/>
          </p:cNvPicPr>
          <p:nvPr/>
        </p:nvPicPr>
        <p:blipFill>
          <a:blip r:embed="rId2"/>
          <a:stretch>
            <a:fillRect/>
          </a:stretch>
        </p:blipFill>
        <p:spPr>
          <a:xfrm>
            <a:off x="235159" y="1781810"/>
            <a:ext cx="8673681" cy="2870200"/>
          </a:xfrm>
          <a:prstGeom prst="rect">
            <a:avLst/>
          </a:prstGeom>
        </p:spPr>
      </p:pic>
      <p:sp>
        <p:nvSpPr>
          <p:cNvPr id="2" name="Slide Number Placeholder 1">
            <a:extLst>
              <a:ext uri="{FF2B5EF4-FFF2-40B4-BE49-F238E27FC236}">
                <a16:creationId xmlns:a16="http://schemas.microsoft.com/office/drawing/2014/main" id="{D30FFA42-75F8-F1C8-E54D-0B8CF7846FE0}"/>
              </a:ext>
            </a:extLst>
          </p:cNvPr>
          <p:cNvSpPr>
            <a:spLocks noGrp="1"/>
          </p:cNvSpPr>
          <p:nvPr>
            <p:ph type="sldNum" sz="quarter" idx="12"/>
          </p:nvPr>
        </p:nvSpPr>
        <p:spPr/>
        <p:txBody>
          <a:bodyPr/>
          <a:lstStyle/>
          <a:p>
            <a:fld id="{D57F1E4F-1CFF-5643-939E-02111984F565}" type="slidenum">
              <a:rPr lang="en-US" smtClean="0"/>
              <a:t>6</a:t>
            </a:fld>
            <a:endParaRPr lang="en-US" dirty="0"/>
          </a:p>
        </p:txBody>
      </p:sp>
    </p:spTree>
    <p:extLst>
      <p:ext uri="{BB962C8B-B14F-4D97-AF65-F5344CB8AC3E}">
        <p14:creationId xmlns:p14="http://schemas.microsoft.com/office/powerpoint/2010/main" val="292147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44A4C074-C74F-714A-A8EE-ABAB5BC20626}"/>
              </a:ext>
            </a:extLst>
          </p:cNvPr>
          <p:cNvSpPr>
            <a:spLocks noGrp="1" noChangeArrowheads="1"/>
          </p:cNvSpPr>
          <p:nvPr>
            <p:ph type="title"/>
          </p:nvPr>
        </p:nvSpPr>
        <p:spPr>
          <a:xfrm>
            <a:off x="192815" y="102549"/>
            <a:ext cx="7886700" cy="725243"/>
          </a:xfrm>
        </p:spPr>
        <p:txBody>
          <a:bodyPr/>
          <a:lstStyle/>
          <a:p>
            <a:pPr eaLnBrk="1" hangingPunct="1"/>
            <a:r>
              <a:rPr lang="en-US" altLang="en-US" dirty="0">
                <a:ea typeface="ＭＳ Ｐゴシック" panose="020B0600070205080204" pitchFamily="34" charset="-128"/>
              </a:rPr>
              <a:t>Subscripts 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49D47C-23C2-834A-9FE9-50A8E8BE40E7}"/>
                  </a:ext>
                </a:extLst>
              </p:cNvPr>
              <p:cNvSpPr>
                <a:spLocks noGrp="1"/>
              </p:cNvSpPr>
              <p:nvPr>
                <p:ph idx="1"/>
              </p:nvPr>
            </p:nvSpPr>
            <p:spPr>
              <a:xfrm>
                <a:off x="282011" y="948584"/>
                <a:ext cx="8631253" cy="4537816"/>
              </a:xfrm>
            </p:spPr>
            <p:txBody>
              <a:bodyPr>
                <a:normAutofit lnSpcReduction="10000"/>
              </a:bodyPr>
              <a:lstStyle/>
              <a:p>
                <a:pPr marL="0" indent="0">
                  <a:buNone/>
                  <a:defRPr/>
                </a:pPr>
                <a:endParaRPr lang="en-US" sz="2000" dirty="0"/>
              </a:p>
              <a:p>
                <a:pPr>
                  <a:buFont typeface="Wingdings" charset="0"/>
                  <a:buNone/>
                  <a:defRPr/>
                </a:pPr>
                <a:r>
                  <a:rPr lang="en-US" sz="2500" b="1" dirty="0"/>
                  <a:t>Base 2</a:t>
                </a:r>
              </a:p>
              <a:p>
                <a:pPr>
                  <a:buFont typeface="Wingdings" charset="0"/>
                  <a:buNone/>
                  <a:defRPr/>
                </a:pPr>
                <a:r>
                  <a:rPr lang="en-US" sz="2500" dirty="0"/>
                  <a:t>1011 = 1 x 2</a:t>
                </a:r>
                <a:r>
                  <a:rPr lang="en-US" sz="2500" baseline="30000" dirty="0"/>
                  <a:t>3 </a:t>
                </a:r>
                <a:r>
                  <a:rPr lang="en-US" sz="2500" dirty="0"/>
                  <a:t>+ 0 x 2</a:t>
                </a:r>
                <a:r>
                  <a:rPr lang="en-US" sz="2500" baseline="30000" dirty="0"/>
                  <a:t>2</a:t>
                </a:r>
                <a:r>
                  <a:rPr lang="en-US" sz="2500" dirty="0"/>
                  <a:t> + 1 x 2</a:t>
                </a:r>
                <a:r>
                  <a:rPr lang="en-US" sz="2500" baseline="30000" dirty="0"/>
                  <a:t>1</a:t>
                </a:r>
                <a:r>
                  <a:rPr lang="en-US" sz="2500" dirty="0"/>
                  <a:t> + 1 x 2</a:t>
                </a:r>
                <a:r>
                  <a:rPr lang="en-US" sz="2500" baseline="30000" dirty="0"/>
                  <a:t>0</a:t>
                </a:r>
              </a:p>
              <a:p>
                <a:pPr>
                  <a:buFont typeface="Wingdings" charset="0"/>
                  <a:buNone/>
                  <a:defRPr/>
                </a:pPr>
                <a:r>
                  <a:rPr lang="en-US" sz="2500" dirty="0"/>
                  <a:t>	      = 1 x 8 + 0 x 4 + 1 x 2 + 1 x 1 = 11 in Base 10</a:t>
                </a:r>
              </a:p>
              <a:p>
                <a:pPr>
                  <a:buFont typeface="Wingdings" charset="0"/>
                  <a:buNone/>
                  <a:defRPr/>
                </a:pPr>
                <a:endParaRPr lang="en-US" sz="2500" dirty="0"/>
              </a:p>
              <a:p>
                <a:pPr>
                  <a:buFont typeface="Wingdings" charset="0"/>
                  <a:buNone/>
                  <a:defRPr/>
                </a:pPr>
                <a:r>
                  <a:rPr lang="en-US" sz="2500" dirty="0"/>
                  <a:t>We’ll use subscripts to denote the base of a number.</a:t>
                </a:r>
              </a:p>
              <a:p>
                <a:pPr>
                  <a:buFont typeface="Wingdings" charset="0"/>
                  <a:buNone/>
                  <a:defRPr/>
                </a:pPr>
                <a:endParaRPr lang="en-US" sz="2500" dirty="0"/>
              </a:p>
              <a:p>
                <a:pPr>
                  <a:buFont typeface="Wingdings" charset="0"/>
                  <a:buNone/>
                  <a:defRPr/>
                </a:pPr>
                <a:r>
                  <a:rPr lang="en-US" sz="2500" dirty="0"/>
                  <a:t>For example, </a:t>
                </a:r>
                <a14:m>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11</m:t>
                        </m:r>
                      </m:e>
                      <m:sub>
                        <m:r>
                          <a:rPr lang="en-US" sz="2500" b="0" i="1" smtClean="0">
                            <a:latin typeface="Cambria Math" panose="02040503050406030204" pitchFamily="18" charset="0"/>
                          </a:rPr>
                          <m:t>10</m:t>
                        </m:r>
                      </m:sub>
                    </m:sSub>
                  </m:oMath>
                </a14:m>
                <a:r>
                  <a:rPr lang="en-US" sz="2500" dirty="0"/>
                  <a:t> is 11 in base 10.  And </a:t>
                </a:r>
                <a14:m>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1011</m:t>
                        </m:r>
                      </m:e>
                      <m:sub>
                        <m:r>
                          <a:rPr lang="en-US" sz="2500" b="0" i="1" smtClean="0">
                            <a:latin typeface="Cambria Math" panose="02040503050406030204" pitchFamily="18" charset="0"/>
                          </a:rPr>
                          <m:t>2</m:t>
                        </m:r>
                      </m:sub>
                    </m:sSub>
                  </m:oMath>
                </a14:m>
                <a:r>
                  <a:rPr lang="en-US" sz="2500" dirty="0"/>
                  <a:t> is a number in </a:t>
                </a:r>
              </a:p>
              <a:p>
                <a:pPr>
                  <a:buFont typeface="Wingdings" charset="0"/>
                  <a:buNone/>
                  <a:defRPr/>
                </a:pPr>
                <a:r>
                  <a:rPr lang="en-US" sz="2500" dirty="0"/>
                  <a:t>base 2 that is equal to 11 in base 10. So,</a:t>
                </a:r>
              </a:p>
              <a:p>
                <a:pPr>
                  <a:buFont typeface="Wingdings" charset="0"/>
                  <a:buNone/>
                  <a:defRPr/>
                </a:pPr>
                <a:endParaRPr lang="en-US" sz="2500" dirty="0"/>
              </a:p>
              <a:p>
                <a:pPr>
                  <a:buFont typeface="Wingdings" charset="0"/>
                  <a:buNone/>
                  <a:defRPr/>
                </a:pPr>
                <a:r>
                  <a:rPr lang="en-US" sz="2500" dirty="0"/>
                  <a:t> </a:t>
                </a:r>
                <a14:m>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1011</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11</m:t>
                        </m:r>
                      </m:e>
                      <m:sub>
                        <m:r>
                          <a:rPr lang="en-US" sz="2500" b="0" i="1" smtClean="0">
                            <a:latin typeface="Cambria Math" panose="02040503050406030204" pitchFamily="18" charset="0"/>
                          </a:rPr>
                          <m:t>10</m:t>
                        </m:r>
                      </m:sub>
                    </m:sSub>
                  </m:oMath>
                </a14:m>
                <a:endParaRPr lang="en-US" sz="2500" dirty="0"/>
              </a:p>
              <a:p>
                <a:pPr>
                  <a:buFont typeface="Wingdings" charset="0"/>
                  <a:buNone/>
                  <a:defRPr/>
                </a:pPr>
                <a:endParaRPr lang="en-US" sz="2500" dirty="0"/>
              </a:p>
              <a:p>
                <a:pPr>
                  <a:buFont typeface="Wingdings" charset="0"/>
                  <a:buNone/>
                  <a:defRPr/>
                </a:pPr>
                <a:endParaRPr lang="en-US" sz="2500" dirty="0"/>
              </a:p>
              <a:p>
                <a:pPr marL="0" indent="0">
                  <a:buNone/>
                  <a:defRPr/>
                </a:pPr>
                <a:endParaRPr lang="en-US" sz="1833" dirty="0"/>
              </a:p>
              <a:p>
                <a:pPr marL="0" indent="0">
                  <a:buNone/>
                  <a:defRPr/>
                </a:pPr>
                <a:endParaRPr lang="en-US" sz="1833" dirty="0">
                  <a:latin typeface="Tahoma"/>
                  <a:cs typeface="Tahoma"/>
                </a:endParaRPr>
              </a:p>
            </p:txBody>
          </p:sp>
        </mc:Choice>
        <mc:Fallback xmlns="">
          <p:sp>
            <p:nvSpPr>
              <p:cNvPr id="3" name="Content Placeholder 2">
                <a:extLst>
                  <a:ext uri="{FF2B5EF4-FFF2-40B4-BE49-F238E27FC236}">
                    <a16:creationId xmlns:a16="http://schemas.microsoft.com/office/drawing/2014/main" id="{1749D47C-23C2-834A-9FE9-50A8E8BE40E7}"/>
                  </a:ext>
                </a:extLst>
              </p:cNvPr>
              <p:cNvSpPr>
                <a:spLocks noGrp="1" noRot="1" noChangeAspect="1" noMove="1" noResize="1" noEditPoints="1" noAdjustHandles="1" noChangeArrowheads="1" noChangeShapeType="1" noTextEdit="1"/>
              </p:cNvSpPr>
              <p:nvPr>
                <p:ph idx="1"/>
              </p:nvPr>
            </p:nvSpPr>
            <p:spPr>
              <a:xfrm>
                <a:off x="282011" y="948584"/>
                <a:ext cx="8631253" cy="4537816"/>
              </a:xfrm>
              <a:blipFill>
                <a:blip r:embed="rId2"/>
                <a:stretch>
                  <a:fillRect l="-117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4550C3C-35B9-352D-5454-CBB554166E98}"/>
              </a:ext>
            </a:extLst>
          </p:cNvPr>
          <p:cNvSpPr>
            <a:spLocks noGrp="1"/>
          </p:cNvSpPr>
          <p:nvPr>
            <p:ph type="sldNum" sz="quarter" idx="12"/>
          </p:nvPr>
        </p:nvSpPr>
        <p:spPr/>
        <p:txBody>
          <a:bodyPr/>
          <a:lstStyle/>
          <a:p>
            <a:fld id="{D57F1E4F-1CFF-5643-939E-02111984F565}" type="slidenum">
              <a:rPr lang="en-US" smtClean="0"/>
              <a:t>7</a:t>
            </a:fld>
            <a:endParaRPr lang="en-US" dirty="0"/>
          </a:p>
        </p:txBody>
      </p:sp>
    </p:spTree>
    <p:extLst>
      <p:ext uri="{BB962C8B-B14F-4D97-AF65-F5344CB8AC3E}">
        <p14:creationId xmlns:p14="http://schemas.microsoft.com/office/powerpoint/2010/main" val="1902012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D924ED1B-1F5B-5B4D-BA47-0A5B5F4A1A7F}"/>
              </a:ext>
            </a:extLst>
          </p:cNvPr>
          <p:cNvSpPr>
            <a:spLocks noGrp="1" noChangeArrowheads="1"/>
          </p:cNvSpPr>
          <p:nvPr>
            <p:ph type="title"/>
          </p:nvPr>
        </p:nvSpPr>
        <p:spPr>
          <a:xfrm>
            <a:off x="201361" y="200636"/>
            <a:ext cx="7886700" cy="733789"/>
          </a:xfrm>
        </p:spPr>
        <p:txBody>
          <a:bodyPr/>
          <a:lstStyle/>
          <a:p>
            <a:pPr eaLnBrk="1" hangingPunct="1"/>
            <a:r>
              <a:rPr lang="en-US" altLang="en-US" dirty="0">
                <a:ea typeface="ＭＳ Ｐゴシック" panose="020B0600070205080204" pitchFamily="34" charset="-128"/>
              </a:rPr>
              <a:t>Bits and Bytes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BB7D3F-3A2C-0E43-B723-6E892A40421F}"/>
                  </a:ext>
                </a:extLst>
              </p:cNvPr>
              <p:cNvSpPr>
                <a:spLocks noGrp="1"/>
              </p:cNvSpPr>
              <p:nvPr>
                <p:ph idx="1"/>
              </p:nvPr>
            </p:nvSpPr>
            <p:spPr>
              <a:xfrm>
                <a:off x="201361" y="934426"/>
                <a:ext cx="8677719" cy="4579938"/>
              </a:xfrm>
            </p:spPr>
            <p:txBody>
              <a:bodyPr>
                <a:normAutofit fontScale="77500" lnSpcReduction="20000"/>
              </a:bodyPr>
              <a:lstStyle/>
              <a:p>
                <a:pPr marL="0" indent="0">
                  <a:buNone/>
                  <a:defRPr/>
                </a:pPr>
                <a:r>
                  <a:rPr lang="en-US" dirty="0"/>
                  <a:t>1 </a:t>
                </a:r>
                <a:r>
                  <a:rPr lang="en-US" b="1" dirty="0"/>
                  <a:t>bit</a:t>
                </a:r>
                <a:r>
                  <a:rPr lang="en-US" dirty="0"/>
                  <a:t> is a single bit of information, a 1 or 0(Only two possible values)</a:t>
                </a:r>
              </a:p>
              <a:p>
                <a:pPr marL="0" indent="0">
                  <a:buNone/>
                  <a:defRPr/>
                </a:pPr>
                <a:endParaRPr lang="en-US" dirty="0"/>
              </a:p>
              <a:p>
                <a:pPr marL="0" indent="0">
                  <a:buNone/>
                  <a:defRPr/>
                </a:pPr>
                <a:r>
                  <a:rPr lang="en-US" dirty="0"/>
                  <a:t>1 </a:t>
                </a:r>
                <a:r>
                  <a:rPr lang="en-US" b="1" dirty="0"/>
                  <a:t>byte</a:t>
                </a:r>
                <a:r>
                  <a:rPr lang="en-US" dirty="0"/>
                  <a:t> is 8 bits, an 8-bit word</a:t>
                </a:r>
              </a:p>
              <a:p>
                <a:pPr marL="0" indent="0">
                  <a:buNone/>
                  <a:defRPr/>
                </a:pPr>
                <a:endParaRPr lang="en-US" dirty="0"/>
              </a:p>
              <a:p>
                <a:pPr marL="0" indent="0">
                  <a:buNone/>
                  <a:defRPr/>
                </a:pPr>
                <a:r>
                  <a:rPr lang="en-US" dirty="0"/>
                  <a:t>Here are all the 8-bit words:</a:t>
                </a:r>
              </a:p>
              <a:p>
                <a:pPr marL="0" indent="0">
                  <a:buNone/>
                  <a:defRPr/>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00000000</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0</m:t>
                        </m:r>
                      </m:e>
                      <m:sub>
                        <m:r>
                          <a:rPr lang="en-US" b="0" i="1" smtClean="0">
                            <a:latin typeface="Cambria Math" panose="02040503050406030204" pitchFamily="18" charset="0"/>
                          </a:rPr>
                          <m:t>10</m:t>
                        </m:r>
                      </m:sub>
                    </m:sSub>
                  </m:oMath>
                </a14:m>
                <a:r>
                  <a:rPr lang="en-US" dirty="0"/>
                  <a:t> </a:t>
                </a:r>
              </a:p>
              <a:p>
                <a:pPr marL="0" indent="0">
                  <a:buNone/>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0000000</m:t>
                        </m:r>
                        <m:r>
                          <a:rPr lang="en-US" b="0" i="1" smtClean="0">
                            <a:latin typeface="Cambria Math" panose="02040503050406030204" pitchFamily="18" charset="0"/>
                          </a:rPr>
                          <m:t>1</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1</m:t>
                        </m:r>
                      </m:e>
                      <m:sub>
                        <m:r>
                          <a:rPr lang="en-US" i="1">
                            <a:latin typeface="Cambria Math" panose="02040503050406030204" pitchFamily="18" charset="0"/>
                          </a:rPr>
                          <m:t>10</m:t>
                        </m:r>
                      </m:sub>
                    </m:sSub>
                  </m:oMath>
                </a14:m>
                <a:r>
                  <a:rPr lang="en-US" dirty="0"/>
                  <a:t> </a:t>
                </a:r>
              </a:p>
              <a:p>
                <a:pPr marL="0" indent="0">
                  <a:buNone/>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000000</m:t>
                        </m:r>
                        <m:r>
                          <a:rPr lang="en-US" b="0" i="1" smtClean="0">
                            <a:latin typeface="Cambria Math" panose="02040503050406030204" pitchFamily="18" charset="0"/>
                          </a:rPr>
                          <m:t>10</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2</m:t>
                        </m:r>
                      </m:e>
                      <m:sub>
                        <m:r>
                          <a:rPr lang="en-US" i="1">
                            <a:latin typeface="Cambria Math" panose="02040503050406030204" pitchFamily="18" charset="0"/>
                          </a:rPr>
                          <m:t>10</m:t>
                        </m:r>
                      </m:sub>
                    </m:sSub>
                  </m:oMath>
                </a14:m>
                <a:r>
                  <a:rPr lang="en-US" dirty="0"/>
                  <a:t> </a:t>
                </a:r>
              </a:p>
              <a:p>
                <a:pPr marL="0" indent="0">
                  <a:buNone/>
                  <a:defRPr/>
                </a:pPr>
                <a:r>
                  <a:rPr lang="en-US" sz="2100" dirty="0"/>
                  <a:t>…</a:t>
                </a:r>
              </a:p>
              <a:p>
                <a:pPr marL="0" indent="0">
                  <a:buNone/>
                  <a:defRPr/>
                </a:pP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11111110</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254</m:t>
                        </m:r>
                      </m:e>
                      <m:sub>
                        <m:r>
                          <a:rPr lang="en-US" i="1">
                            <a:latin typeface="Cambria Math" panose="02040503050406030204" pitchFamily="18" charset="0"/>
                          </a:rPr>
                          <m:t>10</m:t>
                        </m:r>
                      </m:sub>
                    </m:sSub>
                  </m:oMath>
                </a14:m>
                <a:r>
                  <a:rPr lang="en-US" dirty="0"/>
                  <a:t> </a:t>
                </a:r>
              </a:p>
              <a:p>
                <a:pPr marL="0" indent="0">
                  <a:buNone/>
                  <a:defRPr/>
                </a:pP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11111111</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255</m:t>
                        </m:r>
                      </m:e>
                      <m:sub>
                        <m:r>
                          <a:rPr lang="en-US" i="1">
                            <a:latin typeface="Cambria Math" panose="02040503050406030204" pitchFamily="18" charset="0"/>
                          </a:rPr>
                          <m:t>10</m:t>
                        </m:r>
                      </m:sub>
                    </m:sSub>
                  </m:oMath>
                </a14:m>
                <a:r>
                  <a:rPr lang="en-US" dirty="0"/>
                  <a:t> </a:t>
                </a:r>
              </a:p>
              <a:p>
                <a:pPr marL="0" indent="0">
                  <a:buNone/>
                  <a:defRPr/>
                </a:pPr>
                <a:endParaRPr lang="en-US" sz="2100" dirty="0"/>
              </a:p>
              <a:p>
                <a:pPr marL="0" indent="0">
                  <a:buNone/>
                  <a:defRPr/>
                </a:pPr>
                <a:r>
                  <a:rPr lang="en-US" sz="2100" dirty="0"/>
                  <a:t>Thus a byte is a string of length 8 whose value is either 0 or 1. A byte can be used to represent numbers in the range from 0 to 255. </a:t>
                </a:r>
              </a:p>
              <a:p>
                <a:pPr marL="0" indent="0">
                  <a:buNone/>
                  <a:defRPr/>
                </a:pPr>
                <a:endParaRPr lang="en-US" dirty="0"/>
              </a:p>
              <a:p>
                <a:pPr marL="0" indent="0">
                  <a:buNone/>
                  <a:defRPr/>
                </a:pPr>
                <a:r>
                  <a:rPr lang="en-US" dirty="0"/>
                  <a:t>For example, 10100110 is a single byte. We’ll see later, for example, that a single byte can store a letter of </a:t>
                </a:r>
                <a:r>
                  <a:rPr lang="en-US"/>
                  <a:t>the English alphabet</a:t>
                </a:r>
                <a:r>
                  <a:rPr lang="en-US" dirty="0"/>
                  <a:t>. </a:t>
                </a:r>
              </a:p>
              <a:p>
                <a:pPr marL="0" indent="0">
                  <a:buNone/>
                  <a:defRPr/>
                </a:pPr>
                <a:endParaRPr lang="en-US" dirty="0">
                  <a:latin typeface="Tahoma"/>
                  <a:cs typeface="Tahoma"/>
                </a:endParaRPr>
              </a:p>
            </p:txBody>
          </p:sp>
        </mc:Choice>
        <mc:Fallback xmlns="">
          <p:sp>
            <p:nvSpPr>
              <p:cNvPr id="3" name="Content Placeholder 2">
                <a:extLst>
                  <a:ext uri="{FF2B5EF4-FFF2-40B4-BE49-F238E27FC236}">
                    <a16:creationId xmlns:a16="http://schemas.microsoft.com/office/drawing/2014/main" id="{C1BB7D3F-3A2C-0E43-B723-6E892A40421F}"/>
                  </a:ext>
                </a:extLst>
              </p:cNvPr>
              <p:cNvSpPr>
                <a:spLocks noGrp="1" noRot="1" noChangeAspect="1" noMove="1" noResize="1" noEditPoints="1" noAdjustHandles="1" noChangeArrowheads="1" noChangeShapeType="1" noTextEdit="1"/>
              </p:cNvSpPr>
              <p:nvPr>
                <p:ph idx="1"/>
              </p:nvPr>
            </p:nvSpPr>
            <p:spPr>
              <a:xfrm>
                <a:off x="201361" y="934426"/>
                <a:ext cx="8677719" cy="4579938"/>
              </a:xfrm>
              <a:blipFill>
                <a:blip r:embed="rId2"/>
                <a:stretch>
                  <a:fillRect l="-292" t="-1657" r="-14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C8C1805-439F-F6B1-28F3-A5389A6F5BF0}"/>
              </a:ext>
            </a:extLst>
          </p:cNvPr>
          <p:cNvSpPr>
            <a:spLocks noGrp="1"/>
          </p:cNvSpPr>
          <p:nvPr>
            <p:ph type="sldNum" sz="quarter" idx="12"/>
          </p:nvPr>
        </p:nvSpPr>
        <p:spPr/>
        <p:txBody>
          <a:bodyPr/>
          <a:lstStyle/>
          <a:p>
            <a:fld id="{D57F1E4F-1CFF-5643-939E-02111984F565}" type="slidenum">
              <a:rPr lang="en-US" smtClean="0"/>
              <a:t>8</a:t>
            </a:fld>
            <a:endParaRPr lang="en-US" dirty="0"/>
          </a:p>
        </p:txBody>
      </p:sp>
    </p:spTree>
    <p:extLst>
      <p:ext uri="{BB962C8B-B14F-4D97-AF65-F5344CB8AC3E}">
        <p14:creationId xmlns:p14="http://schemas.microsoft.com/office/powerpoint/2010/main" val="1824894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EEE37393-73E7-7A42-A21D-4773DC200BF6}"/>
              </a:ext>
            </a:extLst>
          </p:cNvPr>
          <p:cNvSpPr>
            <a:spLocks noGrp="1" noChangeArrowheads="1"/>
          </p:cNvSpPr>
          <p:nvPr>
            <p:ph type="title"/>
          </p:nvPr>
        </p:nvSpPr>
        <p:spPr>
          <a:xfrm>
            <a:off x="115903" y="139126"/>
            <a:ext cx="7886700" cy="856808"/>
          </a:xfrm>
        </p:spPr>
        <p:txBody>
          <a:bodyPr/>
          <a:lstStyle/>
          <a:p>
            <a:pPr eaLnBrk="1" hangingPunct="1"/>
            <a:r>
              <a:rPr lang="en-US" altLang="en-US" dirty="0">
                <a:ea typeface="ＭＳ Ｐゴシック" panose="020B0600070205080204" pitchFamily="34" charset="-128"/>
              </a:rPr>
              <a:t>Decimal to Binary(Method 1)</a:t>
            </a:r>
          </a:p>
        </p:txBody>
      </p:sp>
      <mc:AlternateContent xmlns:mc="http://schemas.openxmlformats.org/markup-compatibility/2006" xmlns:a14="http://schemas.microsoft.com/office/drawing/2010/main">
        <mc:Choice Requires="a14">
          <p:sp>
            <p:nvSpPr>
              <p:cNvPr id="26626" name="Content Placeholder 2">
                <a:extLst>
                  <a:ext uri="{FF2B5EF4-FFF2-40B4-BE49-F238E27FC236}">
                    <a16:creationId xmlns:a16="http://schemas.microsoft.com/office/drawing/2014/main" id="{EBDCF6EE-E392-F04F-9B69-A1B47BE13E5F}"/>
                  </a:ext>
                </a:extLst>
              </p:cNvPr>
              <p:cNvSpPr>
                <a:spLocks noGrp="1" noChangeArrowheads="1"/>
              </p:cNvSpPr>
              <p:nvPr>
                <p:ph idx="1"/>
              </p:nvPr>
            </p:nvSpPr>
            <p:spPr>
              <a:xfrm>
                <a:off x="213645" y="905854"/>
                <a:ext cx="8716710" cy="4412806"/>
              </a:xfrm>
            </p:spPr>
            <p:txBody>
              <a:bodyPr>
                <a:normAutofit lnSpcReduction="10000"/>
              </a:bodyPr>
              <a:lstStyle/>
              <a:p>
                <a:pPr marL="0" indent="0">
                  <a:buNone/>
                </a:pPr>
                <a:r>
                  <a:rPr lang="en-US" altLang="en-US" sz="2000" dirty="0">
                    <a:ea typeface="ＭＳ Ｐゴシック" panose="020B0600070205080204" pitchFamily="34" charset="-128"/>
                  </a:rPr>
                  <a:t>There are a couple of ways to convert from decimal to binary. This first method is a bit more intuitive. </a:t>
                </a:r>
              </a:p>
              <a:p>
                <a:pPr marL="0" indent="0">
                  <a:buNone/>
                </a:pPr>
                <a:endParaRPr lang="en-US" altLang="en-US" sz="2000" dirty="0">
                  <a:ea typeface="ＭＳ Ｐゴシック" panose="020B0600070205080204" pitchFamily="34" charset="-128"/>
                </a:endParaRPr>
              </a:p>
              <a:p>
                <a:pPr marL="0" indent="0">
                  <a:buNone/>
                </a:pPr>
                <a:r>
                  <a:rPr lang="en-US" altLang="en-US" sz="2000" dirty="0">
                    <a:ea typeface="ＭＳ Ｐゴシック" panose="020B0600070205080204" pitchFamily="34" charset="-128"/>
                  </a:rPr>
                  <a:t>Given a number n in decimal.  We’ll explain this process for n = 23. To convert to binary:</a:t>
                </a:r>
              </a:p>
              <a:p>
                <a:pPr marL="0" indent="0">
                  <a:buNone/>
                </a:pPr>
                <a:endParaRPr lang="en-US" altLang="en-US" sz="2000" dirty="0">
                  <a:ea typeface="ＭＳ Ｐゴシック" panose="020B0600070205080204" pitchFamily="34" charset="-128"/>
                </a:endParaRPr>
              </a:p>
              <a:p>
                <a:pPr marL="457200" indent="-457200">
                  <a:buFont typeface="Arial" panose="020B0604020202020204" pitchFamily="34" charset="0"/>
                  <a:buAutoNum type="arabicParenR"/>
                </a:pPr>
                <a:r>
                  <a:rPr lang="en-US" altLang="en-US" sz="2000" dirty="0">
                    <a:ea typeface="ＭＳ Ｐゴシック" panose="020B0600070205080204" pitchFamily="34" charset="-128"/>
                  </a:rPr>
                  <a:t>Make a table of powers of 2 from right to left starting at </a:t>
                </a:r>
                <a14:m>
                  <m:oMath xmlns:m="http://schemas.openxmlformats.org/officeDocument/2006/math">
                    <m:sSup>
                      <m:sSupPr>
                        <m:ctrlPr>
                          <a:rPr lang="en-US" altLang="en-US" sz="2000" b="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2</m:t>
                        </m:r>
                      </m:e>
                      <m:sup>
                        <m:r>
                          <a:rPr lang="en-US" altLang="en-US" sz="2000" b="0" i="1" smtClean="0">
                            <a:latin typeface="Cambria Math" panose="02040503050406030204" pitchFamily="18" charset="0"/>
                            <a:ea typeface="ＭＳ Ｐゴシック" panose="020B0600070205080204" pitchFamily="34" charset="-128"/>
                          </a:rPr>
                          <m:t>0</m:t>
                        </m:r>
                      </m:sup>
                    </m:sSup>
                    <m:r>
                      <a:rPr lang="en-US" altLang="en-US" sz="2000" b="0" i="1" smtClean="0">
                        <a:latin typeface="Cambria Math" panose="02040503050406030204" pitchFamily="18" charset="0"/>
                        <a:ea typeface="ＭＳ Ｐゴシック" panose="020B0600070205080204" pitchFamily="34" charset="-128"/>
                      </a:rPr>
                      <m:t>=1.</m:t>
                    </m:r>
                  </m:oMath>
                </a14:m>
                <a:r>
                  <a:rPr lang="en-US" altLang="en-US" sz="2000" dirty="0">
                    <a:ea typeface="ＭＳ Ｐゴシック" panose="020B0600070205080204" pitchFamily="34" charset="-128"/>
                  </a:rPr>
                  <a:t> </a:t>
                </a:r>
                <a:r>
                  <a:rPr lang="en-US" sz="2000" dirty="0"/>
                  <a:t>Choose the biggest power of two that will fit into the number you are converting. Your table will end with this number. For example, if n = 23, 16 is the greatest power of two that will fit into 23.</a:t>
                </a:r>
                <a:endParaRPr lang="en-US" altLang="en-US" sz="1800" dirty="0">
                  <a:ea typeface="ＭＳ Ｐゴシック" panose="020B0600070205080204" pitchFamily="34" charset="-128"/>
                </a:endParaRPr>
              </a:p>
              <a:p>
                <a:pPr marL="457200" indent="-457200">
                  <a:buAutoNum type="arabicParenR"/>
                </a:pPr>
                <a:endParaRPr lang="en-US" altLang="en-US" sz="2000" dirty="0">
                  <a:ea typeface="ＭＳ Ｐゴシック" panose="020B0600070205080204" pitchFamily="34" charset="-128"/>
                </a:endParaRPr>
              </a:p>
              <a:p>
                <a:pPr marL="457200" indent="-457200">
                  <a:buAutoNum type="arabicParenR"/>
                </a:pPr>
                <a:endParaRPr lang="en-US" altLang="en-US" sz="2000" dirty="0">
                  <a:ea typeface="ＭＳ Ｐゴシック" panose="020B0600070205080204" pitchFamily="34" charset="-128"/>
                </a:endParaRPr>
              </a:p>
              <a:p>
                <a:pPr marL="457200" indent="-457200">
                  <a:buFont typeface="Arial" panose="020B0604020202020204" pitchFamily="34" charset="0"/>
                  <a:buAutoNum type="arabicParenR"/>
                </a:pPr>
                <a:r>
                  <a:rPr lang="en-US" altLang="en-US" sz="2000" dirty="0">
                    <a:ea typeface="ＭＳ Ｐゴシック" panose="020B0600070205080204" pitchFamily="34" charset="-128"/>
                  </a:rPr>
                  <a:t>Write a 1 beneath the 16 in the table for the leftmost binary digit. Then, subtract 16 from your initial number. You now have 7.</a:t>
                </a:r>
              </a:p>
              <a:p>
                <a:pPr marL="457200" indent="-457200">
                  <a:buAutoNum type="arabicParenR"/>
                </a:pPr>
                <a:endParaRPr lang="en-US" altLang="en-US" sz="2000" dirty="0">
                  <a:ea typeface="ＭＳ Ｐゴシック" panose="020B0600070205080204" pitchFamily="34" charset="-128"/>
                </a:endParaRPr>
              </a:p>
            </p:txBody>
          </p:sp>
        </mc:Choice>
        <mc:Fallback xmlns="">
          <p:sp>
            <p:nvSpPr>
              <p:cNvPr id="26626" name="Content Placeholder 2">
                <a:extLst>
                  <a:ext uri="{FF2B5EF4-FFF2-40B4-BE49-F238E27FC236}">
                    <a16:creationId xmlns:a16="http://schemas.microsoft.com/office/drawing/2014/main" id="{EBDCF6EE-E392-F04F-9B69-A1B47BE13E5F}"/>
                  </a:ext>
                </a:extLst>
              </p:cNvPr>
              <p:cNvSpPr>
                <a:spLocks noGrp="1" noRot="1" noChangeAspect="1" noMove="1" noResize="1" noEditPoints="1" noAdjustHandles="1" noChangeArrowheads="1" noChangeShapeType="1" noTextEdit="1"/>
              </p:cNvSpPr>
              <p:nvPr>
                <p:ph idx="1"/>
              </p:nvPr>
            </p:nvSpPr>
            <p:spPr>
              <a:xfrm>
                <a:off x="213645" y="905854"/>
                <a:ext cx="8716710" cy="4412806"/>
              </a:xfrm>
              <a:blipFill>
                <a:blip r:embed="rId2"/>
                <a:stretch>
                  <a:fillRect l="-581" t="-2299"/>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17729940-62AC-1D01-AA18-D3078CC59D28}"/>
              </a:ext>
            </a:extLst>
          </p:cNvPr>
          <p:cNvGraphicFramePr>
            <a:graphicFrameLocks noGrp="1"/>
          </p:cNvGraphicFramePr>
          <p:nvPr>
            <p:extLst>
              <p:ext uri="{D42A27DB-BD31-4B8C-83A1-F6EECF244321}">
                <p14:modId xmlns:p14="http://schemas.microsoft.com/office/powerpoint/2010/main" val="4028423723"/>
              </p:ext>
            </p:extLst>
          </p:nvPr>
        </p:nvGraphicFramePr>
        <p:xfrm>
          <a:off x="1011253" y="4019665"/>
          <a:ext cx="6096000" cy="37084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3325921765"/>
                    </a:ext>
                  </a:extLst>
                </a:gridCol>
                <a:gridCol w="1219200">
                  <a:extLst>
                    <a:ext uri="{9D8B030D-6E8A-4147-A177-3AD203B41FA5}">
                      <a16:colId xmlns:a16="http://schemas.microsoft.com/office/drawing/2014/main" val="1150075258"/>
                    </a:ext>
                  </a:extLst>
                </a:gridCol>
                <a:gridCol w="1219200">
                  <a:extLst>
                    <a:ext uri="{9D8B030D-6E8A-4147-A177-3AD203B41FA5}">
                      <a16:colId xmlns:a16="http://schemas.microsoft.com/office/drawing/2014/main" val="22037491"/>
                    </a:ext>
                  </a:extLst>
                </a:gridCol>
                <a:gridCol w="1219200">
                  <a:extLst>
                    <a:ext uri="{9D8B030D-6E8A-4147-A177-3AD203B41FA5}">
                      <a16:colId xmlns:a16="http://schemas.microsoft.com/office/drawing/2014/main" val="3459991895"/>
                    </a:ext>
                  </a:extLst>
                </a:gridCol>
                <a:gridCol w="1219200">
                  <a:extLst>
                    <a:ext uri="{9D8B030D-6E8A-4147-A177-3AD203B41FA5}">
                      <a16:colId xmlns:a16="http://schemas.microsoft.com/office/drawing/2014/main" val="3035601106"/>
                    </a:ext>
                  </a:extLst>
                </a:gridCol>
              </a:tblGrid>
              <a:tr h="370840">
                <a:tc>
                  <a:txBody>
                    <a:bodyPr/>
                    <a:lstStyle/>
                    <a:p>
                      <a:pPr algn="ctr"/>
                      <a:r>
                        <a:rPr lang="en-US" sz="1800" dirty="0"/>
                        <a:t>16</a:t>
                      </a:r>
                    </a:p>
                  </a:txBody>
                  <a:tcPr/>
                </a:tc>
                <a:tc>
                  <a:txBody>
                    <a:bodyPr/>
                    <a:lstStyle/>
                    <a:p>
                      <a:pPr algn="ctr"/>
                      <a:r>
                        <a:rPr lang="en-US" sz="1800" dirty="0"/>
                        <a:t>8</a:t>
                      </a:r>
                    </a:p>
                  </a:txBody>
                  <a:tcPr/>
                </a:tc>
                <a:tc>
                  <a:txBody>
                    <a:bodyPr/>
                    <a:lstStyle/>
                    <a:p>
                      <a:pPr algn="ctr"/>
                      <a:r>
                        <a:rPr lang="en-US" sz="1800" dirty="0"/>
                        <a:t>4</a:t>
                      </a:r>
                    </a:p>
                  </a:txBody>
                  <a:tcPr/>
                </a:tc>
                <a:tc>
                  <a:txBody>
                    <a:bodyPr/>
                    <a:lstStyle/>
                    <a:p>
                      <a:pPr algn="ctr"/>
                      <a:r>
                        <a:rPr lang="en-US" sz="1800" dirty="0"/>
                        <a:t>2</a:t>
                      </a:r>
                    </a:p>
                  </a:txBody>
                  <a:tcPr/>
                </a:tc>
                <a:tc>
                  <a:txBody>
                    <a:bodyPr/>
                    <a:lstStyle/>
                    <a:p>
                      <a:pPr algn="ctr"/>
                      <a:r>
                        <a:rPr lang="en-US" sz="1800" dirty="0"/>
                        <a:t>1</a:t>
                      </a:r>
                    </a:p>
                  </a:txBody>
                  <a:tcPr/>
                </a:tc>
                <a:extLst>
                  <a:ext uri="{0D108BD9-81ED-4DB2-BD59-A6C34878D82A}">
                    <a16:rowId xmlns:a16="http://schemas.microsoft.com/office/drawing/2014/main" val="1788510752"/>
                  </a:ext>
                </a:extLst>
              </a:tr>
            </a:tbl>
          </a:graphicData>
        </a:graphic>
      </p:graphicFrame>
      <p:sp>
        <p:nvSpPr>
          <p:cNvPr id="3" name="Slide Number Placeholder 2">
            <a:extLst>
              <a:ext uri="{FF2B5EF4-FFF2-40B4-BE49-F238E27FC236}">
                <a16:creationId xmlns:a16="http://schemas.microsoft.com/office/drawing/2014/main" id="{A4DFFC7E-7B31-A773-C54C-E4ADAA3A93C3}"/>
              </a:ext>
            </a:extLst>
          </p:cNvPr>
          <p:cNvSpPr>
            <a:spLocks noGrp="1"/>
          </p:cNvSpPr>
          <p:nvPr>
            <p:ph type="sldNum" sz="quarter" idx="12"/>
          </p:nvPr>
        </p:nvSpPr>
        <p:spPr/>
        <p:txBody>
          <a:bodyPr/>
          <a:lstStyle/>
          <a:p>
            <a:fld id="{D57F1E4F-1CFF-5643-939E-02111984F565}" type="slidenum">
              <a:rPr lang="en-US" smtClean="0"/>
              <a:t>9</a:t>
            </a:fld>
            <a:endParaRPr lang="en-US" dirty="0"/>
          </a:p>
        </p:txBody>
      </p:sp>
    </p:spTree>
    <p:extLst>
      <p:ext uri="{BB962C8B-B14F-4D97-AF65-F5344CB8AC3E}">
        <p14:creationId xmlns:p14="http://schemas.microsoft.com/office/powerpoint/2010/main" val="2130219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81D2D-ACEF-5764-A87B-73A24EBEEE24}"/>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6109F2E1-04EF-8119-A1C0-C803FEF65039}"/>
              </a:ext>
            </a:extLst>
          </p:cNvPr>
          <p:cNvSpPr>
            <a:spLocks noGrp="1" noChangeArrowheads="1"/>
          </p:cNvSpPr>
          <p:nvPr>
            <p:ph type="title"/>
          </p:nvPr>
        </p:nvSpPr>
        <p:spPr>
          <a:xfrm>
            <a:off x="115903" y="139126"/>
            <a:ext cx="7886700" cy="856808"/>
          </a:xfrm>
        </p:spPr>
        <p:txBody>
          <a:bodyPr/>
          <a:lstStyle/>
          <a:p>
            <a:pPr eaLnBrk="1" hangingPunct="1"/>
            <a:r>
              <a:rPr lang="en-US" altLang="en-US" dirty="0">
                <a:ea typeface="ＭＳ Ｐゴシック" panose="020B0600070205080204" pitchFamily="34" charset="-128"/>
              </a:rPr>
              <a:t>Decimal to Binary(Method 1)</a:t>
            </a:r>
          </a:p>
        </p:txBody>
      </p:sp>
      <mc:AlternateContent xmlns:mc="http://schemas.openxmlformats.org/markup-compatibility/2006" xmlns:a14="http://schemas.microsoft.com/office/drawing/2010/main">
        <mc:Choice Requires="a14">
          <p:sp>
            <p:nvSpPr>
              <p:cNvPr id="26626" name="Content Placeholder 2">
                <a:extLst>
                  <a:ext uri="{FF2B5EF4-FFF2-40B4-BE49-F238E27FC236}">
                    <a16:creationId xmlns:a16="http://schemas.microsoft.com/office/drawing/2014/main" id="{05B95D02-F9AC-3F56-6E6C-D7BF6A2FB04A}"/>
                  </a:ext>
                </a:extLst>
              </p:cNvPr>
              <p:cNvSpPr>
                <a:spLocks noGrp="1" noChangeArrowheads="1"/>
              </p:cNvSpPr>
              <p:nvPr>
                <p:ph idx="1"/>
              </p:nvPr>
            </p:nvSpPr>
            <p:spPr>
              <a:xfrm>
                <a:off x="213644" y="905854"/>
                <a:ext cx="8732051" cy="4809146"/>
              </a:xfrm>
            </p:spPr>
            <p:txBody>
              <a:bodyPr>
                <a:normAutofit/>
              </a:bodyPr>
              <a:lstStyle/>
              <a:p>
                <a:pPr marL="457200" indent="-457200">
                  <a:buAutoNum type="arabicParenR" startAt="3"/>
                </a:pPr>
                <a:r>
                  <a:rPr lang="en-US" altLang="en-US" sz="2000" dirty="0">
                    <a:ea typeface="ＭＳ Ｐゴシック" panose="020B0600070205080204" pitchFamily="34" charset="-128"/>
                  </a:rPr>
                  <a:t>Using your new number (7), move down the chart marking how many times each power of 2 can fit into your dividend. 8 does not go into 7, so write a 0 beneath that box for the next binary digit to the right. Continue until you reach a number that can go into 7. Since 4 can fit into 7, mark it with a 1.</a:t>
                </a:r>
              </a:p>
              <a:p>
                <a:pPr marL="457200" indent="-457200">
                  <a:buAutoNum type="arabicParenR" startAt="3"/>
                </a:pPr>
                <a:endParaRPr lang="en-US" altLang="en-US" sz="2000" dirty="0">
                  <a:ea typeface="ＭＳ Ｐゴシック" panose="020B0600070205080204" pitchFamily="34" charset="-128"/>
                </a:endParaRPr>
              </a:p>
              <a:p>
                <a:pPr marL="0" indent="0">
                  <a:buNone/>
                </a:pPr>
                <a:endParaRPr lang="en-US" sz="2000" dirty="0"/>
              </a:p>
              <a:p>
                <a:pPr marL="0" indent="0">
                  <a:buNone/>
                </a:pPr>
                <a:r>
                  <a:rPr lang="en-US" altLang="en-US" sz="2000" dirty="0">
                    <a:ea typeface="ＭＳ Ｐゴシック" panose="020B0600070205080204" pitchFamily="34" charset="-128"/>
                  </a:rPr>
                  <a:t>		    1		 0	         1</a:t>
                </a:r>
              </a:p>
              <a:p>
                <a:pPr marL="0" indent="0">
                  <a:buNone/>
                </a:pPr>
                <a:endParaRPr lang="en-US" altLang="en-US" sz="2000" dirty="0">
                  <a:ea typeface="ＭＳ Ｐゴシック" panose="020B0600070205080204" pitchFamily="34" charset="-128"/>
                </a:endParaRPr>
              </a:p>
              <a:p>
                <a:pPr marL="457200" indent="-457200">
                  <a:buAutoNum type="arabicParenR" startAt="4"/>
                </a:pPr>
                <a:r>
                  <a:rPr lang="en-US" altLang="en-US" sz="2000" dirty="0">
                    <a:ea typeface="ＭＳ Ｐゴシック" panose="020B0600070205080204" pitchFamily="34" charset="-128"/>
                  </a:rPr>
                  <a:t>Subtract 4 from 7 to get 3. Then repeat this for 3.  </a:t>
                </a:r>
              </a:p>
              <a:p>
                <a:pPr marL="0" indent="0">
                  <a:buNone/>
                </a:pPr>
                <a:endParaRPr lang="en-US" altLang="en-US" sz="2000" dirty="0">
                  <a:ea typeface="ＭＳ Ｐゴシック" panose="020B0600070205080204" pitchFamily="34" charset="-128"/>
                </a:endParaRPr>
              </a:p>
              <a:p>
                <a:pPr marL="457200" indent="-457200">
                  <a:buAutoNum type="arabicParenR" startAt="4"/>
                </a:pPr>
                <a:endParaRPr lang="en-US" altLang="en-US" sz="2000" dirty="0">
                  <a:ea typeface="ＭＳ Ｐゴシック" panose="020B0600070205080204" pitchFamily="34" charset="-128"/>
                </a:endParaRPr>
              </a:p>
              <a:p>
                <a:pPr marL="0" indent="0">
                  <a:buNone/>
                </a:pPr>
                <a:r>
                  <a:rPr lang="en-US" altLang="en-US" sz="2000" dirty="0">
                    <a:ea typeface="ＭＳ Ｐゴシック" panose="020B0600070205080204" pitchFamily="34" charset="-128"/>
                  </a:rPr>
                  <a:t>		    1		 0	         1	       1		     1</a:t>
                </a:r>
              </a:p>
              <a:p>
                <a:pPr marL="0" indent="0">
                  <a:buNone/>
                </a:pPr>
                <a:r>
                  <a:rPr lang="en-US" altLang="en-US" sz="2000" dirty="0">
                    <a:ea typeface="ＭＳ Ｐゴシック" panose="020B0600070205080204" pitchFamily="34" charset="-128"/>
                  </a:rPr>
                  <a:t>Thus </a:t>
                </a:r>
                <a14:m>
                  <m:oMath xmlns:m="http://schemas.openxmlformats.org/officeDocument/2006/math">
                    <m:sSub>
                      <m:sSubPr>
                        <m:ctrlPr>
                          <a:rPr lang="en-US" altLang="en-US" sz="2000" b="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23</m:t>
                        </m:r>
                      </m:e>
                      <m:sub>
                        <m:r>
                          <a:rPr lang="en-US" altLang="en-US" sz="2000" b="0" i="1" smtClean="0">
                            <a:latin typeface="Cambria Math" panose="02040503050406030204" pitchFamily="18" charset="0"/>
                            <a:ea typeface="ＭＳ Ｐゴシック" panose="020B0600070205080204" pitchFamily="34" charset="-128"/>
                          </a:rPr>
                          <m:t>10</m:t>
                        </m:r>
                      </m:sub>
                    </m:sSub>
                    <m:r>
                      <a:rPr lang="en-US" altLang="en-US" sz="2000" b="0" i="1" smtClean="0">
                        <a:latin typeface="Cambria Math" panose="02040503050406030204" pitchFamily="18" charset="0"/>
                        <a:ea typeface="ＭＳ Ｐゴシック" panose="020B0600070205080204" pitchFamily="34" charset="-128"/>
                      </a:rPr>
                      <m:t>=</m:t>
                    </m:r>
                    <m:sSub>
                      <m:sSubPr>
                        <m:ctrlPr>
                          <a:rPr lang="en-US" altLang="en-US" sz="2000" b="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10111</m:t>
                        </m:r>
                      </m:e>
                      <m:sub>
                        <m:r>
                          <a:rPr lang="en-US" altLang="en-US" sz="2000" b="0" i="1" smtClean="0">
                            <a:latin typeface="Cambria Math" panose="02040503050406030204" pitchFamily="18" charset="0"/>
                            <a:ea typeface="ＭＳ Ｐゴシック" panose="020B0600070205080204" pitchFamily="34" charset="-128"/>
                          </a:rPr>
                          <m:t>2</m:t>
                        </m:r>
                      </m:sub>
                    </m:sSub>
                  </m:oMath>
                </a14:m>
                <a:r>
                  <a:rPr lang="en-US" altLang="en-US" sz="2000" dirty="0">
                    <a:ea typeface="ＭＳ Ｐゴシック" panose="020B0600070205080204" pitchFamily="34" charset="-128"/>
                  </a:rPr>
                  <a:t>.</a:t>
                </a:r>
              </a:p>
              <a:p>
                <a:pPr marL="457200" indent="-457200">
                  <a:buAutoNum type="arabicParenR" startAt="4"/>
                </a:pPr>
                <a:endParaRPr lang="en-US" altLang="en-US" sz="2000" dirty="0">
                  <a:ea typeface="ＭＳ Ｐゴシック" panose="020B0600070205080204" pitchFamily="34" charset="-128"/>
                </a:endParaRPr>
              </a:p>
            </p:txBody>
          </p:sp>
        </mc:Choice>
        <mc:Fallback xmlns="">
          <p:sp>
            <p:nvSpPr>
              <p:cNvPr id="26626" name="Content Placeholder 2">
                <a:extLst>
                  <a:ext uri="{FF2B5EF4-FFF2-40B4-BE49-F238E27FC236}">
                    <a16:creationId xmlns:a16="http://schemas.microsoft.com/office/drawing/2014/main" id="{05B95D02-F9AC-3F56-6E6C-D7BF6A2FB04A}"/>
                  </a:ext>
                </a:extLst>
              </p:cNvPr>
              <p:cNvSpPr>
                <a:spLocks noGrp="1" noRot="1" noChangeAspect="1" noMove="1" noResize="1" noEditPoints="1" noAdjustHandles="1" noChangeArrowheads="1" noChangeShapeType="1" noTextEdit="1"/>
              </p:cNvSpPr>
              <p:nvPr>
                <p:ph idx="1"/>
              </p:nvPr>
            </p:nvSpPr>
            <p:spPr>
              <a:xfrm>
                <a:off x="213644" y="905854"/>
                <a:ext cx="8732051" cy="4809146"/>
              </a:xfrm>
              <a:blipFill>
                <a:blip r:embed="rId2"/>
                <a:stretch>
                  <a:fillRect l="-581" t="-1316"/>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149111A9-7859-C25A-06F7-8D51EFBB8133}"/>
              </a:ext>
            </a:extLst>
          </p:cNvPr>
          <p:cNvGraphicFramePr>
            <a:graphicFrameLocks noGrp="1"/>
          </p:cNvGraphicFramePr>
          <p:nvPr>
            <p:extLst>
              <p:ext uri="{D42A27DB-BD31-4B8C-83A1-F6EECF244321}">
                <p14:modId xmlns:p14="http://schemas.microsoft.com/office/powerpoint/2010/main" val="2011643002"/>
              </p:ext>
            </p:extLst>
          </p:nvPr>
        </p:nvGraphicFramePr>
        <p:xfrm>
          <a:off x="1374809" y="2345101"/>
          <a:ext cx="6096000" cy="37084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3325921765"/>
                    </a:ext>
                  </a:extLst>
                </a:gridCol>
                <a:gridCol w="1219200">
                  <a:extLst>
                    <a:ext uri="{9D8B030D-6E8A-4147-A177-3AD203B41FA5}">
                      <a16:colId xmlns:a16="http://schemas.microsoft.com/office/drawing/2014/main" val="1150075258"/>
                    </a:ext>
                  </a:extLst>
                </a:gridCol>
                <a:gridCol w="1219200">
                  <a:extLst>
                    <a:ext uri="{9D8B030D-6E8A-4147-A177-3AD203B41FA5}">
                      <a16:colId xmlns:a16="http://schemas.microsoft.com/office/drawing/2014/main" val="22037491"/>
                    </a:ext>
                  </a:extLst>
                </a:gridCol>
                <a:gridCol w="1219200">
                  <a:extLst>
                    <a:ext uri="{9D8B030D-6E8A-4147-A177-3AD203B41FA5}">
                      <a16:colId xmlns:a16="http://schemas.microsoft.com/office/drawing/2014/main" val="3459991895"/>
                    </a:ext>
                  </a:extLst>
                </a:gridCol>
                <a:gridCol w="1219200">
                  <a:extLst>
                    <a:ext uri="{9D8B030D-6E8A-4147-A177-3AD203B41FA5}">
                      <a16:colId xmlns:a16="http://schemas.microsoft.com/office/drawing/2014/main" val="3035601106"/>
                    </a:ext>
                  </a:extLst>
                </a:gridCol>
              </a:tblGrid>
              <a:tr h="370840">
                <a:tc>
                  <a:txBody>
                    <a:bodyPr/>
                    <a:lstStyle/>
                    <a:p>
                      <a:pPr algn="ctr"/>
                      <a:r>
                        <a:rPr lang="en-US" sz="1800" dirty="0"/>
                        <a:t>16</a:t>
                      </a:r>
                    </a:p>
                  </a:txBody>
                  <a:tcPr/>
                </a:tc>
                <a:tc>
                  <a:txBody>
                    <a:bodyPr/>
                    <a:lstStyle/>
                    <a:p>
                      <a:pPr algn="ctr"/>
                      <a:r>
                        <a:rPr lang="en-US" sz="1800" dirty="0"/>
                        <a:t>8</a:t>
                      </a:r>
                    </a:p>
                  </a:txBody>
                  <a:tcPr/>
                </a:tc>
                <a:tc>
                  <a:txBody>
                    <a:bodyPr/>
                    <a:lstStyle/>
                    <a:p>
                      <a:pPr algn="ctr"/>
                      <a:r>
                        <a:rPr lang="en-US" sz="1800" dirty="0"/>
                        <a:t>4</a:t>
                      </a:r>
                    </a:p>
                  </a:txBody>
                  <a:tcPr/>
                </a:tc>
                <a:tc>
                  <a:txBody>
                    <a:bodyPr/>
                    <a:lstStyle/>
                    <a:p>
                      <a:pPr algn="ctr"/>
                      <a:r>
                        <a:rPr lang="en-US" sz="1800" dirty="0"/>
                        <a:t>2</a:t>
                      </a:r>
                    </a:p>
                  </a:txBody>
                  <a:tcPr/>
                </a:tc>
                <a:tc>
                  <a:txBody>
                    <a:bodyPr/>
                    <a:lstStyle/>
                    <a:p>
                      <a:pPr algn="ctr"/>
                      <a:r>
                        <a:rPr lang="en-US" sz="1800" dirty="0"/>
                        <a:t>1</a:t>
                      </a:r>
                    </a:p>
                  </a:txBody>
                  <a:tcPr/>
                </a:tc>
                <a:extLst>
                  <a:ext uri="{0D108BD9-81ED-4DB2-BD59-A6C34878D82A}">
                    <a16:rowId xmlns:a16="http://schemas.microsoft.com/office/drawing/2014/main" val="1788510752"/>
                  </a:ext>
                </a:extLst>
              </a:tr>
            </a:tbl>
          </a:graphicData>
        </a:graphic>
      </p:graphicFrame>
      <p:graphicFrame>
        <p:nvGraphicFramePr>
          <p:cNvPr id="4" name="Table 3">
            <a:extLst>
              <a:ext uri="{FF2B5EF4-FFF2-40B4-BE49-F238E27FC236}">
                <a16:creationId xmlns:a16="http://schemas.microsoft.com/office/drawing/2014/main" id="{F0D516D1-1B5F-E96C-1F37-108878A94C59}"/>
              </a:ext>
            </a:extLst>
          </p:cNvPr>
          <p:cNvGraphicFramePr>
            <a:graphicFrameLocks noGrp="1"/>
          </p:cNvGraphicFramePr>
          <p:nvPr>
            <p:extLst>
              <p:ext uri="{D42A27DB-BD31-4B8C-83A1-F6EECF244321}">
                <p14:modId xmlns:p14="http://schemas.microsoft.com/office/powerpoint/2010/main" val="643230712"/>
              </p:ext>
            </p:extLst>
          </p:nvPr>
        </p:nvGraphicFramePr>
        <p:xfrm>
          <a:off x="1374809" y="4194099"/>
          <a:ext cx="6096000" cy="37084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3325921765"/>
                    </a:ext>
                  </a:extLst>
                </a:gridCol>
                <a:gridCol w="1219200">
                  <a:extLst>
                    <a:ext uri="{9D8B030D-6E8A-4147-A177-3AD203B41FA5}">
                      <a16:colId xmlns:a16="http://schemas.microsoft.com/office/drawing/2014/main" val="1150075258"/>
                    </a:ext>
                  </a:extLst>
                </a:gridCol>
                <a:gridCol w="1219200">
                  <a:extLst>
                    <a:ext uri="{9D8B030D-6E8A-4147-A177-3AD203B41FA5}">
                      <a16:colId xmlns:a16="http://schemas.microsoft.com/office/drawing/2014/main" val="22037491"/>
                    </a:ext>
                  </a:extLst>
                </a:gridCol>
                <a:gridCol w="1219200">
                  <a:extLst>
                    <a:ext uri="{9D8B030D-6E8A-4147-A177-3AD203B41FA5}">
                      <a16:colId xmlns:a16="http://schemas.microsoft.com/office/drawing/2014/main" val="3459991895"/>
                    </a:ext>
                  </a:extLst>
                </a:gridCol>
                <a:gridCol w="1219200">
                  <a:extLst>
                    <a:ext uri="{9D8B030D-6E8A-4147-A177-3AD203B41FA5}">
                      <a16:colId xmlns:a16="http://schemas.microsoft.com/office/drawing/2014/main" val="3035601106"/>
                    </a:ext>
                  </a:extLst>
                </a:gridCol>
              </a:tblGrid>
              <a:tr h="370840">
                <a:tc>
                  <a:txBody>
                    <a:bodyPr/>
                    <a:lstStyle/>
                    <a:p>
                      <a:pPr algn="ctr"/>
                      <a:r>
                        <a:rPr lang="en-US" sz="1800" dirty="0"/>
                        <a:t>16</a:t>
                      </a:r>
                    </a:p>
                  </a:txBody>
                  <a:tcPr/>
                </a:tc>
                <a:tc>
                  <a:txBody>
                    <a:bodyPr/>
                    <a:lstStyle/>
                    <a:p>
                      <a:pPr algn="ctr"/>
                      <a:r>
                        <a:rPr lang="en-US" sz="1800" dirty="0"/>
                        <a:t>8</a:t>
                      </a:r>
                    </a:p>
                  </a:txBody>
                  <a:tcPr/>
                </a:tc>
                <a:tc>
                  <a:txBody>
                    <a:bodyPr/>
                    <a:lstStyle/>
                    <a:p>
                      <a:pPr algn="ctr"/>
                      <a:r>
                        <a:rPr lang="en-US" sz="1800" dirty="0"/>
                        <a:t>4</a:t>
                      </a:r>
                    </a:p>
                  </a:txBody>
                  <a:tcPr/>
                </a:tc>
                <a:tc>
                  <a:txBody>
                    <a:bodyPr/>
                    <a:lstStyle/>
                    <a:p>
                      <a:pPr algn="ctr"/>
                      <a:r>
                        <a:rPr lang="en-US" sz="1800" dirty="0"/>
                        <a:t>2</a:t>
                      </a:r>
                    </a:p>
                  </a:txBody>
                  <a:tcPr/>
                </a:tc>
                <a:tc>
                  <a:txBody>
                    <a:bodyPr/>
                    <a:lstStyle/>
                    <a:p>
                      <a:pPr algn="ctr"/>
                      <a:r>
                        <a:rPr lang="en-US" sz="1800" dirty="0"/>
                        <a:t>1</a:t>
                      </a:r>
                    </a:p>
                  </a:txBody>
                  <a:tcPr/>
                </a:tc>
                <a:extLst>
                  <a:ext uri="{0D108BD9-81ED-4DB2-BD59-A6C34878D82A}">
                    <a16:rowId xmlns:a16="http://schemas.microsoft.com/office/drawing/2014/main" val="1788510752"/>
                  </a:ext>
                </a:extLst>
              </a:tr>
            </a:tbl>
          </a:graphicData>
        </a:graphic>
      </p:graphicFrame>
      <p:sp>
        <p:nvSpPr>
          <p:cNvPr id="5" name="Slide Number Placeholder 4">
            <a:extLst>
              <a:ext uri="{FF2B5EF4-FFF2-40B4-BE49-F238E27FC236}">
                <a16:creationId xmlns:a16="http://schemas.microsoft.com/office/drawing/2014/main" id="{9DD33C3F-1BAE-BFF8-CBD8-6CB8F55384DE}"/>
              </a:ext>
            </a:extLst>
          </p:cNvPr>
          <p:cNvSpPr>
            <a:spLocks noGrp="1"/>
          </p:cNvSpPr>
          <p:nvPr>
            <p:ph type="sldNum" sz="quarter" idx="12"/>
          </p:nvPr>
        </p:nvSpPr>
        <p:spPr/>
        <p:txBody>
          <a:bodyPr/>
          <a:lstStyle/>
          <a:p>
            <a:fld id="{D57F1E4F-1CFF-5643-939E-02111984F565}" type="slidenum">
              <a:rPr lang="en-US" smtClean="0"/>
              <a:t>10</a:t>
            </a:fld>
            <a:endParaRPr lang="en-US" dirty="0"/>
          </a:p>
        </p:txBody>
      </p:sp>
    </p:spTree>
    <p:extLst>
      <p:ext uri="{BB962C8B-B14F-4D97-AF65-F5344CB8AC3E}">
        <p14:creationId xmlns:p14="http://schemas.microsoft.com/office/powerpoint/2010/main" val="189185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AEC62-A039-50B5-A8CE-B8D68541C314}"/>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BD74B7DB-4D2B-8FB8-4545-C4DF69AD1A90}"/>
              </a:ext>
            </a:extLst>
          </p:cNvPr>
          <p:cNvSpPr>
            <a:spLocks noGrp="1" noChangeArrowheads="1"/>
          </p:cNvSpPr>
          <p:nvPr>
            <p:ph type="title"/>
          </p:nvPr>
        </p:nvSpPr>
        <p:spPr>
          <a:xfrm>
            <a:off x="115903" y="139126"/>
            <a:ext cx="7886700" cy="856808"/>
          </a:xfrm>
        </p:spPr>
        <p:txBody>
          <a:bodyPr/>
          <a:lstStyle/>
          <a:p>
            <a:pPr eaLnBrk="1" hangingPunct="1"/>
            <a:r>
              <a:rPr lang="en-US" altLang="en-US" dirty="0">
                <a:ea typeface="ＭＳ Ｐゴシック" panose="020B0600070205080204" pitchFamily="34" charset="-128"/>
              </a:rPr>
              <a:t>Decimal to Binary(Method 1)</a:t>
            </a:r>
          </a:p>
        </p:txBody>
      </p:sp>
      <p:sp>
        <p:nvSpPr>
          <p:cNvPr id="26626" name="Content Placeholder 2">
            <a:extLst>
              <a:ext uri="{FF2B5EF4-FFF2-40B4-BE49-F238E27FC236}">
                <a16:creationId xmlns:a16="http://schemas.microsoft.com/office/drawing/2014/main" id="{4744823D-E99B-460B-102A-9FD2EAC467D9}"/>
              </a:ext>
            </a:extLst>
          </p:cNvPr>
          <p:cNvSpPr>
            <a:spLocks noGrp="1" noChangeArrowheads="1"/>
          </p:cNvSpPr>
          <p:nvPr>
            <p:ph idx="1"/>
          </p:nvPr>
        </p:nvSpPr>
        <p:spPr>
          <a:xfrm>
            <a:off x="213644" y="905854"/>
            <a:ext cx="8732051" cy="4809146"/>
          </a:xfrm>
        </p:spPr>
        <p:txBody>
          <a:bodyPr>
            <a:normAutofit/>
          </a:bodyPr>
          <a:lstStyle/>
          <a:p>
            <a:pPr marL="0" indent="0">
              <a:buNone/>
            </a:pPr>
            <a:r>
              <a:rPr lang="en-US" altLang="en-US" sz="2000" dirty="0">
                <a:ea typeface="ＭＳ Ｐゴシック" panose="020B0600070205080204" pitchFamily="34" charset="-128"/>
              </a:rPr>
              <a:t>Here’s a visual example of how to convert 156 to binary.</a:t>
            </a:r>
          </a:p>
          <a:p>
            <a:pPr marL="0" indent="0">
              <a:buNone/>
            </a:pPr>
            <a:endParaRPr lang="en-US" altLang="en-US" sz="2000" dirty="0">
              <a:ea typeface="ＭＳ Ｐゴシック" panose="020B0600070205080204" pitchFamily="34" charset="-128"/>
            </a:endParaRPr>
          </a:p>
          <a:p>
            <a:pPr marL="0" indent="0">
              <a:buNone/>
            </a:pPr>
            <a:endParaRPr lang="en-US" altLang="en-US" sz="2000" dirty="0">
              <a:ea typeface="ＭＳ Ｐゴシック" panose="020B0600070205080204" pitchFamily="34" charset="-128"/>
            </a:endParaRPr>
          </a:p>
        </p:txBody>
      </p:sp>
      <p:pic>
        <p:nvPicPr>
          <p:cNvPr id="2" name="Picture 1">
            <a:extLst>
              <a:ext uri="{FF2B5EF4-FFF2-40B4-BE49-F238E27FC236}">
                <a16:creationId xmlns:a16="http://schemas.microsoft.com/office/drawing/2014/main" id="{964C1739-33E4-8F21-060A-7F65603CB8C6}"/>
              </a:ext>
            </a:extLst>
          </p:cNvPr>
          <p:cNvPicPr>
            <a:picLocks noChangeAspect="1"/>
          </p:cNvPicPr>
          <p:nvPr/>
        </p:nvPicPr>
        <p:blipFill>
          <a:blip r:embed="rId2"/>
          <a:stretch>
            <a:fillRect/>
          </a:stretch>
        </p:blipFill>
        <p:spPr>
          <a:xfrm>
            <a:off x="1241263" y="1385361"/>
            <a:ext cx="5864617" cy="4329639"/>
          </a:xfrm>
          <a:prstGeom prst="rect">
            <a:avLst/>
          </a:prstGeom>
        </p:spPr>
      </p:pic>
      <p:sp>
        <p:nvSpPr>
          <p:cNvPr id="5" name="Slide Number Placeholder 4">
            <a:extLst>
              <a:ext uri="{FF2B5EF4-FFF2-40B4-BE49-F238E27FC236}">
                <a16:creationId xmlns:a16="http://schemas.microsoft.com/office/drawing/2014/main" id="{530B76F9-F594-847E-9C6C-667944CAA794}"/>
              </a:ext>
            </a:extLst>
          </p:cNvPr>
          <p:cNvSpPr>
            <a:spLocks noGrp="1"/>
          </p:cNvSpPr>
          <p:nvPr>
            <p:ph type="sldNum" sz="quarter" idx="12"/>
          </p:nvPr>
        </p:nvSpPr>
        <p:spPr/>
        <p:txBody>
          <a:bodyPr/>
          <a:lstStyle/>
          <a:p>
            <a:fld id="{D57F1E4F-1CFF-5643-939E-02111984F565}" type="slidenum">
              <a:rPr lang="en-US" smtClean="0"/>
              <a:t>11</a:t>
            </a:fld>
            <a:endParaRPr lang="en-US" dirty="0"/>
          </a:p>
        </p:txBody>
      </p:sp>
    </p:spTree>
    <p:extLst>
      <p:ext uri="{BB962C8B-B14F-4D97-AF65-F5344CB8AC3E}">
        <p14:creationId xmlns:p14="http://schemas.microsoft.com/office/powerpoint/2010/main" val="2108380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BF249FBE-A176-1A4F-8C85-4F68915D9637}"/>
              </a:ext>
            </a:extLst>
          </p:cNvPr>
          <p:cNvSpPr>
            <a:spLocks noGrp="1" noChangeArrowheads="1"/>
          </p:cNvSpPr>
          <p:nvPr>
            <p:ph type="title"/>
          </p:nvPr>
        </p:nvSpPr>
        <p:spPr>
          <a:xfrm>
            <a:off x="133402" y="153825"/>
            <a:ext cx="7886700" cy="631240"/>
          </a:xfrm>
        </p:spPr>
        <p:txBody>
          <a:bodyPr/>
          <a:lstStyle/>
          <a:p>
            <a:pPr eaLnBrk="1" hangingPunct="1"/>
            <a:r>
              <a:rPr lang="en-US" altLang="en-US" dirty="0">
                <a:ea typeface="ＭＳ Ｐゴシック" panose="020B0600070205080204" pitchFamily="34" charset="-128"/>
              </a:rPr>
              <a:t>People</a:t>
            </a:r>
          </a:p>
        </p:txBody>
      </p:sp>
      <p:sp>
        <p:nvSpPr>
          <p:cNvPr id="3" name="Content Placeholder 2">
            <a:extLst>
              <a:ext uri="{FF2B5EF4-FFF2-40B4-BE49-F238E27FC236}">
                <a16:creationId xmlns:a16="http://schemas.microsoft.com/office/drawing/2014/main" id="{5401327B-FADD-F14B-8EF1-39E2659DA6FA}"/>
              </a:ext>
            </a:extLst>
          </p:cNvPr>
          <p:cNvSpPr>
            <a:spLocks noGrp="1" noChangeArrowheads="1"/>
          </p:cNvSpPr>
          <p:nvPr>
            <p:ph idx="1"/>
          </p:nvPr>
        </p:nvSpPr>
        <p:spPr>
          <a:xfrm>
            <a:off x="133401" y="871420"/>
            <a:ext cx="8737133" cy="4689755"/>
          </a:xfrm>
        </p:spPr>
        <p:txBody>
          <a:bodyPr/>
          <a:lstStyle/>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There are 10 types of people in the world; those who understand binary and those who don’t. </a:t>
            </a: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There are 10 types of people in the world; those who understand binary and those who have friends. </a:t>
            </a:r>
          </a:p>
          <a:p>
            <a:pPr marL="0" indent="0">
              <a:buNone/>
            </a:pPr>
            <a:endParaRPr lang="en-US" altLang="en-US" sz="1833" dirty="0">
              <a:ea typeface="ＭＳ Ｐゴシック" panose="020B0600070205080204" pitchFamily="34" charset="-128"/>
            </a:endParaRPr>
          </a:p>
          <a:p>
            <a:pPr marL="0" indent="0">
              <a:buNone/>
            </a:pPr>
            <a:endParaRPr lang="en-US" altLang="en-US" sz="1833" dirty="0">
              <a:latin typeface="Tahoma" panose="020B0604030504040204" pitchFamily="34" charset="0"/>
              <a:ea typeface="ＭＳ Ｐゴシック" panose="020B0600070205080204" pitchFamily="34" charset="-128"/>
            </a:endParaRPr>
          </a:p>
        </p:txBody>
      </p:sp>
      <p:sp>
        <p:nvSpPr>
          <p:cNvPr id="28675" name="TextBox 3">
            <a:extLst>
              <a:ext uri="{FF2B5EF4-FFF2-40B4-BE49-F238E27FC236}">
                <a16:creationId xmlns:a16="http://schemas.microsoft.com/office/drawing/2014/main" id="{068AE3BF-A314-844E-B717-58945AEEF455}"/>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sp>
        <p:nvSpPr>
          <p:cNvPr id="2" name="Slide Number Placeholder 1">
            <a:extLst>
              <a:ext uri="{FF2B5EF4-FFF2-40B4-BE49-F238E27FC236}">
                <a16:creationId xmlns:a16="http://schemas.microsoft.com/office/drawing/2014/main" id="{B575DD88-7752-4E95-D55C-7F03AE8EDBB5}"/>
              </a:ext>
            </a:extLst>
          </p:cNvPr>
          <p:cNvSpPr>
            <a:spLocks noGrp="1"/>
          </p:cNvSpPr>
          <p:nvPr>
            <p:ph type="sldNum" sz="quarter" idx="12"/>
          </p:nvPr>
        </p:nvSpPr>
        <p:spPr/>
        <p:txBody>
          <a:bodyPr/>
          <a:lstStyle/>
          <a:p>
            <a:fld id="{D57F1E4F-1CFF-5643-939E-02111984F565}" type="slidenum">
              <a:rPr lang="en-US" smtClean="0"/>
              <a:t>12</a:t>
            </a:fld>
            <a:endParaRPr lang="en-US" dirty="0"/>
          </a:p>
        </p:txBody>
      </p:sp>
    </p:spTree>
    <p:extLst>
      <p:ext uri="{BB962C8B-B14F-4D97-AF65-F5344CB8AC3E}">
        <p14:creationId xmlns:p14="http://schemas.microsoft.com/office/powerpoint/2010/main" val="3176068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2E729-BBE7-1CDD-9EB3-DEC1839A8ABB}"/>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76FA05B1-8D75-69D6-5361-5FE9F89D6D72}"/>
              </a:ext>
            </a:extLst>
          </p:cNvPr>
          <p:cNvSpPr>
            <a:spLocks noGrp="1" noChangeArrowheads="1"/>
          </p:cNvSpPr>
          <p:nvPr>
            <p:ph type="title"/>
          </p:nvPr>
        </p:nvSpPr>
        <p:spPr>
          <a:xfrm>
            <a:off x="115903" y="139126"/>
            <a:ext cx="7886700" cy="856808"/>
          </a:xfrm>
        </p:spPr>
        <p:txBody>
          <a:bodyPr/>
          <a:lstStyle/>
          <a:p>
            <a:pPr eaLnBrk="1" hangingPunct="1"/>
            <a:r>
              <a:rPr lang="en-US" altLang="en-US" dirty="0">
                <a:ea typeface="ＭＳ Ｐゴシック" panose="020B0600070205080204" pitchFamily="34" charset="-128"/>
              </a:rPr>
              <a:t>Decimal to Binary(Method 2)</a:t>
            </a:r>
          </a:p>
        </p:txBody>
      </p:sp>
      <p:sp>
        <p:nvSpPr>
          <p:cNvPr id="26626" name="Content Placeholder 2">
            <a:extLst>
              <a:ext uri="{FF2B5EF4-FFF2-40B4-BE49-F238E27FC236}">
                <a16:creationId xmlns:a16="http://schemas.microsoft.com/office/drawing/2014/main" id="{7054DCD3-4753-73C3-6C3B-66EA2DA7B51B}"/>
              </a:ext>
            </a:extLst>
          </p:cNvPr>
          <p:cNvSpPr>
            <a:spLocks noGrp="1" noChangeArrowheads="1"/>
          </p:cNvSpPr>
          <p:nvPr>
            <p:ph idx="1"/>
          </p:nvPr>
        </p:nvSpPr>
        <p:spPr>
          <a:xfrm>
            <a:off x="213645" y="905854"/>
            <a:ext cx="8716710" cy="4412806"/>
          </a:xfrm>
        </p:spPr>
        <p:txBody>
          <a:bodyPr>
            <a:normAutofit/>
          </a:bodyPr>
          <a:lstStyle/>
          <a:p>
            <a:pPr marL="0" indent="0">
              <a:buNone/>
            </a:pPr>
            <a:r>
              <a:rPr lang="en-US" altLang="en-US" sz="2000" dirty="0">
                <a:ea typeface="ＭＳ Ｐゴシック" panose="020B0600070205080204" pitchFamily="34" charset="-128"/>
              </a:rPr>
              <a:t>This method provides a nice algorithm for converting from decimal to binary. You can use this method, for example, to write a function in Python to do the conversion. On tests and worksheets, I recommend using Method 1. </a:t>
            </a:r>
          </a:p>
          <a:p>
            <a:pPr marL="0" indent="0">
              <a:buNone/>
            </a:pPr>
            <a:r>
              <a:rPr lang="en-US" altLang="en-US" sz="2000" dirty="0">
                <a:ea typeface="ＭＳ Ｐゴシック" panose="020B0600070205080204" pitchFamily="34" charset="-128"/>
              </a:rPr>
              <a:t>Repeatedly modulo 2 and the divide by 2. Stop at 0. The remainder list read top to bottom are the digits from left to right. </a:t>
            </a:r>
          </a:p>
        </p:txBody>
      </p:sp>
      <p:pic>
        <p:nvPicPr>
          <p:cNvPr id="26627" name="Picture 4" descr="ten22">
            <a:extLst>
              <a:ext uri="{FF2B5EF4-FFF2-40B4-BE49-F238E27FC236}">
                <a16:creationId xmlns:a16="http://schemas.microsoft.com/office/drawing/2014/main" id="{051B3B2A-D190-D1AB-20A7-40A5E2CB3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989" y="2506204"/>
            <a:ext cx="3779236" cy="30696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sp>
        <p:nvSpPr>
          <p:cNvPr id="2" name="Slide Number Placeholder 1">
            <a:extLst>
              <a:ext uri="{FF2B5EF4-FFF2-40B4-BE49-F238E27FC236}">
                <a16:creationId xmlns:a16="http://schemas.microsoft.com/office/drawing/2014/main" id="{06699383-3AA7-26A1-8333-E2CE4CEE3451}"/>
              </a:ext>
            </a:extLst>
          </p:cNvPr>
          <p:cNvSpPr>
            <a:spLocks noGrp="1"/>
          </p:cNvSpPr>
          <p:nvPr>
            <p:ph type="sldNum" sz="quarter" idx="12"/>
          </p:nvPr>
        </p:nvSpPr>
        <p:spPr/>
        <p:txBody>
          <a:bodyPr/>
          <a:lstStyle/>
          <a:p>
            <a:fld id="{D57F1E4F-1CFF-5643-939E-02111984F565}" type="slidenum">
              <a:rPr lang="en-US" smtClean="0"/>
              <a:t>13</a:t>
            </a:fld>
            <a:endParaRPr lang="en-US" dirty="0"/>
          </a:p>
        </p:txBody>
      </p:sp>
    </p:spTree>
    <p:extLst>
      <p:ext uri="{BB962C8B-B14F-4D97-AF65-F5344CB8AC3E}">
        <p14:creationId xmlns:p14="http://schemas.microsoft.com/office/powerpoint/2010/main" val="59843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5D843E53-35E9-E74F-AAF1-1C6E9C7CF5DA}"/>
              </a:ext>
            </a:extLst>
          </p:cNvPr>
          <p:cNvSpPr>
            <a:spLocks noGrp="1" noChangeArrowheads="1"/>
          </p:cNvSpPr>
          <p:nvPr>
            <p:ph type="title"/>
          </p:nvPr>
        </p:nvSpPr>
        <p:spPr>
          <a:xfrm>
            <a:off x="218452" y="204909"/>
            <a:ext cx="7886700" cy="725243"/>
          </a:xfrm>
        </p:spPr>
        <p:txBody>
          <a:bodyPr/>
          <a:lstStyle/>
          <a:p>
            <a:pPr eaLnBrk="1" hangingPunct="1"/>
            <a:r>
              <a:rPr lang="en-US" altLang="en-US" dirty="0">
                <a:ea typeface="ＭＳ Ｐゴシック" panose="020B0600070205080204" pitchFamily="34" charset="-128"/>
              </a:rPr>
              <a:t>Hexadecimal</a:t>
            </a:r>
          </a:p>
        </p:txBody>
      </p:sp>
      <p:sp>
        <p:nvSpPr>
          <p:cNvPr id="3" name="Content Placeholder 2">
            <a:extLst>
              <a:ext uri="{FF2B5EF4-FFF2-40B4-BE49-F238E27FC236}">
                <a16:creationId xmlns:a16="http://schemas.microsoft.com/office/drawing/2014/main" id="{D1CC84C1-64E3-8C44-A271-6413B01F1B9F}"/>
              </a:ext>
            </a:extLst>
          </p:cNvPr>
          <p:cNvSpPr>
            <a:spLocks noGrp="1"/>
          </p:cNvSpPr>
          <p:nvPr>
            <p:ph idx="1"/>
          </p:nvPr>
        </p:nvSpPr>
        <p:spPr>
          <a:xfrm>
            <a:off x="218451" y="999858"/>
            <a:ext cx="8728995" cy="4510233"/>
          </a:xfrm>
        </p:spPr>
        <p:txBody>
          <a:bodyPr/>
          <a:lstStyle/>
          <a:p>
            <a:pPr marL="0" indent="0">
              <a:buNone/>
              <a:defRPr/>
            </a:pPr>
            <a:r>
              <a:rPr lang="en-US" altLang="zh-CN" sz="1833" dirty="0">
                <a:ea typeface="宋体" charset="0"/>
                <a:cs typeface="宋体" charset="0"/>
              </a:rPr>
              <a:t>Binary code is too long in representation. </a:t>
            </a:r>
            <a:r>
              <a:rPr lang="en-US" altLang="zh-CN" sz="1833" b="1" dirty="0">
                <a:ea typeface="宋体" charset="0"/>
                <a:cs typeface="宋体" charset="0"/>
              </a:rPr>
              <a:t>Hexadecimal</a:t>
            </a:r>
            <a:r>
              <a:rPr lang="en-US" altLang="zh-CN" sz="1833" dirty="0">
                <a:ea typeface="宋体" charset="0"/>
                <a:cs typeface="宋体" charset="0"/>
              </a:rPr>
              <a:t> is much shorter. Hexadecimal uses 16 digits.</a:t>
            </a:r>
          </a:p>
          <a:p>
            <a:pPr marL="0" indent="0">
              <a:buNone/>
              <a:defRPr/>
            </a:pPr>
            <a:endParaRPr lang="en-US" altLang="zh-CN" sz="1833" dirty="0">
              <a:ea typeface="宋体" charset="0"/>
              <a:cs typeface="宋体" charset="0"/>
            </a:endParaRPr>
          </a:p>
          <a:p>
            <a:pPr marL="0" indent="0">
              <a:buNone/>
              <a:defRPr/>
            </a:pPr>
            <a:r>
              <a:rPr lang="en-US" altLang="zh-CN" sz="1833" dirty="0">
                <a:ea typeface="宋体" charset="0"/>
                <a:cs typeface="宋体" charset="0"/>
              </a:rPr>
              <a:t>Problem: we are short of numbers.</a:t>
            </a:r>
          </a:p>
          <a:p>
            <a:pPr marL="342900" lvl="1" indent="0">
              <a:buNone/>
              <a:defRPr/>
            </a:pPr>
            <a:r>
              <a:rPr lang="en-US" altLang="zh-CN" sz="1833" dirty="0">
                <a:ea typeface="宋体" charset="0"/>
                <a:cs typeface="宋体" charset="0"/>
              </a:rPr>
              <a:t>A-10   B-11   C-12  D-13  E-14   F-15</a:t>
            </a:r>
          </a:p>
          <a:p>
            <a:pPr marL="342900" lvl="1" indent="0">
              <a:buNone/>
              <a:defRPr/>
            </a:pPr>
            <a:r>
              <a:rPr lang="en-US" altLang="zh-CN" sz="1833" dirty="0">
                <a:ea typeface="宋体" charset="0"/>
                <a:cs typeface="宋体" charset="0"/>
              </a:rPr>
              <a:t>Hexadecimal digits: {0,1,2,3,4…,9,A,B,C,D,E,F}</a:t>
            </a:r>
          </a:p>
          <a:p>
            <a:pPr marL="0" indent="0">
              <a:buNone/>
              <a:defRPr/>
            </a:pPr>
            <a:endParaRPr lang="en-US" sz="1833" dirty="0"/>
          </a:p>
          <a:p>
            <a:pPr marL="0" indent="0">
              <a:buNone/>
              <a:defRPr/>
            </a:pPr>
            <a:r>
              <a:rPr lang="en-US" altLang="zh-CN" sz="1833" dirty="0">
                <a:ea typeface="宋体" charset="0"/>
                <a:cs typeface="宋体" charset="0"/>
              </a:rPr>
              <a:t>Converting a binary number to a Hex number is relatively easy. Every 4 bits can convert to a Hex.</a:t>
            </a:r>
          </a:p>
          <a:p>
            <a:pPr marL="0" indent="0">
              <a:buNone/>
              <a:defRPr/>
            </a:pPr>
            <a:endParaRPr lang="en-US" sz="1833" dirty="0">
              <a:latin typeface="Tahoma"/>
              <a:cs typeface="Tahoma"/>
            </a:endParaRPr>
          </a:p>
        </p:txBody>
      </p:sp>
      <p:sp>
        <p:nvSpPr>
          <p:cNvPr id="2" name="Slide Number Placeholder 1">
            <a:extLst>
              <a:ext uri="{FF2B5EF4-FFF2-40B4-BE49-F238E27FC236}">
                <a16:creationId xmlns:a16="http://schemas.microsoft.com/office/drawing/2014/main" id="{E3B95BA2-8C28-DC49-A39D-87488E345AEF}"/>
              </a:ext>
            </a:extLst>
          </p:cNvPr>
          <p:cNvSpPr>
            <a:spLocks noGrp="1"/>
          </p:cNvSpPr>
          <p:nvPr>
            <p:ph type="sldNum" sz="quarter" idx="12"/>
          </p:nvPr>
        </p:nvSpPr>
        <p:spPr/>
        <p:txBody>
          <a:bodyPr/>
          <a:lstStyle/>
          <a:p>
            <a:fld id="{D57F1E4F-1CFF-5643-939E-02111984F565}" type="slidenum">
              <a:rPr lang="en-US" smtClean="0"/>
              <a:t>14</a:t>
            </a:fld>
            <a:endParaRPr lang="en-US" dirty="0"/>
          </a:p>
        </p:txBody>
      </p:sp>
    </p:spTree>
    <p:extLst>
      <p:ext uri="{BB962C8B-B14F-4D97-AF65-F5344CB8AC3E}">
        <p14:creationId xmlns:p14="http://schemas.microsoft.com/office/powerpoint/2010/main" val="3981954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3BE770B8-B6F6-1A48-8DEF-D8D144926D6D}"/>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Hexadecimal</a:t>
            </a:r>
          </a:p>
        </p:txBody>
      </p:sp>
      <p:sp>
        <p:nvSpPr>
          <p:cNvPr id="30722" name="Content Placeholder 2">
            <a:extLst>
              <a:ext uri="{FF2B5EF4-FFF2-40B4-BE49-F238E27FC236}">
                <a16:creationId xmlns:a16="http://schemas.microsoft.com/office/drawing/2014/main" id="{E82716C6-5A57-A642-A8E2-D707C2473B64}"/>
              </a:ext>
            </a:extLst>
          </p:cNvPr>
          <p:cNvSpPr>
            <a:spLocks noGrp="1" noChangeArrowheads="1"/>
          </p:cNvSpPr>
          <p:nvPr>
            <p:ph idx="1"/>
          </p:nvPr>
        </p:nvSpPr>
        <p:spPr/>
        <p:txBody>
          <a:bodyPr/>
          <a:lstStyle/>
          <a:p>
            <a:pPr marL="0" indent="0">
              <a:buNone/>
            </a:pPr>
            <a:endParaRPr lang="en-US" altLang="en-US">
              <a:ea typeface="ＭＳ Ｐゴシック" panose="020B0600070205080204" pitchFamily="34" charset="-128"/>
            </a:endParaRPr>
          </a:p>
          <a:p>
            <a:pPr marL="0" indent="0">
              <a:buNone/>
            </a:pPr>
            <a:endParaRPr lang="en-US" altLang="en-US" sz="1833">
              <a:latin typeface="Tahoma" panose="020B0604030504040204" pitchFamily="34" charset="0"/>
              <a:ea typeface="ＭＳ Ｐゴシック" panose="020B0600070205080204" pitchFamily="34" charset="-128"/>
            </a:endParaRPr>
          </a:p>
        </p:txBody>
      </p:sp>
      <p:sp>
        <p:nvSpPr>
          <p:cNvPr id="30723" name="TextBox 3">
            <a:extLst>
              <a:ext uri="{FF2B5EF4-FFF2-40B4-BE49-F238E27FC236}">
                <a16:creationId xmlns:a16="http://schemas.microsoft.com/office/drawing/2014/main" id="{E916F19E-1E33-8F4C-9AEA-F1FBEB8A0E1A}"/>
              </a:ext>
            </a:extLst>
          </p:cNvPr>
          <p:cNvSpPr txBox="1">
            <a:spLocks noChangeArrowheads="1"/>
          </p:cNvSpPr>
          <p:nvPr/>
        </p:nvSpPr>
        <p:spPr bwMode="auto">
          <a:xfrm>
            <a:off x="2811199" y="1993636"/>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sp>
        <p:nvSpPr>
          <p:cNvPr id="30724" name="TextBox 4">
            <a:extLst>
              <a:ext uri="{FF2B5EF4-FFF2-40B4-BE49-F238E27FC236}">
                <a16:creationId xmlns:a16="http://schemas.microsoft.com/office/drawing/2014/main" id="{190FF255-133B-F244-8D67-3C32E8ED1DAC}"/>
              </a:ext>
            </a:extLst>
          </p:cNvPr>
          <p:cNvSpPr txBox="1">
            <a:spLocks noChangeArrowheads="1"/>
          </p:cNvSpPr>
          <p:nvPr/>
        </p:nvSpPr>
        <p:spPr bwMode="auto">
          <a:xfrm>
            <a:off x="3747824" y="151474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pic>
        <p:nvPicPr>
          <p:cNvPr id="30725" name="Picture 5">
            <a:extLst>
              <a:ext uri="{FF2B5EF4-FFF2-40B4-BE49-F238E27FC236}">
                <a16:creationId xmlns:a16="http://schemas.microsoft.com/office/drawing/2014/main" id="{61F5349C-692C-DE47-8B97-391638663E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12094" y="1297782"/>
            <a:ext cx="5905500" cy="360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A7B7FF1-BA78-51F7-67AD-FED529A863D7}"/>
              </a:ext>
            </a:extLst>
          </p:cNvPr>
          <p:cNvSpPr>
            <a:spLocks noGrp="1"/>
          </p:cNvSpPr>
          <p:nvPr>
            <p:ph type="sldNum" sz="quarter" idx="12"/>
          </p:nvPr>
        </p:nvSpPr>
        <p:spPr/>
        <p:txBody>
          <a:bodyPr/>
          <a:lstStyle/>
          <a:p>
            <a:fld id="{D57F1E4F-1CFF-5643-939E-02111984F565}" type="slidenum">
              <a:rPr lang="en-US" smtClean="0"/>
              <a:t>15</a:t>
            </a:fld>
            <a:endParaRPr lang="en-US" dirty="0"/>
          </a:p>
        </p:txBody>
      </p:sp>
    </p:spTree>
    <p:extLst>
      <p:ext uri="{BB962C8B-B14F-4D97-AF65-F5344CB8AC3E}">
        <p14:creationId xmlns:p14="http://schemas.microsoft.com/office/powerpoint/2010/main" val="3869412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4BD382BA-290D-A94B-A7DD-7AEF84D0700A}"/>
              </a:ext>
            </a:extLst>
          </p:cNvPr>
          <p:cNvSpPr>
            <a:spLocks noGrp="1" noChangeArrowheads="1"/>
          </p:cNvSpPr>
          <p:nvPr>
            <p:ph type="title"/>
          </p:nvPr>
        </p:nvSpPr>
        <p:spPr>
          <a:xfrm>
            <a:off x="209906" y="138740"/>
            <a:ext cx="7886700" cy="666752"/>
          </a:xfrm>
        </p:spPr>
        <p:txBody>
          <a:bodyPr/>
          <a:lstStyle/>
          <a:p>
            <a:pPr eaLnBrk="1" hangingPunct="1"/>
            <a:r>
              <a:rPr lang="en-US" altLang="en-US" dirty="0">
                <a:ea typeface="ＭＳ Ｐゴシック" panose="020B0600070205080204" pitchFamily="34" charset="-128"/>
              </a:rPr>
              <a:t>Binary to Hex</a:t>
            </a:r>
          </a:p>
        </p:txBody>
      </p:sp>
      <p:sp>
        <p:nvSpPr>
          <p:cNvPr id="31746" name="Content Placeholder 2">
            <a:extLst>
              <a:ext uri="{FF2B5EF4-FFF2-40B4-BE49-F238E27FC236}">
                <a16:creationId xmlns:a16="http://schemas.microsoft.com/office/drawing/2014/main" id="{DB01B8A7-80D3-AC4B-A4C7-A21B9A07F179}"/>
              </a:ext>
            </a:extLst>
          </p:cNvPr>
          <p:cNvSpPr>
            <a:spLocks noGrp="1" noChangeArrowheads="1"/>
          </p:cNvSpPr>
          <p:nvPr>
            <p:ph idx="1"/>
          </p:nvPr>
        </p:nvSpPr>
        <p:spPr/>
        <p:txBody>
          <a:bodyPr/>
          <a:lstStyle/>
          <a:p>
            <a:pPr marL="0" indent="0">
              <a:buNone/>
            </a:pPr>
            <a:endParaRPr lang="en-US" altLang="en-US">
              <a:ea typeface="ＭＳ Ｐゴシック" panose="020B0600070205080204" pitchFamily="34" charset="-128"/>
            </a:endParaRPr>
          </a:p>
          <a:p>
            <a:pPr marL="0" indent="0">
              <a:buNone/>
            </a:pPr>
            <a:endParaRPr lang="en-US" altLang="en-US" sz="1833">
              <a:latin typeface="Tahoma" panose="020B0604030504040204" pitchFamily="34" charset="0"/>
              <a:ea typeface="ＭＳ Ｐゴシック" panose="020B0600070205080204" pitchFamily="34" charset="-128"/>
            </a:endParaRPr>
          </a:p>
        </p:txBody>
      </p:sp>
      <p:sp>
        <p:nvSpPr>
          <p:cNvPr id="31747" name="TextBox 3">
            <a:extLst>
              <a:ext uri="{FF2B5EF4-FFF2-40B4-BE49-F238E27FC236}">
                <a16:creationId xmlns:a16="http://schemas.microsoft.com/office/drawing/2014/main" id="{BEFDD7DA-CCC4-1A45-8C2C-DB64ACCCF97A}"/>
              </a:ext>
            </a:extLst>
          </p:cNvPr>
          <p:cNvSpPr txBox="1">
            <a:spLocks noChangeArrowheads="1"/>
          </p:cNvSpPr>
          <p:nvPr/>
        </p:nvSpPr>
        <p:spPr bwMode="auto">
          <a:xfrm>
            <a:off x="2811199" y="1993636"/>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sp>
        <p:nvSpPr>
          <p:cNvPr id="31748" name="TextBox 4">
            <a:extLst>
              <a:ext uri="{FF2B5EF4-FFF2-40B4-BE49-F238E27FC236}">
                <a16:creationId xmlns:a16="http://schemas.microsoft.com/office/drawing/2014/main" id="{9CE4607C-FBBE-F84C-B6D8-785606063D4E}"/>
              </a:ext>
            </a:extLst>
          </p:cNvPr>
          <p:cNvSpPr txBox="1">
            <a:spLocks noChangeArrowheads="1"/>
          </p:cNvSpPr>
          <p:nvPr/>
        </p:nvSpPr>
        <p:spPr bwMode="auto">
          <a:xfrm>
            <a:off x="3747824" y="151474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pic>
        <p:nvPicPr>
          <p:cNvPr id="31749" name="Picture 7" descr="untitled">
            <a:extLst>
              <a:ext uri="{FF2B5EF4-FFF2-40B4-BE49-F238E27FC236}">
                <a16:creationId xmlns:a16="http://schemas.microsoft.com/office/drawing/2014/main" id="{2C560F81-1DA3-DC48-BBF2-81AF5544B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1117866"/>
            <a:ext cx="6223000" cy="38549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sp>
        <p:nvSpPr>
          <p:cNvPr id="2" name="Slide Number Placeholder 1">
            <a:extLst>
              <a:ext uri="{FF2B5EF4-FFF2-40B4-BE49-F238E27FC236}">
                <a16:creationId xmlns:a16="http://schemas.microsoft.com/office/drawing/2014/main" id="{58F78315-6BE6-3221-BA3C-C26E28870277}"/>
              </a:ext>
            </a:extLst>
          </p:cNvPr>
          <p:cNvSpPr>
            <a:spLocks noGrp="1"/>
          </p:cNvSpPr>
          <p:nvPr>
            <p:ph type="sldNum" sz="quarter" idx="12"/>
          </p:nvPr>
        </p:nvSpPr>
        <p:spPr/>
        <p:txBody>
          <a:bodyPr/>
          <a:lstStyle/>
          <a:p>
            <a:fld id="{D57F1E4F-1CFF-5643-939E-02111984F565}" type="slidenum">
              <a:rPr lang="en-US" smtClean="0"/>
              <a:t>16</a:t>
            </a:fld>
            <a:endParaRPr lang="en-US" dirty="0"/>
          </a:p>
        </p:txBody>
      </p:sp>
    </p:spTree>
    <p:extLst>
      <p:ext uri="{BB962C8B-B14F-4D97-AF65-F5344CB8AC3E}">
        <p14:creationId xmlns:p14="http://schemas.microsoft.com/office/powerpoint/2010/main" val="54577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EF6B3B38-3472-E741-B04E-BCDB92C17E95}"/>
              </a:ext>
            </a:extLst>
          </p:cNvPr>
          <p:cNvSpPr>
            <a:spLocks noGrp="1" noChangeArrowheads="1"/>
          </p:cNvSpPr>
          <p:nvPr>
            <p:ph type="title"/>
          </p:nvPr>
        </p:nvSpPr>
        <p:spPr>
          <a:xfrm>
            <a:off x="201361" y="187817"/>
            <a:ext cx="7886700" cy="759427"/>
          </a:xfrm>
        </p:spPr>
        <p:txBody>
          <a:bodyPr/>
          <a:lstStyle/>
          <a:p>
            <a:pPr eaLnBrk="1" hangingPunct="1"/>
            <a:r>
              <a:rPr lang="en-US" altLang="en-US" dirty="0">
                <a:ea typeface="ＭＳ Ｐゴシック" panose="020B0600070205080204" pitchFamily="34" charset="-128"/>
              </a:rPr>
              <a:t>Counting</a:t>
            </a:r>
          </a:p>
        </p:txBody>
      </p:sp>
      <p:sp>
        <p:nvSpPr>
          <p:cNvPr id="3" name="Content Placeholder 2">
            <a:extLst>
              <a:ext uri="{FF2B5EF4-FFF2-40B4-BE49-F238E27FC236}">
                <a16:creationId xmlns:a16="http://schemas.microsoft.com/office/drawing/2014/main" id="{BB84A3DF-3845-E44E-BE23-31EA988FAEBB}"/>
              </a:ext>
            </a:extLst>
          </p:cNvPr>
          <p:cNvSpPr>
            <a:spLocks noGrp="1" noChangeArrowheads="1"/>
          </p:cNvSpPr>
          <p:nvPr>
            <p:ph idx="1"/>
          </p:nvPr>
        </p:nvSpPr>
        <p:spPr>
          <a:xfrm>
            <a:off x="201361" y="947244"/>
            <a:ext cx="8609353" cy="4385332"/>
          </a:xfrm>
        </p:spPr>
        <p:txBody>
          <a:bodyPr/>
          <a:lstStyle/>
          <a:p>
            <a:pPr marL="0" indent="0">
              <a:buNone/>
            </a:pPr>
            <a:r>
              <a:rPr lang="en-US" altLang="zh-CN" sz="1833" dirty="0">
                <a:ea typeface="宋体" panose="02010600030101010101" pitchFamily="2" charset="-122"/>
              </a:rPr>
              <a:t>Let’s count in Base 10. </a:t>
            </a:r>
          </a:p>
          <a:p>
            <a:pPr marL="0" indent="0">
              <a:buNone/>
            </a:pPr>
            <a:r>
              <a:rPr lang="en-US" altLang="zh-CN" sz="1833" dirty="0">
                <a:ea typeface="宋体" panose="02010600030101010101" pitchFamily="2" charset="-122"/>
              </a:rPr>
              <a:t>0,1,2,3,4,5,6,7,8,9,__,___,…,18,19,__,__. </a:t>
            </a:r>
          </a:p>
          <a:p>
            <a:pPr marL="0" indent="0">
              <a:buNone/>
            </a:pPr>
            <a:r>
              <a:rPr lang="en-US" altLang="zh-CN" sz="1833" dirty="0">
                <a:ea typeface="宋体" panose="02010600030101010101" pitchFamily="2" charset="-122"/>
              </a:rPr>
              <a:t>Answer: 10,11…..,20,21. Good job!</a:t>
            </a:r>
          </a:p>
          <a:p>
            <a:pPr marL="0" indent="0"/>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Let’s count in Base 5.</a:t>
            </a:r>
          </a:p>
          <a:p>
            <a:pPr marL="0" indent="0">
              <a:buNone/>
            </a:pPr>
            <a:r>
              <a:rPr lang="en-US" altLang="en-US" sz="1833" dirty="0">
                <a:ea typeface="ＭＳ Ｐゴシック" panose="020B0600070205080204" pitchFamily="34" charset="-128"/>
              </a:rPr>
              <a:t>0,1,2,3,4,__,__,__,__,__,___.</a:t>
            </a:r>
          </a:p>
          <a:p>
            <a:pPr marL="0" indent="0">
              <a:buNone/>
            </a:pPr>
            <a:r>
              <a:rPr lang="en-US" altLang="en-US" sz="1833" dirty="0">
                <a:ea typeface="ＭＳ Ｐゴシック" panose="020B0600070205080204" pitchFamily="34" charset="-128"/>
              </a:rPr>
              <a:t>Answer:10,11,12,13,14,20. </a:t>
            </a:r>
          </a:p>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Let’s keep going!</a:t>
            </a:r>
          </a:p>
          <a:p>
            <a:pPr marL="0" indent="0">
              <a:buNone/>
            </a:pPr>
            <a:r>
              <a:rPr lang="en-US" altLang="en-US" sz="1833" dirty="0">
                <a:ea typeface="ＭＳ Ｐゴシック" panose="020B0600070205080204" pitchFamily="34" charset="-128"/>
              </a:rPr>
              <a:t>40,41,42,43,44,___,___,___.</a:t>
            </a:r>
          </a:p>
          <a:p>
            <a:pPr marL="0" indent="0">
              <a:buNone/>
            </a:pPr>
            <a:r>
              <a:rPr lang="en-US" altLang="en-US" sz="1833" dirty="0">
                <a:ea typeface="ＭＳ Ｐゴシック" panose="020B0600070205080204" pitchFamily="34" charset="-128"/>
              </a:rPr>
              <a:t>Answer:100,101,102. </a:t>
            </a:r>
          </a:p>
          <a:p>
            <a:pPr marL="0" indent="0">
              <a:buNone/>
            </a:pPr>
            <a:endParaRPr lang="en-US" altLang="en-US" sz="1833" dirty="0">
              <a:ea typeface="ＭＳ Ｐゴシック" panose="020B0600070205080204" pitchFamily="34" charset="-128"/>
            </a:endParaRPr>
          </a:p>
          <a:p>
            <a:pPr marL="0" indent="0">
              <a:buNone/>
            </a:pPr>
            <a:endParaRPr lang="en-US" altLang="en-US" sz="1833" dirty="0">
              <a:latin typeface="Tahoma" panose="020B0604030504040204" pitchFamily="34" charset="0"/>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EB2BFA89-3E10-EFA0-CBCA-7556CFD0AFAD}"/>
              </a:ext>
            </a:extLst>
          </p:cNvPr>
          <p:cNvSpPr>
            <a:spLocks noGrp="1"/>
          </p:cNvSpPr>
          <p:nvPr>
            <p:ph type="sldNum" sz="quarter" idx="12"/>
          </p:nvPr>
        </p:nvSpPr>
        <p:spPr/>
        <p:txBody>
          <a:bodyPr/>
          <a:lstStyle/>
          <a:p>
            <a:fld id="{D57F1E4F-1CFF-5643-939E-02111984F565}" type="slidenum">
              <a:rPr lang="en-US" smtClean="0"/>
              <a:t>17</a:t>
            </a:fld>
            <a:endParaRPr lang="en-US" dirty="0"/>
          </a:p>
        </p:txBody>
      </p:sp>
    </p:spTree>
    <p:extLst>
      <p:ext uri="{BB962C8B-B14F-4D97-AF65-F5344CB8AC3E}">
        <p14:creationId xmlns:p14="http://schemas.microsoft.com/office/powerpoint/2010/main" val="28617729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DE07AFA2-897D-1246-9C8B-446B67E7BFE4}"/>
              </a:ext>
            </a:extLst>
          </p:cNvPr>
          <p:cNvSpPr>
            <a:spLocks noGrp="1" noChangeArrowheads="1"/>
          </p:cNvSpPr>
          <p:nvPr>
            <p:ph type="title"/>
          </p:nvPr>
        </p:nvSpPr>
        <p:spPr>
          <a:xfrm>
            <a:off x="133402" y="121492"/>
            <a:ext cx="7886700" cy="658813"/>
          </a:xfrm>
        </p:spPr>
        <p:txBody>
          <a:bodyPr/>
          <a:lstStyle/>
          <a:p>
            <a:pPr eaLnBrk="1" hangingPunct="1"/>
            <a:r>
              <a:rPr lang="en-US" altLang="en-US" dirty="0">
                <a:ea typeface="ＭＳ Ｐゴシック" panose="020B0600070205080204" pitchFamily="34" charset="-128"/>
              </a:rPr>
              <a:t>Quick Quiz</a:t>
            </a:r>
          </a:p>
        </p:txBody>
      </p:sp>
      <p:sp>
        <p:nvSpPr>
          <p:cNvPr id="3" name="Content Placeholder 2">
            <a:extLst>
              <a:ext uri="{FF2B5EF4-FFF2-40B4-BE49-F238E27FC236}">
                <a16:creationId xmlns:a16="http://schemas.microsoft.com/office/drawing/2014/main" id="{E82DB29A-E2B2-8646-BD98-C234E64E220A}"/>
              </a:ext>
            </a:extLst>
          </p:cNvPr>
          <p:cNvSpPr>
            <a:spLocks noGrp="1" noChangeArrowheads="1"/>
          </p:cNvSpPr>
          <p:nvPr>
            <p:ph idx="1"/>
          </p:nvPr>
        </p:nvSpPr>
        <p:spPr>
          <a:xfrm>
            <a:off x="133402" y="834328"/>
            <a:ext cx="8856774" cy="4759180"/>
          </a:xfrm>
        </p:spPr>
        <p:txBody>
          <a:bodyPr/>
          <a:lstStyle/>
          <a:p>
            <a:pPr marL="0" indent="0">
              <a:buNone/>
            </a:pPr>
            <a:r>
              <a:rPr lang="en-US" altLang="en-US" sz="1833" dirty="0">
                <a:ea typeface="ＭＳ Ｐゴシック" panose="020B0600070205080204" pitchFamily="34" charset="-128"/>
              </a:rPr>
              <a:t>What’s the answer in base 8?</a:t>
            </a: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What’s the answer in base 5?</a:t>
            </a: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What’s the answer in base 12?</a:t>
            </a: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endParaRPr lang="en-US" altLang="en-US" sz="1833" dirty="0">
              <a:latin typeface="Tahoma" panose="020B0604030504040204" pitchFamily="34" charset="0"/>
              <a:ea typeface="ＭＳ Ｐゴシック" panose="020B0600070205080204" pitchFamily="34" charset="-128"/>
            </a:endParaRPr>
          </a:p>
        </p:txBody>
      </p:sp>
      <p:sp>
        <p:nvSpPr>
          <p:cNvPr id="34819" name="TextBox 3">
            <a:extLst>
              <a:ext uri="{FF2B5EF4-FFF2-40B4-BE49-F238E27FC236}">
                <a16:creationId xmlns:a16="http://schemas.microsoft.com/office/drawing/2014/main" id="{92815AD9-AD33-094E-AA7A-49E41FA7C403}"/>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pic>
        <p:nvPicPr>
          <p:cNvPr id="4" name="Picture 3">
            <a:extLst>
              <a:ext uri="{FF2B5EF4-FFF2-40B4-BE49-F238E27FC236}">
                <a16:creationId xmlns:a16="http://schemas.microsoft.com/office/drawing/2014/main" id="{FDC9B311-9DA7-9948-8004-00E508A39ED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2124" y="1420753"/>
            <a:ext cx="1467114" cy="41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4DCFC96C-D965-244F-9EDF-23EC6C1A18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08703" y="1466869"/>
            <a:ext cx="508000" cy="359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CDC6C3C4-C8B3-4048-984B-B2480C8C319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1656" y="2759669"/>
            <a:ext cx="132027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6E44BAB4-410B-0B4B-BDAF-22047930EE6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6792" y="2759669"/>
            <a:ext cx="1664229"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3699A654-DBFF-8E42-9025-0BD47A3552A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92124" y="3886931"/>
            <a:ext cx="1439333" cy="326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3581F40A-57CF-324D-91E0-064EA307AAA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51656" y="3946119"/>
            <a:ext cx="1813719" cy="298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0D7842DB-A133-B51A-E77C-6A15FE945AE5}"/>
              </a:ext>
            </a:extLst>
          </p:cNvPr>
          <p:cNvSpPr>
            <a:spLocks noGrp="1"/>
          </p:cNvSpPr>
          <p:nvPr>
            <p:ph type="sldNum" sz="quarter" idx="12"/>
          </p:nvPr>
        </p:nvSpPr>
        <p:spPr/>
        <p:txBody>
          <a:bodyPr/>
          <a:lstStyle/>
          <a:p>
            <a:fld id="{D57F1E4F-1CFF-5643-939E-02111984F565}" type="slidenum">
              <a:rPr lang="en-US" smtClean="0"/>
              <a:t>18</a:t>
            </a:fld>
            <a:endParaRPr lang="en-US" dirty="0"/>
          </a:p>
        </p:txBody>
      </p:sp>
    </p:spTree>
    <p:extLst>
      <p:ext uri="{BB962C8B-B14F-4D97-AF65-F5344CB8AC3E}">
        <p14:creationId xmlns:p14="http://schemas.microsoft.com/office/powerpoint/2010/main" val="1830555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F10F-C12D-6B4A-84C5-206A244BF7C6}"/>
              </a:ext>
            </a:extLst>
          </p:cNvPr>
          <p:cNvSpPr>
            <a:spLocks noGrp="1"/>
          </p:cNvSpPr>
          <p:nvPr>
            <p:ph type="title"/>
          </p:nvPr>
        </p:nvSpPr>
        <p:spPr>
          <a:xfrm>
            <a:off x="127205" y="111030"/>
            <a:ext cx="7886700" cy="841376"/>
          </a:xfrm>
        </p:spPr>
        <p:txBody>
          <a:bodyPr/>
          <a:lstStyle/>
          <a:p>
            <a:r>
              <a:rPr lang="en-US" dirty="0"/>
              <a:t>Overflow Error</a:t>
            </a:r>
          </a:p>
        </p:txBody>
      </p:sp>
      <p:sp>
        <p:nvSpPr>
          <p:cNvPr id="3" name="Content Placeholder 2">
            <a:extLst>
              <a:ext uri="{FF2B5EF4-FFF2-40B4-BE49-F238E27FC236}">
                <a16:creationId xmlns:a16="http://schemas.microsoft.com/office/drawing/2014/main" id="{8EE44610-8AB0-B84C-9003-2B8BA850F328}"/>
              </a:ext>
            </a:extLst>
          </p:cNvPr>
          <p:cNvSpPr>
            <a:spLocks noGrp="1"/>
          </p:cNvSpPr>
          <p:nvPr>
            <p:ph idx="1"/>
          </p:nvPr>
        </p:nvSpPr>
        <p:spPr>
          <a:xfrm>
            <a:off x="196645" y="855406"/>
            <a:ext cx="8701549" cy="4745824"/>
          </a:xfrm>
        </p:spPr>
        <p:txBody>
          <a:bodyPr/>
          <a:lstStyle/>
          <a:p>
            <a:pPr marL="0" indent="0">
              <a:buNone/>
            </a:pPr>
            <a:r>
              <a:rPr lang="en-US" dirty="0"/>
              <a:t>﻿</a:t>
            </a:r>
          </a:p>
          <a:p>
            <a:pPr marL="0" indent="0">
              <a:buNone/>
            </a:pPr>
            <a:r>
              <a:rPr lang="en-US" dirty="0"/>
              <a:t>In many programming languages, integers are represented by a fixed number of bits, which limit the range of integer values and mathematical operations on those values. </a:t>
            </a:r>
          </a:p>
          <a:p>
            <a:pPr marL="0" indent="0">
              <a:buNone/>
            </a:pPr>
            <a:endParaRPr lang="en-US" dirty="0"/>
          </a:p>
          <a:p>
            <a:pPr marL="0" indent="0">
              <a:buNone/>
            </a:pPr>
            <a:r>
              <a:rPr lang="en-US" dirty="0"/>
              <a:t>For example in Java, the range of the value of an integer is from −2,147,483,648 to +2,147,483,647. Trying to store a number bigger than the limits will result in an </a:t>
            </a:r>
            <a:r>
              <a:rPr lang="en-US" b="1" dirty="0"/>
              <a:t>overflow error</a:t>
            </a:r>
            <a:r>
              <a:rPr lang="en-US" dirty="0"/>
              <a:t>. </a:t>
            </a:r>
          </a:p>
          <a:p>
            <a:pPr marL="0" indent="0">
              <a:buNone/>
            </a:pPr>
            <a:endParaRPr lang="en-US" dirty="0"/>
          </a:p>
          <a:p>
            <a:pPr marL="0" indent="0">
              <a:buNone/>
            </a:pPr>
            <a:r>
              <a:rPr lang="en-US" dirty="0"/>
              <a:t>Some languages like Python, integers do not have limits on number size but, instead, expand to the limit of the available memory. Python floats are represented with 64 bits. </a:t>
            </a:r>
          </a:p>
          <a:p>
            <a:pPr marL="0" indent="0">
              <a:buNone/>
            </a:pPr>
            <a:endParaRPr lang="en-US" dirty="0"/>
          </a:p>
        </p:txBody>
      </p:sp>
      <p:sp>
        <p:nvSpPr>
          <p:cNvPr id="4" name="Slide Number Placeholder 3">
            <a:extLst>
              <a:ext uri="{FF2B5EF4-FFF2-40B4-BE49-F238E27FC236}">
                <a16:creationId xmlns:a16="http://schemas.microsoft.com/office/drawing/2014/main" id="{75C7B0F0-6928-7047-81B0-E8C50BC3208B}"/>
              </a:ext>
            </a:extLst>
          </p:cNvPr>
          <p:cNvSpPr>
            <a:spLocks noGrp="1"/>
          </p:cNvSpPr>
          <p:nvPr>
            <p:ph type="sldNum" sz="quarter" idx="12"/>
          </p:nvPr>
        </p:nvSpPr>
        <p:spPr/>
        <p:txBody>
          <a:bodyPr/>
          <a:lstStyle/>
          <a:p>
            <a:fld id="{D57F1E4F-1CFF-5643-939E-02111984F565}" type="slidenum">
              <a:rPr lang="en-US" smtClean="0"/>
              <a:t>19</a:t>
            </a:fld>
            <a:endParaRPr lang="en-US" dirty="0"/>
          </a:p>
        </p:txBody>
      </p:sp>
    </p:spTree>
    <p:extLst>
      <p:ext uri="{BB962C8B-B14F-4D97-AF65-F5344CB8AC3E}">
        <p14:creationId xmlns:p14="http://schemas.microsoft.com/office/powerpoint/2010/main" val="3668115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F10F-C12D-6B4A-84C5-206A244BF7C6}"/>
              </a:ext>
            </a:extLst>
          </p:cNvPr>
          <p:cNvSpPr>
            <a:spLocks noGrp="1"/>
          </p:cNvSpPr>
          <p:nvPr>
            <p:ph type="title"/>
          </p:nvPr>
        </p:nvSpPr>
        <p:spPr>
          <a:xfrm>
            <a:off x="73947" y="15066"/>
            <a:ext cx="7886700" cy="841376"/>
          </a:xfrm>
        </p:spPr>
        <p:txBody>
          <a:bodyPr/>
          <a:lstStyle/>
          <a:p>
            <a:r>
              <a:rPr lang="en-US" dirty="0"/>
              <a:t>Overflow Error</a:t>
            </a:r>
          </a:p>
        </p:txBody>
      </p:sp>
      <p:sp>
        <p:nvSpPr>
          <p:cNvPr id="3" name="Content Placeholder 2">
            <a:extLst>
              <a:ext uri="{FF2B5EF4-FFF2-40B4-BE49-F238E27FC236}">
                <a16:creationId xmlns:a16="http://schemas.microsoft.com/office/drawing/2014/main" id="{8EE44610-8AB0-B84C-9003-2B8BA850F328}"/>
              </a:ext>
            </a:extLst>
          </p:cNvPr>
          <p:cNvSpPr>
            <a:spLocks noGrp="1"/>
          </p:cNvSpPr>
          <p:nvPr>
            <p:ph idx="1"/>
          </p:nvPr>
        </p:nvSpPr>
        <p:spPr>
          <a:xfrm>
            <a:off x="196645" y="855406"/>
            <a:ext cx="8873408" cy="4745824"/>
          </a:xfrm>
        </p:spPr>
        <p:txBody>
          <a:bodyPr/>
          <a:lstStyle/>
          <a:p>
            <a:pPr marL="0" indent="0">
              <a:buNone/>
            </a:pPr>
            <a:r>
              <a:rPr lang="en-US" dirty="0"/>
              <a:t>The formula to calculate the largest number stored using n bits is 2^n – 1. </a:t>
            </a:r>
          </a:p>
          <a:p>
            <a:pPr marL="0" indent="0">
              <a:buNone/>
            </a:pPr>
            <a:endParaRPr lang="en-US" dirty="0"/>
          </a:p>
          <a:p>
            <a:pPr marL="0" indent="0">
              <a:buNone/>
            </a:pPr>
            <a:r>
              <a:rPr lang="en-US" dirty="0"/>
              <a:t>Example 1:</a:t>
            </a:r>
          </a:p>
          <a:p>
            <a:pPr marL="0" indent="0">
              <a:buNone/>
            </a:pPr>
            <a:r>
              <a:rPr lang="en-US" dirty="0"/>
              <a:t>With 4 bits, the largest integer that can be stored is 2^4 - 1 = 15.</a:t>
            </a:r>
          </a:p>
          <a:p>
            <a:pPr marL="0" indent="0">
              <a:buNone/>
            </a:pPr>
            <a:endParaRPr lang="en-US" dirty="0"/>
          </a:p>
          <a:p>
            <a:pPr marL="0" indent="0">
              <a:buNone/>
            </a:pPr>
            <a:r>
              <a:rPr lang="en-US" dirty="0"/>
              <a:t>Example 2:</a:t>
            </a:r>
          </a:p>
          <a:p>
            <a:pPr marL="0" indent="0">
              <a:buNone/>
            </a:pPr>
            <a:r>
              <a:rPr lang="en-US" dirty="0"/>
              <a:t>A 4-bit integer can any value in {0,1,2,..,15}. Thus, storing the value of 10 + 6 = 16 would cause an overflow error since the 16 = 10000 requires at least 5 bits. </a:t>
            </a:r>
          </a:p>
          <a:p>
            <a:pPr marL="0" indent="0">
              <a:buNone/>
            </a:pPr>
            <a:endParaRPr lang="en-US" dirty="0"/>
          </a:p>
          <a:p>
            <a:pPr marL="0" indent="0">
              <a:buNone/>
            </a:pPr>
            <a:r>
              <a:rPr lang="en-US" dirty="0"/>
              <a:t>Example 3:</a:t>
            </a:r>
          </a:p>
          <a:p>
            <a:pPr marL="0" indent="0">
              <a:buNone/>
            </a:pPr>
            <a:r>
              <a:rPr lang="en-US" dirty="0"/>
              <a:t>If x is a 3-bit integer, then x = 111 + 111 will cause an overflow error since the sum is 1110 which requires at least 4 bits.</a:t>
            </a:r>
          </a:p>
        </p:txBody>
      </p:sp>
      <p:sp>
        <p:nvSpPr>
          <p:cNvPr id="4" name="Slide Number Placeholder 3">
            <a:extLst>
              <a:ext uri="{FF2B5EF4-FFF2-40B4-BE49-F238E27FC236}">
                <a16:creationId xmlns:a16="http://schemas.microsoft.com/office/drawing/2014/main" id="{75C7B0F0-6928-7047-81B0-E8C50BC3208B}"/>
              </a:ext>
            </a:extLst>
          </p:cNvPr>
          <p:cNvSpPr>
            <a:spLocks noGrp="1"/>
          </p:cNvSpPr>
          <p:nvPr>
            <p:ph type="sldNum" sz="quarter" idx="12"/>
          </p:nvPr>
        </p:nvSpPr>
        <p:spPr/>
        <p:txBody>
          <a:bodyPr/>
          <a:lstStyle/>
          <a:p>
            <a:fld id="{D57F1E4F-1CFF-5643-939E-02111984F565}" type="slidenum">
              <a:rPr lang="en-US" smtClean="0"/>
              <a:t>20</a:t>
            </a:fld>
            <a:endParaRPr lang="en-US" dirty="0"/>
          </a:p>
        </p:txBody>
      </p:sp>
      <p:sp>
        <p:nvSpPr>
          <p:cNvPr id="6" name="TextBox 5">
            <a:extLst>
              <a:ext uri="{FF2B5EF4-FFF2-40B4-BE49-F238E27FC236}">
                <a16:creationId xmlns:a16="http://schemas.microsoft.com/office/drawing/2014/main" id="{F2DE35F1-B009-034E-A058-765EBEEB9217}"/>
              </a:ext>
            </a:extLst>
          </p:cNvPr>
          <p:cNvSpPr txBox="1"/>
          <p:nvPr/>
        </p:nvSpPr>
        <p:spPr>
          <a:xfrm>
            <a:off x="-6300592" y="-3106455"/>
            <a:ext cx="184731" cy="308418"/>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323891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071422-AD72-304B-9DED-839E5307DF2B}"/>
              </a:ext>
            </a:extLst>
          </p:cNvPr>
          <p:cNvSpPr>
            <a:spLocks noGrp="1"/>
          </p:cNvSpPr>
          <p:nvPr>
            <p:ph idx="1"/>
          </p:nvPr>
        </p:nvSpPr>
        <p:spPr>
          <a:xfrm>
            <a:off x="73947" y="856442"/>
            <a:ext cx="8441403" cy="4291027"/>
          </a:xfrm>
        </p:spPr>
        <p:txBody>
          <a:bodyPr/>
          <a:lstStyle/>
          <a:p>
            <a:pPr marL="0" indent="0">
              <a:buNone/>
            </a:pPr>
            <a:endParaRPr lang="en-US" dirty="0"/>
          </a:p>
          <a:p>
            <a:pPr marL="0" indent="0">
              <a:buNone/>
            </a:pPr>
            <a:r>
              <a:rPr lang="en-US" dirty="0"/>
              <a:t>A fixed number of bits is used to store real numbers. Because of this limitation, round-off errors can occur. </a:t>
            </a:r>
          </a:p>
          <a:p>
            <a:pPr marL="0" indent="0">
              <a:buNone/>
            </a:pPr>
            <a:endParaRPr lang="en-US" dirty="0"/>
          </a:p>
          <a:p>
            <a:pPr marL="0" indent="0">
              <a:buNone/>
            </a:pPr>
            <a:r>
              <a:rPr lang="en-US" dirty="0"/>
              <a:t>Python computes 1/3 as 0.3333333333333333. This value is only an approximation of 1/3 which is an infinitely repeating decimal. </a:t>
            </a:r>
          </a:p>
          <a:p>
            <a:pPr marL="0" indent="0">
              <a:buNone/>
            </a:pPr>
            <a:r>
              <a:rPr lang="en-US" dirty="0"/>
              <a:t> </a:t>
            </a:r>
          </a:p>
          <a:p>
            <a:pPr marL="0" indent="0">
              <a:buNone/>
            </a:pPr>
            <a:r>
              <a:rPr lang="en-US" b="1" dirty="0"/>
              <a:t>Round-off error </a:t>
            </a:r>
            <a:r>
              <a:rPr lang="en-US" dirty="0"/>
              <a:t>occurs when decimals (real numbers) are rounded. </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E1B4D9A6-ED34-F346-94E7-068B66748D8C}"/>
              </a:ext>
            </a:extLst>
          </p:cNvPr>
          <p:cNvSpPr>
            <a:spLocks noGrp="1"/>
          </p:cNvSpPr>
          <p:nvPr>
            <p:ph type="sldNum" sz="quarter" idx="12"/>
          </p:nvPr>
        </p:nvSpPr>
        <p:spPr/>
        <p:txBody>
          <a:bodyPr/>
          <a:lstStyle/>
          <a:p>
            <a:fld id="{D57F1E4F-1CFF-5643-939E-02111984F565}" type="slidenum">
              <a:rPr lang="en-US" smtClean="0"/>
              <a:t>21</a:t>
            </a:fld>
            <a:endParaRPr lang="en-US" dirty="0"/>
          </a:p>
        </p:txBody>
      </p:sp>
      <p:sp>
        <p:nvSpPr>
          <p:cNvPr id="5" name="Title 1">
            <a:extLst>
              <a:ext uri="{FF2B5EF4-FFF2-40B4-BE49-F238E27FC236}">
                <a16:creationId xmlns:a16="http://schemas.microsoft.com/office/drawing/2014/main" id="{EFF5F4AD-D9C7-1040-B066-A50136540666}"/>
              </a:ext>
            </a:extLst>
          </p:cNvPr>
          <p:cNvSpPr>
            <a:spLocks noGrp="1"/>
          </p:cNvSpPr>
          <p:nvPr>
            <p:ph type="title"/>
          </p:nvPr>
        </p:nvSpPr>
        <p:spPr>
          <a:xfrm>
            <a:off x="73947" y="15066"/>
            <a:ext cx="7886700" cy="841376"/>
          </a:xfrm>
        </p:spPr>
        <p:txBody>
          <a:bodyPr/>
          <a:lstStyle/>
          <a:p>
            <a:r>
              <a:rPr lang="en-US" dirty="0"/>
              <a:t>Round Off Errors</a:t>
            </a:r>
          </a:p>
        </p:txBody>
      </p:sp>
    </p:spTree>
    <p:extLst>
      <p:ext uri="{BB962C8B-B14F-4D97-AF65-F5344CB8AC3E}">
        <p14:creationId xmlns:p14="http://schemas.microsoft.com/office/powerpoint/2010/main" val="2605170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BCBA125C-ACA7-FB47-96FC-9420F821AD81}"/>
              </a:ext>
            </a:extLst>
          </p:cNvPr>
          <p:cNvSpPr>
            <a:spLocks noGrp="1" noChangeArrowheads="1"/>
          </p:cNvSpPr>
          <p:nvPr>
            <p:ph type="title"/>
          </p:nvPr>
        </p:nvSpPr>
        <p:spPr>
          <a:xfrm>
            <a:off x="51276" y="94002"/>
            <a:ext cx="7886700" cy="605602"/>
          </a:xfrm>
        </p:spPr>
        <p:txBody>
          <a:bodyPr/>
          <a:lstStyle/>
          <a:p>
            <a:pPr eaLnBrk="1" hangingPunct="1"/>
            <a:r>
              <a:rPr lang="en-US" altLang="en-US" dirty="0">
                <a:ea typeface="ＭＳ Ｐゴシック" panose="020B0600070205080204" pitchFamily="34" charset="-128"/>
              </a:rPr>
              <a:t>Abstraction</a:t>
            </a:r>
          </a:p>
        </p:txBody>
      </p:sp>
      <p:sp>
        <p:nvSpPr>
          <p:cNvPr id="3" name="Content Placeholder 2">
            <a:extLst>
              <a:ext uri="{FF2B5EF4-FFF2-40B4-BE49-F238E27FC236}">
                <a16:creationId xmlns:a16="http://schemas.microsoft.com/office/drawing/2014/main" id="{44A58473-3189-0C44-8A5E-E353CDFB3E5C}"/>
              </a:ext>
            </a:extLst>
          </p:cNvPr>
          <p:cNvSpPr>
            <a:spLocks noGrp="1" noChangeArrowheads="1"/>
          </p:cNvSpPr>
          <p:nvPr>
            <p:ph idx="1"/>
          </p:nvPr>
        </p:nvSpPr>
        <p:spPr>
          <a:xfrm>
            <a:off x="107355" y="699604"/>
            <a:ext cx="8985369" cy="4929936"/>
          </a:xfrm>
        </p:spPr>
        <p:txBody>
          <a:bodyPr/>
          <a:lstStyle/>
          <a:p>
            <a:pPr marL="0" indent="0">
              <a:buNone/>
            </a:pPr>
            <a:r>
              <a:rPr lang="en-US" b="1" dirty="0"/>
              <a:t>Abstraction</a:t>
            </a:r>
            <a:r>
              <a:rPr lang="en-US" i="1" dirty="0"/>
              <a:t> </a:t>
            </a:r>
            <a:r>
              <a:rPr lang="en-US" dirty="0"/>
              <a:t>is the process of reducing complexity by focusing on the main idea.</a:t>
            </a:r>
            <a:br>
              <a:rPr lang="en-US" dirty="0"/>
            </a:br>
            <a:endParaRPr lang="en-US" dirty="0"/>
          </a:p>
          <a:p>
            <a:pPr marL="0" indent="0">
              <a:buNone/>
            </a:pPr>
            <a:r>
              <a:rPr lang="en-US" dirty="0"/>
              <a:t>By hiding details irrelevant to the question at hand and bringing together related and useful details, abstraction reduces complexity and allows one to focus on the idea. </a:t>
            </a:r>
            <a:endParaRPr lang="en-US" sz="2000" dirty="0"/>
          </a:p>
          <a:p>
            <a:pPr marL="0" indent="0">
              <a:buNone/>
            </a:pPr>
            <a:endParaRPr lang="en-US" altLang="en-US" sz="1833" dirty="0">
              <a:latin typeface="Tahoma" panose="020B0604030504040204" pitchFamily="34" charset="0"/>
              <a:ea typeface="ＭＳ Ｐゴシック" panose="020B0600070205080204" pitchFamily="34" charset="-128"/>
            </a:endParaRPr>
          </a:p>
          <a:p>
            <a:pPr marL="0" indent="0">
              <a:buNone/>
            </a:pPr>
            <a:r>
              <a:rPr lang="en-US" altLang="en-US" sz="2000" dirty="0">
                <a:latin typeface="Gill Sans MT" panose="020B0502020104020203" pitchFamily="34" charset="77"/>
                <a:ea typeface="ＭＳ Ｐゴシック" panose="020B0600070205080204" pitchFamily="34" charset="-128"/>
              </a:rPr>
              <a:t>One type of abstraction we saw was </a:t>
            </a:r>
            <a:r>
              <a:rPr lang="en-US" sz="2000" b="1" dirty="0">
                <a:latin typeface="Gill Sans MT" panose="020B0502020104020203" pitchFamily="34" charset="77"/>
              </a:rPr>
              <a:t>procedural abstraction</a:t>
            </a:r>
            <a:r>
              <a:rPr lang="en-US" sz="2000" dirty="0">
                <a:latin typeface="Gill Sans MT" panose="020B0502020104020203" pitchFamily="34" charset="77"/>
              </a:rPr>
              <a:t>, which provides a name for a procedure(function) and allows it to be used only knowing what it does, not how it does it. </a:t>
            </a:r>
          </a:p>
          <a:p>
            <a:pPr marL="0" indent="0">
              <a:buNone/>
            </a:pPr>
            <a:endParaRPr lang="en-US" altLang="en-US" sz="1833" dirty="0">
              <a:latin typeface="Tahoma" panose="020B0604030504040204" pitchFamily="34" charset="0"/>
              <a:ea typeface="ＭＳ Ｐゴシック" panose="020B0600070205080204" pitchFamily="34" charset="-128"/>
            </a:endParaRPr>
          </a:p>
          <a:p>
            <a:pPr marL="0" indent="0">
              <a:buNone/>
            </a:pPr>
            <a:r>
              <a:rPr lang="en-US" sz="1800" b="1" dirty="0">
                <a:latin typeface="INCONSOLATA" panose="020B0609030003000000" pitchFamily="49" charset="77"/>
              </a:rPr>
              <a:t>import random</a:t>
            </a:r>
          </a:p>
          <a:p>
            <a:pPr marL="0" indent="0">
              <a:buNone/>
            </a:pPr>
            <a:r>
              <a:rPr lang="en-US" sz="1800" b="1" dirty="0">
                <a:latin typeface="INCONSOLATA" panose="020B0609030003000000" pitchFamily="49" charset="77"/>
              </a:rPr>
              <a:t>print(</a:t>
            </a:r>
            <a:r>
              <a:rPr lang="en-US" sz="1800" b="1" dirty="0" err="1">
                <a:latin typeface="INCONSOLATA" panose="020B0609030003000000" pitchFamily="49" charset="77"/>
              </a:rPr>
              <a:t>random.randrange</a:t>
            </a:r>
            <a:r>
              <a:rPr lang="en-US" sz="1800" b="1" dirty="0">
                <a:latin typeface="INCONSOLATA" panose="020B0609030003000000" pitchFamily="49" charset="77"/>
              </a:rPr>
              <a:t>(10)) </a:t>
            </a:r>
            <a:r>
              <a:rPr lang="en-US" sz="1800" b="1" dirty="0">
                <a:solidFill>
                  <a:schemeClr val="accent6"/>
                </a:solidFill>
                <a:latin typeface="INCONSOLATA" panose="020B0609030003000000" pitchFamily="49" charset="77"/>
              </a:rPr>
              <a:t># random number from 0 - 9</a:t>
            </a:r>
          </a:p>
          <a:p>
            <a:pPr marL="0" indent="0">
              <a:buNone/>
            </a:pPr>
            <a:endParaRPr lang="en-US" sz="1800" b="1" dirty="0">
              <a:latin typeface="INCONSOLATA" panose="020B0609030003000000" pitchFamily="49" charset="77"/>
            </a:endParaRPr>
          </a:p>
          <a:p>
            <a:pPr marL="0" indent="0">
              <a:buNone/>
            </a:pPr>
            <a:r>
              <a:rPr lang="en-US" sz="1800" dirty="0">
                <a:latin typeface="Gill Sans MT" panose="020B0502020104020203" pitchFamily="34" charset="77"/>
              </a:rPr>
              <a:t>We don't need to know how the </a:t>
            </a:r>
            <a:r>
              <a:rPr lang="en-US" sz="1800" dirty="0" err="1">
                <a:latin typeface="Gill Sans MT" panose="020B0502020104020203" pitchFamily="34" charset="77"/>
              </a:rPr>
              <a:t>randrange</a:t>
            </a:r>
            <a:r>
              <a:rPr lang="en-US" sz="1800" dirty="0">
                <a:latin typeface="Gill Sans MT" panose="020B0502020104020203" pitchFamily="34" charset="77"/>
              </a:rPr>
              <a:t>() function is implemented to be able use it. </a:t>
            </a:r>
            <a:endParaRPr lang="en-US" sz="1800" dirty="0"/>
          </a:p>
          <a:p>
            <a:pPr marL="0" indent="0">
              <a:buNone/>
            </a:pPr>
            <a:endParaRPr lang="en-US" altLang="en-US" sz="1833" dirty="0">
              <a:latin typeface="Tahoma" panose="020B0604030504040204" pitchFamily="34" charset="0"/>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73C1B47B-005C-C5D9-B218-C750F032C5FA}"/>
              </a:ext>
            </a:extLst>
          </p:cNvPr>
          <p:cNvSpPr>
            <a:spLocks noGrp="1"/>
          </p:cNvSpPr>
          <p:nvPr>
            <p:ph type="sldNum" sz="quarter" idx="12"/>
          </p:nvPr>
        </p:nvSpPr>
        <p:spPr/>
        <p:txBody>
          <a:bodyPr/>
          <a:lstStyle/>
          <a:p>
            <a:fld id="{D57F1E4F-1CFF-5643-939E-02111984F565}" type="slidenum">
              <a:rPr lang="en-US" smtClean="0"/>
              <a:t>22</a:t>
            </a:fld>
            <a:endParaRPr lang="en-US" dirty="0"/>
          </a:p>
        </p:txBody>
      </p:sp>
    </p:spTree>
    <p:extLst>
      <p:ext uri="{BB962C8B-B14F-4D97-AF65-F5344CB8AC3E}">
        <p14:creationId xmlns:p14="http://schemas.microsoft.com/office/powerpoint/2010/main" val="1166836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C5506108-D6E6-9641-98CC-A9DA92AF0478}"/>
              </a:ext>
            </a:extLst>
          </p:cNvPr>
          <p:cNvSpPr>
            <a:spLocks noGrp="1" noChangeArrowheads="1"/>
          </p:cNvSpPr>
          <p:nvPr>
            <p:ph type="title"/>
          </p:nvPr>
        </p:nvSpPr>
        <p:spPr>
          <a:xfrm>
            <a:off x="133564" y="104519"/>
            <a:ext cx="7724240" cy="679442"/>
          </a:xfrm>
        </p:spPr>
        <p:txBody>
          <a:bodyPr/>
          <a:lstStyle/>
          <a:p>
            <a:pPr eaLnBrk="1" hangingPunct="1">
              <a:defRPr/>
            </a:pPr>
            <a:r>
              <a:rPr lang="en-US" dirty="0">
                <a:cs typeface="+mj-cs"/>
              </a:rPr>
              <a:t>Abstraction</a:t>
            </a:r>
            <a:endParaRPr lang="en-US" sz="2333" dirty="0"/>
          </a:p>
        </p:txBody>
      </p:sp>
      <p:sp>
        <p:nvSpPr>
          <p:cNvPr id="6146" name="Rectangle 3">
            <a:extLst>
              <a:ext uri="{FF2B5EF4-FFF2-40B4-BE49-F238E27FC236}">
                <a16:creationId xmlns:a16="http://schemas.microsoft.com/office/drawing/2014/main" id="{EAA042DF-FAF2-DA4B-9FB9-A8E93FAB0389}"/>
              </a:ext>
            </a:extLst>
          </p:cNvPr>
          <p:cNvSpPr>
            <a:spLocks noGrp="1" noChangeArrowheads="1"/>
          </p:cNvSpPr>
          <p:nvPr>
            <p:ph type="body" idx="1"/>
          </p:nvPr>
        </p:nvSpPr>
        <p:spPr>
          <a:xfrm>
            <a:off x="133564" y="783961"/>
            <a:ext cx="9010436" cy="4817269"/>
          </a:xfrm>
        </p:spPr>
        <p:txBody>
          <a:bodyPr/>
          <a:lstStyle/>
          <a:p>
            <a:pPr marL="0" indent="0">
              <a:buNone/>
            </a:pPr>
            <a:r>
              <a:rPr lang="en-US" dirty="0"/>
              <a:t>Bits are grouped to represent abstractions. These abstractions include, but are not limited to, numbers, characters, and color. </a:t>
            </a:r>
          </a:p>
          <a:p>
            <a:pPr marL="0" indent="0">
              <a:buNone/>
            </a:pPr>
            <a:endParaRPr lang="en-US" sz="2000" dirty="0"/>
          </a:p>
          <a:p>
            <a:pPr marL="0" indent="0">
              <a:buNone/>
            </a:pPr>
            <a:r>
              <a:rPr lang="en-US" sz="2000" dirty="0"/>
              <a:t>Sequences of 0's and 1's represent a string of characters, a numeric grade and a color in the examples below. The color example is done using Processing. </a:t>
            </a:r>
          </a:p>
          <a:p>
            <a:pPr marL="0" indent="0">
              <a:buNone/>
            </a:pPr>
            <a:endParaRPr lang="en-US" sz="2000" dirty="0"/>
          </a:p>
          <a:p>
            <a:pPr marL="0" indent="0">
              <a:buNone/>
            </a:pPr>
            <a:r>
              <a:rPr lang="en-US" altLang="en-US" sz="2000" b="1" dirty="0">
                <a:solidFill>
                  <a:srgbClr val="FF0000"/>
                </a:solidFill>
                <a:latin typeface="INCONSOLATA" panose="020B0609030003000000" pitchFamily="49" charset="77"/>
                <a:ea typeface="ＭＳ Ｐゴシック" panose="020B0600070205080204" pitchFamily="34" charset="-128"/>
              </a:rPr>
              <a:t>name = "Mike Smith"	</a:t>
            </a:r>
          </a:p>
          <a:p>
            <a:pPr marL="0" indent="0">
              <a:buNone/>
            </a:pPr>
            <a:r>
              <a:rPr lang="en-US" sz="2000" b="1" dirty="0">
                <a:solidFill>
                  <a:srgbClr val="FF0000"/>
                </a:solidFill>
                <a:latin typeface="INCONSOLATA" panose="020B0609030003000000" pitchFamily="49" charset="77"/>
              </a:rPr>
              <a:t>grade = 87</a:t>
            </a:r>
          </a:p>
          <a:p>
            <a:pPr marL="0" indent="0">
              <a:buNone/>
            </a:pPr>
            <a:r>
              <a:rPr lang="en-US" sz="2000" b="1" dirty="0">
                <a:solidFill>
                  <a:srgbClr val="FF0000"/>
                </a:solidFill>
                <a:latin typeface="INCONSOLATA" panose="020B0609030003000000" pitchFamily="49" charset="77"/>
              </a:rPr>
              <a:t>c = color(255, 123, 110)		</a:t>
            </a:r>
          </a:p>
          <a:p>
            <a:pPr marL="0" indent="0">
              <a:buNone/>
            </a:pPr>
            <a:r>
              <a:rPr lang="en-US" sz="2000" b="1" dirty="0">
                <a:latin typeface="INCONSOLATA" panose="020B0609030003000000" pitchFamily="49" charset="77"/>
              </a:rPr>
              <a:t>fill(c);</a:t>
            </a:r>
          </a:p>
          <a:p>
            <a:pPr marL="0" indent="0">
              <a:buNone/>
            </a:pPr>
            <a:r>
              <a:rPr lang="en-US" sz="2000" b="1" dirty="0">
                <a:latin typeface="INCONSOLATA" panose="020B0609030003000000" pitchFamily="49" charset="77"/>
              </a:rPr>
              <a:t>ellipse(250, 80, 100, 100)</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altLang="en-US" sz="1833" dirty="0">
              <a:ea typeface="ＭＳ Ｐゴシック" panose="020B0600070205080204" pitchFamily="34" charset="-128"/>
            </a:endParaRPr>
          </a:p>
          <a:p>
            <a:pPr marL="0" indent="0">
              <a:buNone/>
            </a:pPr>
            <a:endParaRPr lang="en-US" altLang="en-US" sz="1833" dirty="0">
              <a:latin typeface="Courier New" panose="02070309020205020404" pitchFamily="49" charset="0"/>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8E7659A5-BFDF-0941-9706-1003922E6812}"/>
              </a:ext>
            </a:extLst>
          </p:cNvPr>
          <p:cNvSpPr>
            <a:spLocks noGrp="1"/>
          </p:cNvSpPr>
          <p:nvPr>
            <p:ph type="sldNum" sz="quarter" idx="12"/>
          </p:nvPr>
        </p:nvSpPr>
        <p:spPr/>
        <p:txBody>
          <a:bodyPr/>
          <a:lstStyle/>
          <a:p>
            <a:fld id="{D57F1E4F-1CFF-5643-939E-02111984F565}" type="slidenum">
              <a:rPr lang="en-US" smtClean="0"/>
              <a:t>23</a:t>
            </a:fld>
            <a:endParaRPr lang="en-US" dirty="0"/>
          </a:p>
        </p:txBody>
      </p:sp>
      <p:pic>
        <p:nvPicPr>
          <p:cNvPr id="3" name="Picture 2">
            <a:extLst>
              <a:ext uri="{FF2B5EF4-FFF2-40B4-BE49-F238E27FC236}">
                <a16:creationId xmlns:a16="http://schemas.microsoft.com/office/drawing/2014/main" id="{88E06D57-59AD-D342-BCB1-54EACBEAB164}"/>
              </a:ext>
            </a:extLst>
          </p:cNvPr>
          <p:cNvPicPr>
            <a:picLocks noChangeAspect="1"/>
          </p:cNvPicPr>
          <p:nvPr/>
        </p:nvPicPr>
        <p:blipFill>
          <a:blip r:embed="rId2"/>
          <a:stretch>
            <a:fillRect/>
          </a:stretch>
        </p:blipFill>
        <p:spPr>
          <a:xfrm>
            <a:off x="6741048" y="3192595"/>
            <a:ext cx="2095500" cy="1701800"/>
          </a:xfrm>
          <a:prstGeom prst="rect">
            <a:avLst/>
          </a:prstGeom>
        </p:spPr>
      </p:pic>
    </p:spTree>
    <p:extLst>
      <p:ext uri="{BB962C8B-B14F-4D97-AF65-F5344CB8AC3E}">
        <p14:creationId xmlns:p14="http://schemas.microsoft.com/office/powerpoint/2010/main" val="89066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80DCD7AD-00FD-2F40-91CE-625DA6FD1285}"/>
              </a:ext>
            </a:extLst>
          </p:cNvPr>
          <p:cNvSpPr>
            <a:spLocks noGrp="1" noChangeArrowheads="1"/>
          </p:cNvSpPr>
          <p:nvPr>
            <p:ph type="title"/>
          </p:nvPr>
        </p:nvSpPr>
        <p:spPr>
          <a:xfrm>
            <a:off x="133402" y="247638"/>
            <a:ext cx="7886700" cy="639786"/>
          </a:xfrm>
        </p:spPr>
        <p:txBody>
          <a:bodyPr/>
          <a:lstStyle/>
          <a:p>
            <a:pPr eaLnBrk="1" hangingPunct="1"/>
            <a:r>
              <a:rPr lang="en-US" altLang="en-US" dirty="0">
                <a:ea typeface="ＭＳ Ｐゴシック" panose="020B0600070205080204" pitchFamily="34" charset="-128"/>
              </a:rPr>
              <a:t>Encoding</a:t>
            </a:r>
          </a:p>
        </p:txBody>
      </p:sp>
      <p:sp>
        <p:nvSpPr>
          <p:cNvPr id="3" name="Content Placeholder 2">
            <a:extLst>
              <a:ext uri="{FF2B5EF4-FFF2-40B4-BE49-F238E27FC236}">
                <a16:creationId xmlns:a16="http://schemas.microsoft.com/office/drawing/2014/main" id="{98EB71F4-DBF4-ED4C-9334-B829AAEF3E2C}"/>
              </a:ext>
            </a:extLst>
          </p:cNvPr>
          <p:cNvSpPr>
            <a:spLocks noGrp="1" noChangeArrowheads="1"/>
          </p:cNvSpPr>
          <p:nvPr>
            <p:ph idx="1"/>
          </p:nvPr>
        </p:nvSpPr>
        <p:spPr>
          <a:xfrm>
            <a:off x="133402" y="904516"/>
            <a:ext cx="8877196" cy="4579938"/>
          </a:xfrm>
        </p:spPr>
        <p:txBody>
          <a:bodyPr/>
          <a:lstStyle/>
          <a:p>
            <a:pPr marL="0" indent="0">
              <a:buNone/>
            </a:pPr>
            <a:r>
              <a:rPr lang="en-US" altLang="en-US" sz="1833" dirty="0">
                <a:ea typeface="ＭＳ Ｐゴシック" panose="020B0600070205080204" pitchFamily="34" charset="-128"/>
              </a:rPr>
              <a:t>A computer cannot store “letters” or “pictures”. It can only work with bits(0 or 1). </a:t>
            </a:r>
          </a:p>
          <a:p>
            <a:pPr marL="0" indent="0">
              <a:buNone/>
            </a:pPr>
            <a:r>
              <a:rPr lang="en-US" altLang="en-US" sz="1833" dirty="0">
                <a:ea typeface="ＭＳ Ｐゴシック" panose="020B0600070205080204" pitchFamily="34" charset="-128"/>
              </a:rPr>
              <a:t> </a:t>
            </a:r>
          </a:p>
          <a:p>
            <a:pPr marL="0" indent="0">
              <a:buNone/>
            </a:pPr>
            <a:r>
              <a:rPr lang="en-US" altLang="en-US" sz="1833" dirty="0">
                <a:ea typeface="ＭＳ Ｐゴシック" panose="020B0600070205080204" pitchFamily="34" charset="-128"/>
              </a:rPr>
              <a:t>To represent anything other than bits, we need rules that will allow us to convert a sequence of bits into letters or pictures. This set of rules is called an </a:t>
            </a:r>
            <a:r>
              <a:rPr lang="en-US" altLang="en-US" sz="1833" b="1" dirty="0">
                <a:ea typeface="ＭＳ Ｐゴシック" panose="020B0600070205080204" pitchFamily="34" charset="-128"/>
              </a:rPr>
              <a:t>encoding scheme</a:t>
            </a:r>
            <a:r>
              <a:rPr lang="en-US" altLang="en-US" sz="1833" dirty="0">
                <a:ea typeface="ＭＳ Ｐゴシック" panose="020B0600070205080204" pitchFamily="34" charset="-128"/>
              </a:rPr>
              <a:t>, or </a:t>
            </a:r>
            <a:r>
              <a:rPr lang="en-US" altLang="en-US" sz="1833" b="1" dirty="0">
                <a:ea typeface="ＭＳ Ｐゴシック" panose="020B0600070205080204" pitchFamily="34" charset="-128"/>
              </a:rPr>
              <a:t>encoding</a:t>
            </a:r>
            <a:r>
              <a:rPr lang="en-US" altLang="en-US" sz="1833" dirty="0">
                <a:ea typeface="ＭＳ Ｐゴシック" panose="020B0600070205080204" pitchFamily="34" charset="-128"/>
              </a:rPr>
              <a:t> for short. For example,</a:t>
            </a: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p:txBody>
      </p:sp>
      <p:sp>
        <p:nvSpPr>
          <p:cNvPr id="36867" name="TextBox 3">
            <a:extLst>
              <a:ext uri="{FF2B5EF4-FFF2-40B4-BE49-F238E27FC236}">
                <a16:creationId xmlns:a16="http://schemas.microsoft.com/office/drawing/2014/main" id="{F9AFE31C-2C57-454D-932A-41EDD0068E42}"/>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pic>
        <p:nvPicPr>
          <p:cNvPr id="34820" name="Picture 3">
            <a:extLst>
              <a:ext uri="{FF2B5EF4-FFF2-40B4-BE49-F238E27FC236}">
                <a16:creationId xmlns:a16="http://schemas.microsoft.com/office/drawing/2014/main" id="{88DD05B8-5A7A-0F4F-AC0A-AB11673ED63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83188" y="2852269"/>
            <a:ext cx="4508500" cy="867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64BC6F7C-3713-D522-B93E-C78796ED216B}"/>
              </a:ext>
            </a:extLst>
          </p:cNvPr>
          <p:cNvSpPr>
            <a:spLocks noGrp="1"/>
          </p:cNvSpPr>
          <p:nvPr>
            <p:ph type="sldNum" sz="quarter" idx="12"/>
          </p:nvPr>
        </p:nvSpPr>
        <p:spPr/>
        <p:txBody>
          <a:bodyPr/>
          <a:lstStyle/>
          <a:p>
            <a:fld id="{D57F1E4F-1CFF-5643-939E-02111984F565}" type="slidenum">
              <a:rPr lang="en-US" smtClean="0"/>
              <a:t>24</a:t>
            </a:fld>
            <a:endParaRPr lang="en-US" dirty="0"/>
          </a:p>
        </p:txBody>
      </p:sp>
    </p:spTree>
    <p:extLst>
      <p:ext uri="{BB962C8B-B14F-4D97-AF65-F5344CB8AC3E}">
        <p14:creationId xmlns:p14="http://schemas.microsoft.com/office/powerpoint/2010/main" val="3969006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4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AC3C8F6C-38DD-984D-AB5D-B5D4807018F9}"/>
              </a:ext>
            </a:extLst>
          </p:cNvPr>
          <p:cNvSpPr>
            <a:spLocks noGrp="1" noChangeArrowheads="1"/>
          </p:cNvSpPr>
          <p:nvPr>
            <p:ph type="title"/>
          </p:nvPr>
        </p:nvSpPr>
        <p:spPr>
          <a:xfrm>
            <a:off x="226998" y="70742"/>
            <a:ext cx="7886700" cy="639786"/>
          </a:xfrm>
        </p:spPr>
        <p:txBody>
          <a:bodyPr/>
          <a:lstStyle/>
          <a:p>
            <a:pPr eaLnBrk="1" hangingPunct="1"/>
            <a:r>
              <a:rPr lang="en-US" altLang="en-US" dirty="0">
                <a:ea typeface="ＭＳ Ｐゴシック" panose="020B0600070205080204" pitchFamily="34" charset="-128"/>
              </a:rPr>
              <a:t>ASCII</a:t>
            </a:r>
          </a:p>
        </p:txBody>
      </p:sp>
      <p:sp>
        <p:nvSpPr>
          <p:cNvPr id="3" name="Content Placeholder 2">
            <a:extLst>
              <a:ext uri="{FF2B5EF4-FFF2-40B4-BE49-F238E27FC236}">
                <a16:creationId xmlns:a16="http://schemas.microsoft.com/office/drawing/2014/main" id="{D7CDD189-AC0E-DF4B-95CF-A617BFC2B7FC}"/>
              </a:ext>
            </a:extLst>
          </p:cNvPr>
          <p:cNvSpPr>
            <a:spLocks noGrp="1" noChangeArrowheads="1"/>
          </p:cNvSpPr>
          <p:nvPr>
            <p:ph idx="1"/>
          </p:nvPr>
        </p:nvSpPr>
        <p:spPr>
          <a:xfrm>
            <a:off x="119641" y="710528"/>
            <a:ext cx="8938901" cy="4933730"/>
          </a:xfrm>
        </p:spPr>
        <p:txBody>
          <a:bodyPr/>
          <a:lstStyle/>
          <a:p>
            <a:pPr marL="0" indent="0">
              <a:buNone/>
            </a:pPr>
            <a:r>
              <a:rPr lang="en-US" altLang="en-US" sz="1833" b="1" dirty="0">
                <a:ea typeface="ＭＳ Ｐゴシック" panose="020B0600070205080204" pitchFamily="34" charset="-128"/>
              </a:rPr>
              <a:t>ASCII(American Standard Code for Information Exchange)</a:t>
            </a:r>
            <a:r>
              <a:rPr lang="en-US" altLang="en-US" sz="1833" dirty="0">
                <a:ea typeface="ＭＳ Ｐゴシック" panose="020B0600070205080204" pitchFamily="34" charset="-128"/>
              </a:rPr>
              <a:t> is an encoding scheme that specifies the mapping between bits and characters. There are 128 characters in the scheme. There are 95 readable characters and 33 values for nonprintable characters like space, tab, and backspace and so on. </a:t>
            </a:r>
          </a:p>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The readable characters include a-z,  A-Z, 0-9 and punctuation.  In ASCII, 65 represents A, 66 represents B and so on. The numbers are called code points. But ASCII only uses 8 bits. It does not have enough bits to encode other characters and languages(Chinese, French, Japanese). </a:t>
            </a:r>
          </a:p>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Similar to ASCII, Unicode provides a </a:t>
            </a:r>
            <a:r>
              <a:rPr lang="en-US" altLang="en-US" sz="1800" dirty="0">
                <a:ea typeface="ＭＳ Ｐゴシック" panose="020B0600070205080204" pitchFamily="34" charset="-128"/>
              </a:rPr>
              <a:t>table of </a:t>
            </a:r>
            <a:r>
              <a:rPr lang="en-US" altLang="en-US" sz="1800" b="1" i="1" dirty="0">
                <a:ea typeface="ＭＳ Ｐゴシック" panose="020B0600070205080204" pitchFamily="34" charset="-128"/>
              </a:rPr>
              <a:t>code points</a:t>
            </a:r>
            <a:r>
              <a:rPr lang="en-US" altLang="en-US" sz="1800" b="1" dirty="0">
                <a:ea typeface="ＭＳ Ｐゴシック" panose="020B0600070205080204" pitchFamily="34" charset="-128"/>
              </a:rPr>
              <a:t> </a:t>
            </a:r>
            <a:r>
              <a:rPr lang="en-US" altLang="en-US" sz="1800" dirty="0">
                <a:ea typeface="ＭＳ Ｐゴシック" panose="020B0600070205080204" pitchFamily="34" charset="-128"/>
              </a:rPr>
              <a:t>for characters: </a:t>
            </a:r>
            <a:r>
              <a:rPr lang="en-US" altLang="en-US" sz="1800" i="1" dirty="0">
                <a:ea typeface="ＭＳ Ｐゴシック" panose="020B0600070205080204" pitchFamily="34" charset="-128"/>
              </a:rPr>
              <a:t>"65 stands for A, 66 stands for B and 9,731 stands for ☃”</a:t>
            </a:r>
            <a:r>
              <a:rPr lang="en-US" altLang="ja-JP" sz="1800" dirty="0">
                <a:ea typeface="ＭＳ Ｐゴシック" panose="020B0600070205080204" pitchFamily="34" charset="-128"/>
              </a:rPr>
              <a:t>. </a:t>
            </a:r>
            <a:r>
              <a:rPr lang="en-US" altLang="en-US" sz="1800" b="1" dirty="0">
                <a:ea typeface="ＭＳ Ｐゴシック" panose="020B0600070205080204" pitchFamily="34" charset="-128"/>
              </a:rPr>
              <a:t>UTF-32(Unicode Transformation Format), UTF-16 and UTF-8  </a:t>
            </a:r>
            <a:r>
              <a:rPr lang="en-US" altLang="en-US" sz="1800" dirty="0">
                <a:ea typeface="ＭＳ Ｐゴシック" panose="020B0600070205080204" pitchFamily="34" charset="-128"/>
              </a:rPr>
              <a:t>are three encodings that use the Unicode table of code points.  </a:t>
            </a:r>
            <a:endParaRPr lang="en-US" altLang="ja-JP" sz="1800" dirty="0">
              <a:ea typeface="ＭＳ Ｐゴシック" panose="020B0600070205080204" pitchFamily="34" charset="-128"/>
            </a:endParaRPr>
          </a:p>
          <a:p>
            <a:pPr marL="0" indent="0">
              <a:buNone/>
            </a:pPr>
            <a:endParaRPr lang="en-US" altLang="en-US" sz="1800" dirty="0">
              <a:ea typeface="ＭＳ Ｐゴシック" panose="020B0600070205080204" pitchFamily="34" charset="-128"/>
            </a:endParaRPr>
          </a:p>
          <a:p>
            <a:pPr marL="0" indent="0">
              <a:buNone/>
            </a:pPr>
            <a:r>
              <a:rPr lang="en-US" altLang="en-US" sz="1800" dirty="0">
                <a:ea typeface="ＭＳ Ｐゴシック" panose="020B0600070205080204" pitchFamily="34" charset="-128"/>
              </a:rPr>
              <a:t>Of the three, UTF-8 is by far the most widely used encoding. It is the standard encoding for all email and webpages(HTML5). </a:t>
            </a:r>
          </a:p>
          <a:p>
            <a:pPr marL="0" indent="0">
              <a:buNone/>
            </a:pPr>
            <a:endParaRPr lang="en-US" altLang="ja-JP" sz="1800"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p:txBody>
      </p:sp>
      <p:sp>
        <p:nvSpPr>
          <p:cNvPr id="37891" name="TextBox 3">
            <a:extLst>
              <a:ext uri="{FF2B5EF4-FFF2-40B4-BE49-F238E27FC236}">
                <a16:creationId xmlns:a16="http://schemas.microsoft.com/office/drawing/2014/main" id="{AA4154A8-D2A5-0F4B-A28A-26FA8A4D8EE6}"/>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sp>
        <p:nvSpPr>
          <p:cNvPr id="2" name="Slide Number Placeholder 1">
            <a:extLst>
              <a:ext uri="{FF2B5EF4-FFF2-40B4-BE49-F238E27FC236}">
                <a16:creationId xmlns:a16="http://schemas.microsoft.com/office/drawing/2014/main" id="{FBB3A191-31BC-59AC-C6F0-FC4DBC70A836}"/>
              </a:ext>
            </a:extLst>
          </p:cNvPr>
          <p:cNvSpPr>
            <a:spLocks noGrp="1"/>
          </p:cNvSpPr>
          <p:nvPr>
            <p:ph type="sldNum" sz="quarter" idx="12"/>
          </p:nvPr>
        </p:nvSpPr>
        <p:spPr/>
        <p:txBody>
          <a:bodyPr/>
          <a:lstStyle/>
          <a:p>
            <a:fld id="{D57F1E4F-1CFF-5643-939E-02111984F565}" type="slidenum">
              <a:rPr lang="en-US" smtClean="0"/>
              <a:t>25</a:t>
            </a:fld>
            <a:endParaRPr lang="en-US" dirty="0"/>
          </a:p>
        </p:txBody>
      </p:sp>
    </p:spTree>
    <p:extLst>
      <p:ext uri="{BB962C8B-B14F-4D97-AF65-F5344CB8AC3E}">
        <p14:creationId xmlns:p14="http://schemas.microsoft.com/office/powerpoint/2010/main" val="208779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7A522-46A0-E460-2C7B-1B35CAF18B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C0D5A5-AB64-973F-6440-65051F92607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2B0494E-7F3D-54FA-2D16-E05A57D73105}"/>
              </a:ext>
            </a:extLst>
          </p:cNvPr>
          <p:cNvSpPr>
            <a:spLocks noGrp="1"/>
          </p:cNvSpPr>
          <p:nvPr>
            <p:ph type="sldNum" sz="quarter" idx="12"/>
          </p:nvPr>
        </p:nvSpPr>
        <p:spPr/>
        <p:txBody>
          <a:bodyPr/>
          <a:lstStyle/>
          <a:p>
            <a:fld id="{D57F1E4F-1CFF-5643-939E-02111984F565}" type="slidenum">
              <a:rPr lang="en-US" smtClean="0"/>
              <a:t>26</a:t>
            </a:fld>
            <a:endParaRPr lang="en-US" dirty="0"/>
          </a:p>
        </p:txBody>
      </p:sp>
      <p:pic>
        <p:nvPicPr>
          <p:cNvPr id="5" name="Picture 4">
            <a:extLst>
              <a:ext uri="{FF2B5EF4-FFF2-40B4-BE49-F238E27FC236}">
                <a16:creationId xmlns:a16="http://schemas.microsoft.com/office/drawing/2014/main" id="{7C569F14-237A-407F-6123-3E9A18BF1A41}"/>
              </a:ext>
            </a:extLst>
          </p:cNvPr>
          <p:cNvPicPr>
            <a:picLocks noChangeAspect="1"/>
          </p:cNvPicPr>
          <p:nvPr/>
        </p:nvPicPr>
        <p:blipFill>
          <a:blip r:embed="rId2"/>
          <a:stretch>
            <a:fillRect/>
          </a:stretch>
        </p:blipFill>
        <p:spPr>
          <a:xfrm>
            <a:off x="739849" y="0"/>
            <a:ext cx="7664302" cy="5715000"/>
          </a:xfrm>
          <a:prstGeom prst="rect">
            <a:avLst/>
          </a:prstGeom>
        </p:spPr>
      </p:pic>
    </p:spTree>
    <p:extLst>
      <p:ext uri="{BB962C8B-B14F-4D97-AF65-F5344CB8AC3E}">
        <p14:creationId xmlns:p14="http://schemas.microsoft.com/office/powerpoint/2010/main" val="3305937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A620ED67-6E46-7A46-93AD-3EE39C4B8501}"/>
              </a:ext>
            </a:extLst>
          </p:cNvPr>
          <p:cNvSpPr>
            <a:spLocks noGrp="1" noChangeArrowheads="1"/>
          </p:cNvSpPr>
          <p:nvPr>
            <p:ph type="title"/>
          </p:nvPr>
        </p:nvSpPr>
        <p:spPr>
          <a:xfrm>
            <a:off x="165894" y="133369"/>
            <a:ext cx="7886700" cy="577099"/>
          </a:xfrm>
        </p:spPr>
        <p:txBody>
          <a:bodyPr/>
          <a:lstStyle/>
          <a:p>
            <a:pPr eaLnBrk="1" hangingPunct="1"/>
            <a:r>
              <a:rPr lang="en-US" altLang="en-US">
                <a:ea typeface="ＭＳ Ｐゴシック" panose="020B0600070205080204" pitchFamily="34" charset="-128"/>
              </a:rPr>
              <a:t>ASCII Sample</a:t>
            </a:r>
          </a:p>
        </p:txBody>
      </p:sp>
      <p:sp>
        <p:nvSpPr>
          <p:cNvPr id="3" name="Content Placeholder 2">
            <a:extLst>
              <a:ext uri="{FF2B5EF4-FFF2-40B4-BE49-F238E27FC236}">
                <a16:creationId xmlns:a16="http://schemas.microsoft.com/office/drawing/2014/main" id="{BB8CCA41-667F-A84D-B02D-127C2C6A9C6F}"/>
              </a:ext>
            </a:extLst>
          </p:cNvPr>
          <p:cNvSpPr>
            <a:spLocks noGrp="1" noChangeArrowheads="1"/>
          </p:cNvSpPr>
          <p:nvPr>
            <p:ph idx="1"/>
          </p:nvPr>
        </p:nvSpPr>
        <p:spPr>
          <a:xfrm>
            <a:off x="165893" y="806609"/>
            <a:ext cx="8849919" cy="4775021"/>
          </a:xfrm>
        </p:spPr>
        <p:txBody>
          <a:bodyPr/>
          <a:lstStyle/>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To </a:t>
            </a:r>
            <a:r>
              <a:rPr lang="en-US" altLang="en-US" sz="1833" b="1" dirty="0">
                <a:ea typeface="ＭＳ Ｐゴシック" panose="020B0600070205080204" pitchFamily="34" charset="-128"/>
              </a:rPr>
              <a:t>encode</a:t>
            </a:r>
            <a:r>
              <a:rPr lang="en-US" altLang="en-US" sz="1833" dirty="0">
                <a:ea typeface="ＭＳ Ｐゴシック" panose="020B0600070205080204" pitchFamily="34" charset="-128"/>
              </a:rPr>
              <a:t> something in ASCII, </a:t>
            </a:r>
          </a:p>
          <a:p>
            <a:pPr marL="0" indent="0">
              <a:buNone/>
            </a:pPr>
            <a:r>
              <a:rPr lang="en-US" altLang="en-US" sz="1833" dirty="0">
                <a:ea typeface="ＭＳ Ｐゴシック" panose="020B0600070205080204" pitchFamily="34" charset="-128"/>
              </a:rPr>
              <a:t>follow the table from right to left, </a:t>
            </a:r>
          </a:p>
          <a:p>
            <a:pPr marL="0" indent="0">
              <a:buNone/>
            </a:pPr>
            <a:r>
              <a:rPr lang="en-US" altLang="en-US" sz="1833" dirty="0">
                <a:ea typeface="ＭＳ Ｐゴシック" panose="020B0600070205080204" pitchFamily="34" charset="-128"/>
              </a:rPr>
              <a:t>substituting letters for bits.</a:t>
            </a:r>
          </a:p>
          <a:p>
            <a:pPr marL="0" indent="0">
              <a:buNone/>
            </a:pPr>
            <a:endParaRPr lang="en-US" altLang="en-US" sz="1833" dirty="0">
              <a:ea typeface="ＭＳ Ｐゴシック" panose="020B0600070205080204" pitchFamily="34" charset="-128"/>
            </a:endParaRPr>
          </a:p>
          <a:p>
            <a:pPr marL="0" indent="0">
              <a:buNone/>
            </a:pPr>
            <a:r>
              <a:rPr lang="en-US" altLang="en-US" sz="1833" dirty="0">
                <a:ea typeface="ＭＳ Ｐゴシック" panose="020B0600070205080204" pitchFamily="34" charset="-128"/>
              </a:rPr>
              <a:t>To </a:t>
            </a:r>
            <a:r>
              <a:rPr lang="en-US" altLang="en-US" sz="1833" b="1" dirty="0">
                <a:ea typeface="ＭＳ Ｐゴシック" panose="020B0600070205080204" pitchFamily="34" charset="-128"/>
              </a:rPr>
              <a:t>decode</a:t>
            </a:r>
            <a:r>
              <a:rPr lang="en-US" altLang="en-US" sz="1833" dirty="0">
                <a:ea typeface="ＭＳ Ｐゴシック" panose="020B0600070205080204" pitchFamily="34" charset="-128"/>
              </a:rPr>
              <a:t> a string of bits into </a:t>
            </a:r>
          </a:p>
          <a:p>
            <a:pPr marL="0" indent="0">
              <a:buNone/>
            </a:pPr>
            <a:r>
              <a:rPr lang="en-US" altLang="en-US" sz="1833" dirty="0">
                <a:ea typeface="ＭＳ Ｐゴシック" panose="020B0600070205080204" pitchFamily="34" charset="-128"/>
              </a:rPr>
              <a:t>human readable characters, follow </a:t>
            </a:r>
          </a:p>
          <a:p>
            <a:pPr marL="0" indent="0">
              <a:buNone/>
            </a:pPr>
            <a:r>
              <a:rPr lang="en-US" altLang="en-US" sz="1833" dirty="0">
                <a:ea typeface="ＭＳ Ｐゴシック" panose="020B0600070205080204" pitchFamily="34" charset="-128"/>
              </a:rPr>
              <a:t>the table from left to right, substituting</a:t>
            </a:r>
          </a:p>
          <a:p>
            <a:pPr marL="0" indent="0">
              <a:buNone/>
            </a:pPr>
            <a:r>
              <a:rPr lang="en-US" altLang="en-US" sz="1833" dirty="0">
                <a:ea typeface="ＭＳ Ｐゴシック" panose="020B0600070205080204" pitchFamily="34" charset="-128"/>
              </a:rPr>
              <a:t>bits for letters.</a:t>
            </a:r>
          </a:p>
        </p:txBody>
      </p:sp>
      <p:sp>
        <p:nvSpPr>
          <p:cNvPr id="38915" name="TextBox 3">
            <a:extLst>
              <a:ext uri="{FF2B5EF4-FFF2-40B4-BE49-F238E27FC236}">
                <a16:creationId xmlns:a16="http://schemas.microsoft.com/office/drawing/2014/main" id="{5A83FC30-363A-F44A-A960-56946EB1886B}"/>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pic>
        <p:nvPicPr>
          <p:cNvPr id="38916" name="Picture 3">
            <a:extLst>
              <a:ext uri="{FF2B5EF4-FFF2-40B4-BE49-F238E27FC236}">
                <a16:creationId xmlns:a16="http://schemas.microsoft.com/office/drawing/2014/main" id="{BBEB7BEA-C910-F148-A998-2A272DBB50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87146" y="974405"/>
            <a:ext cx="2879990" cy="3226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Arrow Connector 3">
            <a:extLst>
              <a:ext uri="{FF2B5EF4-FFF2-40B4-BE49-F238E27FC236}">
                <a16:creationId xmlns:a16="http://schemas.microsoft.com/office/drawing/2014/main" id="{F95E1657-42A9-DC49-AFC7-6462A6CBC043}"/>
              </a:ext>
            </a:extLst>
          </p:cNvPr>
          <p:cNvCxnSpPr>
            <a:cxnSpLocks/>
          </p:cNvCxnSpPr>
          <p:nvPr/>
        </p:nvCxnSpPr>
        <p:spPr>
          <a:xfrm>
            <a:off x="5886206" y="4297140"/>
            <a:ext cx="128186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C12779A-B12E-0448-BF0F-7347D8303363}"/>
              </a:ext>
            </a:extLst>
          </p:cNvPr>
          <p:cNvSpPr txBox="1"/>
          <p:nvPr/>
        </p:nvSpPr>
        <p:spPr>
          <a:xfrm>
            <a:off x="6053292" y="4328425"/>
            <a:ext cx="947695" cy="400110"/>
          </a:xfrm>
          <a:prstGeom prst="rect">
            <a:avLst/>
          </a:prstGeom>
          <a:noFill/>
        </p:spPr>
        <p:txBody>
          <a:bodyPr wrap="none" rtlCol="0">
            <a:spAutoFit/>
          </a:bodyPr>
          <a:lstStyle/>
          <a:p>
            <a:r>
              <a:rPr lang="en-US" sz="2000" dirty="0">
                <a:solidFill>
                  <a:srgbClr val="FF0000"/>
                </a:solidFill>
              </a:rPr>
              <a:t>decode</a:t>
            </a:r>
          </a:p>
        </p:txBody>
      </p:sp>
      <p:cxnSp>
        <p:nvCxnSpPr>
          <p:cNvPr id="10" name="Straight Arrow Connector 9">
            <a:extLst>
              <a:ext uri="{FF2B5EF4-FFF2-40B4-BE49-F238E27FC236}">
                <a16:creationId xmlns:a16="http://schemas.microsoft.com/office/drawing/2014/main" id="{ABDF95F1-7709-2B48-B322-0972E58D26B3}"/>
              </a:ext>
            </a:extLst>
          </p:cNvPr>
          <p:cNvCxnSpPr>
            <a:cxnSpLocks/>
          </p:cNvCxnSpPr>
          <p:nvPr/>
        </p:nvCxnSpPr>
        <p:spPr>
          <a:xfrm flipH="1">
            <a:off x="6053292" y="813866"/>
            <a:ext cx="12163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C89A8C8-352A-8644-A4A5-084EFF78A7D2}"/>
              </a:ext>
            </a:extLst>
          </p:cNvPr>
          <p:cNvSpPr txBox="1"/>
          <p:nvPr/>
        </p:nvSpPr>
        <p:spPr>
          <a:xfrm>
            <a:off x="6220380" y="813866"/>
            <a:ext cx="944489" cy="400110"/>
          </a:xfrm>
          <a:prstGeom prst="rect">
            <a:avLst/>
          </a:prstGeom>
          <a:noFill/>
        </p:spPr>
        <p:txBody>
          <a:bodyPr wrap="none" rtlCol="0">
            <a:spAutoFit/>
          </a:bodyPr>
          <a:lstStyle/>
          <a:p>
            <a:r>
              <a:rPr lang="en-US" sz="2000" dirty="0">
                <a:solidFill>
                  <a:srgbClr val="FF0000"/>
                </a:solidFill>
              </a:rPr>
              <a:t>encode</a:t>
            </a:r>
          </a:p>
        </p:txBody>
      </p:sp>
      <p:sp>
        <p:nvSpPr>
          <p:cNvPr id="2" name="Slide Number Placeholder 1">
            <a:extLst>
              <a:ext uri="{FF2B5EF4-FFF2-40B4-BE49-F238E27FC236}">
                <a16:creationId xmlns:a16="http://schemas.microsoft.com/office/drawing/2014/main" id="{F979DED4-19E0-7833-1341-15E48B9D0AE8}"/>
              </a:ext>
            </a:extLst>
          </p:cNvPr>
          <p:cNvSpPr>
            <a:spLocks noGrp="1"/>
          </p:cNvSpPr>
          <p:nvPr>
            <p:ph type="sldNum" sz="quarter" idx="12"/>
          </p:nvPr>
        </p:nvSpPr>
        <p:spPr/>
        <p:txBody>
          <a:bodyPr/>
          <a:lstStyle/>
          <a:p>
            <a:fld id="{D57F1E4F-1CFF-5643-939E-02111984F565}" type="slidenum">
              <a:rPr lang="en-US" smtClean="0"/>
              <a:t>27</a:t>
            </a:fld>
            <a:endParaRPr lang="en-US" dirty="0"/>
          </a:p>
        </p:txBody>
      </p:sp>
    </p:spTree>
    <p:extLst>
      <p:ext uri="{BB962C8B-B14F-4D97-AF65-F5344CB8AC3E}">
        <p14:creationId xmlns:p14="http://schemas.microsoft.com/office/powerpoint/2010/main" val="5557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9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757C5CE4-E449-0B4E-873C-236EF71BBBF0}"/>
              </a:ext>
            </a:extLst>
          </p:cNvPr>
          <p:cNvSpPr>
            <a:spLocks noGrp="1" noChangeArrowheads="1"/>
          </p:cNvSpPr>
          <p:nvPr>
            <p:ph type="title"/>
          </p:nvPr>
        </p:nvSpPr>
        <p:spPr>
          <a:xfrm>
            <a:off x="207409" y="229349"/>
            <a:ext cx="7886700" cy="751361"/>
          </a:xfrm>
        </p:spPr>
        <p:txBody>
          <a:bodyPr/>
          <a:lstStyle/>
          <a:p>
            <a:pPr eaLnBrk="1" hangingPunct="1"/>
            <a:r>
              <a:rPr lang="en-US" altLang="en-US" dirty="0">
                <a:ea typeface="ＭＳ Ｐゴシック" panose="020B0600070205080204" pitchFamily="34" charset="-128"/>
              </a:rPr>
              <a:t>Unicode</a:t>
            </a:r>
          </a:p>
        </p:txBody>
      </p:sp>
      <p:sp>
        <p:nvSpPr>
          <p:cNvPr id="3" name="Content Placeholder 2">
            <a:extLst>
              <a:ext uri="{FF2B5EF4-FFF2-40B4-BE49-F238E27FC236}">
                <a16:creationId xmlns:a16="http://schemas.microsoft.com/office/drawing/2014/main" id="{4F1EC0A4-9C99-4C4C-8EB1-0CF10BF35EF6}"/>
              </a:ext>
            </a:extLst>
          </p:cNvPr>
          <p:cNvSpPr>
            <a:spLocks noGrp="1" noChangeArrowheads="1"/>
          </p:cNvSpPr>
          <p:nvPr>
            <p:ph idx="1"/>
          </p:nvPr>
        </p:nvSpPr>
        <p:spPr>
          <a:xfrm>
            <a:off x="207409" y="1142589"/>
            <a:ext cx="8761930" cy="4343061"/>
          </a:xfrm>
        </p:spPr>
        <p:txBody>
          <a:bodyPr>
            <a:normAutofit/>
          </a:bodyPr>
          <a:lstStyle/>
          <a:p>
            <a:pPr marL="0" indent="0">
              <a:buNone/>
            </a:pPr>
            <a:r>
              <a:rPr lang="en-US" altLang="en-US" sz="2000" dirty="0">
                <a:ea typeface="ＭＳ Ｐゴシック" panose="020B0600070205080204" pitchFamily="34" charset="-128"/>
              </a:rPr>
              <a:t>So, how many bits does Unicode use to encode all these characters? </a:t>
            </a:r>
            <a:r>
              <a:rPr lang="en-US" altLang="en-US" sz="2000" i="1" dirty="0">
                <a:ea typeface="ＭＳ Ｐゴシック" panose="020B0600070205080204" pitchFamily="34" charset="-128"/>
              </a:rPr>
              <a:t>None.</a:t>
            </a:r>
            <a:r>
              <a:rPr lang="en-US" altLang="en-US" sz="2000" dirty="0">
                <a:ea typeface="ＭＳ Ｐゴシック" panose="020B0600070205080204" pitchFamily="34" charset="-128"/>
              </a:rPr>
              <a:t> Because Unicode is not an encoding.</a:t>
            </a:r>
          </a:p>
          <a:p>
            <a:pPr marL="0" indent="0">
              <a:buNone/>
            </a:pPr>
            <a:endParaRPr lang="en-US" altLang="en-US" sz="2000" dirty="0">
              <a:ea typeface="ＭＳ Ｐゴシック" panose="020B0600070205080204" pitchFamily="34" charset="-128"/>
            </a:endParaRPr>
          </a:p>
          <a:p>
            <a:pPr marL="0" indent="0">
              <a:buNone/>
            </a:pPr>
            <a:r>
              <a:rPr lang="en-US" altLang="en-US" sz="2000" i="1" dirty="0">
                <a:ea typeface="ＭＳ Ｐゴシック" panose="020B0600070205080204" pitchFamily="34" charset="-128"/>
              </a:rPr>
              <a:t>Unicode</a:t>
            </a:r>
            <a:r>
              <a:rPr lang="en-US" altLang="en-US" sz="2000" dirty="0">
                <a:ea typeface="ＭＳ Ｐゴシック" panose="020B0600070205080204" pitchFamily="34" charset="-128"/>
              </a:rPr>
              <a:t> first and foremost defines a table of </a:t>
            </a:r>
            <a:r>
              <a:rPr lang="en-US" altLang="en-US" sz="2000" b="1" i="1" dirty="0">
                <a:ea typeface="ＭＳ Ｐゴシック" panose="020B0600070205080204" pitchFamily="34" charset="-128"/>
              </a:rPr>
              <a:t>code points</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for characters. That's a fancy way of saying </a:t>
            </a:r>
            <a:r>
              <a:rPr lang="en-US" altLang="en-US" sz="2000" i="1" dirty="0">
                <a:ea typeface="ＭＳ Ｐゴシック" panose="020B0600070205080204" pitchFamily="34" charset="-128"/>
              </a:rPr>
              <a:t>"65 stands for A, 66 stands for B and 9,731 stands for ☃”</a:t>
            </a:r>
            <a:r>
              <a:rPr lang="en-US" altLang="ja-JP" sz="2000" dirty="0">
                <a:ea typeface="ＭＳ Ｐゴシック" panose="020B0600070205080204" pitchFamily="34" charset="-128"/>
              </a:rPr>
              <a:t>. </a:t>
            </a:r>
          </a:p>
          <a:p>
            <a:pPr marL="0" indent="0">
              <a:buNone/>
            </a:pPr>
            <a:endParaRPr lang="en-US" altLang="en-US" sz="2000" dirty="0">
              <a:ea typeface="ＭＳ Ｐゴシック" panose="020B0600070205080204" pitchFamily="34" charset="-128"/>
            </a:endParaRPr>
          </a:p>
          <a:p>
            <a:pPr marL="0" indent="0">
              <a:buNone/>
            </a:pPr>
            <a:r>
              <a:rPr lang="en-US" altLang="en-US" sz="2000" dirty="0">
                <a:ea typeface="ＭＳ Ｐゴシック" panose="020B0600070205080204" pitchFamily="34" charset="-128"/>
              </a:rPr>
              <a:t>To represent 1,114,112 different values, two bytes aren't enough. Three bytes are, but three bytes are often awkward to work with, so four bytes would be the comfortable minimum. </a:t>
            </a:r>
          </a:p>
          <a:p>
            <a:pPr marL="0" indent="0">
              <a:buNone/>
            </a:pPr>
            <a:endParaRPr lang="en-US" altLang="en-US" sz="2000" dirty="0">
              <a:ea typeface="ＭＳ Ｐゴシック" panose="020B0600070205080204" pitchFamily="34" charset="-128"/>
            </a:endParaRPr>
          </a:p>
          <a:p>
            <a:pPr marL="0" indent="0">
              <a:buNone/>
            </a:pPr>
            <a:endParaRPr lang="en-US" altLang="en-US" sz="2000" dirty="0">
              <a:ea typeface="ＭＳ Ｐゴシック" panose="020B0600070205080204" pitchFamily="34" charset="-128"/>
            </a:endParaRPr>
          </a:p>
        </p:txBody>
      </p:sp>
      <p:sp>
        <p:nvSpPr>
          <p:cNvPr id="46083" name="TextBox 3">
            <a:extLst>
              <a:ext uri="{FF2B5EF4-FFF2-40B4-BE49-F238E27FC236}">
                <a16:creationId xmlns:a16="http://schemas.microsoft.com/office/drawing/2014/main" id="{C367070E-B850-3A4F-BE28-7BA640099D84}"/>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sp>
        <p:nvSpPr>
          <p:cNvPr id="2" name="Slide Number Placeholder 1">
            <a:extLst>
              <a:ext uri="{FF2B5EF4-FFF2-40B4-BE49-F238E27FC236}">
                <a16:creationId xmlns:a16="http://schemas.microsoft.com/office/drawing/2014/main" id="{ED6BFE49-98D9-57E5-F83F-46B6AABBA507}"/>
              </a:ext>
            </a:extLst>
          </p:cNvPr>
          <p:cNvSpPr>
            <a:spLocks noGrp="1"/>
          </p:cNvSpPr>
          <p:nvPr>
            <p:ph type="sldNum" sz="quarter" idx="12"/>
          </p:nvPr>
        </p:nvSpPr>
        <p:spPr/>
        <p:txBody>
          <a:bodyPr/>
          <a:lstStyle/>
          <a:p>
            <a:fld id="{D57F1E4F-1CFF-5643-939E-02111984F565}" type="slidenum">
              <a:rPr lang="en-US" smtClean="0"/>
              <a:t>28</a:t>
            </a:fld>
            <a:endParaRPr lang="en-US" dirty="0"/>
          </a:p>
        </p:txBody>
      </p:sp>
    </p:spTree>
    <p:extLst>
      <p:ext uri="{BB962C8B-B14F-4D97-AF65-F5344CB8AC3E}">
        <p14:creationId xmlns:p14="http://schemas.microsoft.com/office/powerpoint/2010/main" val="38665504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1DE02734-8557-4D41-97D1-1E8E963F734C}"/>
              </a:ext>
            </a:extLst>
          </p:cNvPr>
          <p:cNvSpPr>
            <a:spLocks noGrp="1" noChangeArrowheads="1"/>
          </p:cNvSpPr>
          <p:nvPr>
            <p:ph type="title"/>
          </p:nvPr>
        </p:nvSpPr>
        <p:spPr>
          <a:xfrm>
            <a:off x="133402" y="236544"/>
            <a:ext cx="7886700" cy="841376"/>
          </a:xfrm>
        </p:spPr>
        <p:txBody>
          <a:bodyPr/>
          <a:lstStyle/>
          <a:p>
            <a:pPr eaLnBrk="1" hangingPunct="1"/>
            <a:r>
              <a:rPr lang="en-US" altLang="en-US" dirty="0">
                <a:ea typeface="ＭＳ Ｐゴシック" panose="020B0600070205080204" pitchFamily="34" charset="-128"/>
              </a:rPr>
              <a:t>UTF-32</a:t>
            </a:r>
          </a:p>
        </p:txBody>
      </p:sp>
      <p:sp>
        <p:nvSpPr>
          <p:cNvPr id="3" name="Content Placeholder 2">
            <a:extLst>
              <a:ext uri="{FF2B5EF4-FFF2-40B4-BE49-F238E27FC236}">
                <a16:creationId xmlns:a16="http://schemas.microsoft.com/office/drawing/2014/main" id="{02BD6BC0-0DF6-1C41-B2F6-DF171A4BD0C7}"/>
              </a:ext>
            </a:extLst>
          </p:cNvPr>
          <p:cNvSpPr>
            <a:spLocks noGrp="1" noChangeArrowheads="1"/>
          </p:cNvSpPr>
          <p:nvPr>
            <p:ph idx="1"/>
          </p:nvPr>
        </p:nvSpPr>
        <p:spPr>
          <a:xfrm>
            <a:off x="133403" y="986319"/>
            <a:ext cx="8877196" cy="4661211"/>
          </a:xfrm>
        </p:spPr>
        <p:txBody>
          <a:bodyPr/>
          <a:lstStyle/>
          <a:p>
            <a:pPr marL="0" indent="0">
              <a:buNone/>
            </a:pPr>
            <a:endParaRPr lang="en-US" altLang="en-US" sz="2000" dirty="0">
              <a:ea typeface="ＭＳ Ｐゴシック" panose="020B0600070205080204" pitchFamily="34" charset="-128"/>
            </a:endParaRPr>
          </a:p>
          <a:p>
            <a:pPr marL="0" indent="0">
              <a:buNone/>
            </a:pPr>
            <a:r>
              <a:rPr lang="en-US" altLang="en-US" sz="2000" b="1" dirty="0">
                <a:ea typeface="ＭＳ Ｐゴシック" panose="020B0600070205080204" pitchFamily="34" charset="-128"/>
              </a:rPr>
              <a:t>UTF-32(Unicode Transformation Format) </a:t>
            </a:r>
            <a:r>
              <a:rPr lang="en-US" altLang="en-US" sz="2000" dirty="0">
                <a:ea typeface="ＭＳ Ｐゴシック" panose="020B0600070205080204" pitchFamily="34" charset="-128"/>
              </a:rPr>
              <a:t>is such an encoding that encodes all Unicode code points using 32 bits. That is, four bytes per character. </a:t>
            </a:r>
          </a:p>
          <a:p>
            <a:pPr marL="0" indent="0">
              <a:buNone/>
            </a:pPr>
            <a:endParaRPr lang="en-US" altLang="en-US" sz="2000" dirty="0">
              <a:ea typeface="ＭＳ Ｐゴシック" panose="020B0600070205080204" pitchFamily="34" charset="-128"/>
            </a:endParaRPr>
          </a:p>
          <a:p>
            <a:pPr marL="0" indent="0">
              <a:buNone/>
            </a:pPr>
            <a:r>
              <a:rPr lang="en-US" altLang="en-US" sz="2000" dirty="0">
                <a:ea typeface="ＭＳ Ｐゴシック" panose="020B0600070205080204" pitchFamily="34" charset="-128"/>
              </a:rPr>
              <a:t>UTF-32 very simple, but often wastes a lot of space. For example, if A is always encoded as 00000000 00000000 00000000 01000001 and B as 00000000 00000000 00000000 01000010 and so on, documents would bloat to 4x its necessary size. </a:t>
            </a:r>
          </a:p>
          <a:p>
            <a:pPr marL="0" indent="0">
              <a:buNone/>
            </a:pPr>
            <a:endParaRPr lang="en-US" altLang="en-US" sz="1833" dirty="0">
              <a:ea typeface="ＭＳ Ｐゴシック" panose="020B0600070205080204" pitchFamily="34" charset="-128"/>
            </a:endParaRPr>
          </a:p>
        </p:txBody>
      </p:sp>
      <p:sp>
        <p:nvSpPr>
          <p:cNvPr id="47107" name="TextBox 3">
            <a:extLst>
              <a:ext uri="{FF2B5EF4-FFF2-40B4-BE49-F238E27FC236}">
                <a16:creationId xmlns:a16="http://schemas.microsoft.com/office/drawing/2014/main" id="{76F7609D-7E75-8449-A8A5-323CA4C72880}"/>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sp>
        <p:nvSpPr>
          <p:cNvPr id="2" name="Slide Number Placeholder 1">
            <a:extLst>
              <a:ext uri="{FF2B5EF4-FFF2-40B4-BE49-F238E27FC236}">
                <a16:creationId xmlns:a16="http://schemas.microsoft.com/office/drawing/2014/main" id="{51581ECF-AAD8-80ED-F588-7694BDD6C2B6}"/>
              </a:ext>
            </a:extLst>
          </p:cNvPr>
          <p:cNvSpPr>
            <a:spLocks noGrp="1"/>
          </p:cNvSpPr>
          <p:nvPr>
            <p:ph type="sldNum" sz="quarter" idx="12"/>
          </p:nvPr>
        </p:nvSpPr>
        <p:spPr/>
        <p:txBody>
          <a:bodyPr/>
          <a:lstStyle/>
          <a:p>
            <a:fld id="{D57F1E4F-1CFF-5643-939E-02111984F565}" type="slidenum">
              <a:rPr lang="en-US" smtClean="0"/>
              <a:t>29</a:t>
            </a:fld>
            <a:endParaRPr lang="en-US" dirty="0"/>
          </a:p>
        </p:txBody>
      </p:sp>
    </p:spTree>
    <p:extLst>
      <p:ext uri="{BB962C8B-B14F-4D97-AF65-F5344CB8AC3E}">
        <p14:creationId xmlns:p14="http://schemas.microsoft.com/office/powerpoint/2010/main" val="3749436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328FB4D7-49E6-9E40-B559-A0D74E019365}"/>
              </a:ext>
            </a:extLst>
          </p:cNvPr>
          <p:cNvSpPr>
            <a:spLocks noGrp="1" noChangeArrowheads="1"/>
          </p:cNvSpPr>
          <p:nvPr>
            <p:ph type="title"/>
          </p:nvPr>
        </p:nvSpPr>
        <p:spPr>
          <a:xfrm>
            <a:off x="266925" y="197778"/>
            <a:ext cx="7888626" cy="802732"/>
          </a:xfrm>
        </p:spPr>
        <p:txBody>
          <a:bodyPr/>
          <a:lstStyle/>
          <a:p>
            <a:pPr eaLnBrk="1" hangingPunct="1"/>
            <a:r>
              <a:rPr lang="en-US" altLang="en-US" dirty="0">
                <a:ea typeface="ＭＳ Ｐゴシック" panose="020B0600070205080204" pitchFamily="34" charset="-128"/>
              </a:rPr>
              <a:t>UTF-16 and UTF-8</a:t>
            </a:r>
          </a:p>
        </p:txBody>
      </p:sp>
      <p:sp>
        <p:nvSpPr>
          <p:cNvPr id="3" name="Content Placeholder 2">
            <a:extLst>
              <a:ext uri="{FF2B5EF4-FFF2-40B4-BE49-F238E27FC236}">
                <a16:creationId xmlns:a16="http://schemas.microsoft.com/office/drawing/2014/main" id="{EDD173A5-7515-4344-96F1-DFBABC544ED0}"/>
              </a:ext>
            </a:extLst>
          </p:cNvPr>
          <p:cNvSpPr>
            <a:spLocks noGrp="1" noChangeArrowheads="1"/>
          </p:cNvSpPr>
          <p:nvPr>
            <p:ph idx="1"/>
          </p:nvPr>
        </p:nvSpPr>
        <p:spPr>
          <a:xfrm>
            <a:off x="266925" y="883578"/>
            <a:ext cx="8733237" cy="4633644"/>
          </a:xfrm>
        </p:spPr>
        <p:txBody>
          <a:bodyPr/>
          <a:lstStyle/>
          <a:p>
            <a:pPr marL="0" indent="0">
              <a:buNone/>
            </a:pPr>
            <a:r>
              <a:rPr lang="en-US" altLang="en-US" sz="1667" b="1" dirty="0">
                <a:ea typeface="ＭＳ Ｐゴシック" panose="020B0600070205080204" pitchFamily="34" charset="-128"/>
              </a:rPr>
              <a:t>UTF-16 </a:t>
            </a:r>
            <a:r>
              <a:rPr lang="en-US" altLang="en-US" sz="1667" dirty="0">
                <a:ea typeface="ＭＳ Ｐゴシック" panose="020B0600070205080204" pitchFamily="34" charset="-128"/>
              </a:rPr>
              <a:t>and </a:t>
            </a:r>
            <a:r>
              <a:rPr lang="en-US" altLang="en-US" sz="1667" b="1" dirty="0">
                <a:ea typeface="ＭＳ Ｐゴシック" panose="020B0600070205080204" pitchFamily="34" charset="-128"/>
              </a:rPr>
              <a:t>UTF-8 </a:t>
            </a:r>
            <a:r>
              <a:rPr lang="en-US" altLang="en-US" sz="1667" dirty="0">
                <a:ea typeface="ＭＳ Ｐゴシック" panose="020B0600070205080204" pitchFamily="34" charset="-128"/>
              </a:rPr>
              <a:t>are </a:t>
            </a:r>
            <a:r>
              <a:rPr lang="en-US" altLang="en-US" sz="1667" i="1" dirty="0">
                <a:ea typeface="ＭＳ Ｐゴシック" panose="020B0600070205080204" pitchFamily="34" charset="-128"/>
              </a:rPr>
              <a:t>variable-length encodings</a:t>
            </a:r>
            <a:r>
              <a:rPr lang="en-US" altLang="en-US" sz="1667" dirty="0">
                <a:ea typeface="ＭＳ Ｐゴシック" panose="020B0600070205080204" pitchFamily="34" charset="-128"/>
              </a:rPr>
              <a:t>. If a character can be represented using a single byte (because its code point is a very small number), UTF-8 will encode it with a single byte. If it requires two bytes, it will use two bytes and so on. UTF-16 is in the middle, using at least two bytes, growing to up to four bytes as necessary.</a:t>
            </a: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a:p>
            <a:pPr marL="0" indent="0">
              <a:buNone/>
            </a:pPr>
            <a:r>
              <a:rPr lang="en-US" altLang="en-US" sz="1667" b="1" dirty="0">
                <a:ea typeface="ＭＳ Ｐゴシック" panose="020B0600070205080204" pitchFamily="34" charset="-128"/>
              </a:rPr>
              <a:t>Unicode is a large table mapping characters to numbers and the different UTF encodings specify how these numbers are encoded as bits.</a:t>
            </a:r>
          </a:p>
          <a:p>
            <a:pPr marL="0" indent="0">
              <a:buNone/>
            </a:pPr>
            <a:endParaRPr lang="en-US" altLang="en-US" sz="1667" dirty="0">
              <a:ea typeface="ＭＳ Ｐゴシック" panose="020B0600070205080204" pitchFamily="34" charset="-128"/>
            </a:endParaRPr>
          </a:p>
          <a:p>
            <a:pPr marL="0" indent="0">
              <a:buNone/>
            </a:pPr>
            <a:endParaRPr lang="en-US" altLang="en-US" sz="1667" dirty="0">
              <a:ea typeface="ＭＳ Ｐゴシック" panose="020B0600070205080204" pitchFamily="34" charset="-128"/>
            </a:endParaRPr>
          </a:p>
        </p:txBody>
      </p:sp>
      <p:sp>
        <p:nvSpPr>
          <p:cNvPr id="48131" name="TextBox 3">
            <a:extLst>
              <a:ext uri="{FF2B5EF4-FFF2-40B4-BE49-F238E27FC236}">
                <a16:creationId xmlns:a16="http://schemas.microsoft.com/office/drawing/2014/main" id="{DDB8E675-AFDF-E34D-9CF4-E13C67A198ED}"/>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pic>
        <p:nvPicPr>
          <p:cNvPr id="5" name="Picture 3">
            <a:extLst>
              <a:ext uri="{FF2B5EF4-FFF2-40B4-BE49-F238E27FC236}">
                <a16:creationId xmlns:a16="http://schemas.microsoft.com/office/drawing/2014/main" id="{CA642D09-6AF6-464A-A462-CA3AD0CFF9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9302" y="2004080"/>
            <a:ext cx="6703218" cy="2700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161C1759-1CD1-C726-B41B-4CEB12A16F73}"/>
              </a:ext>
            </a:extLst>
          </p:cNvPr>
          <p:cNvSpPr>
            <a:spLocks noGrp="1"/>
          </p:cNvSpPr>
          <p:nvPr>
            <p:ph type="sldNum" sz="quarter" idx="12"/>
          </p:nvPr>
        </p:nvSpPr>
        <p:spPr/>
        <p:txBody>
          <a:bodyPr/>
          <a:lstStyle/>
          <a:p>
            <a:fld id="{D57F1E4F-1CFF-5643-939E-02111984F565}" type="slidenum">
              <a:rPr lang="en-US" smtClean="0"/>
              <a:t>30</a:t>
            </a:fld>
            <a:endParaRPr lang="en-US" dirty="0"/>
          </a:p>
        </p:txBody>
      </p:sp>
    </p:spTree>
    <p:extLst>
      <p:ext uri="{BB962C8B-B14F-4D97-AF65-F5344CB8AC3E}">
        <p14:creationId xmlns:p14="http://schemas.microsoft.com/office/powerpoint/2010/main" val="4617048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AC3C8F6C-38DD-984D-AB5D-B5D4807018F9}"/>
              </a:ext>
            </a:extLst>
          </p:cNvPr>
          <p:cNvSpPr>
            <a:spLocks noGrp="1" noChangeArrowheads="1"/>
          </p:cNvSpPr>
          <p:nvPr>
            <p:ph type="title"/>
          </p:nvPr>
        </p:nvSpPr>
        <p:spPr>
          <a:xfrm>
            <a:off x="226998" y="70742"/>
            <a:ext cx="7886700" cy="639786"/>
          </a:xfrm>
        </p:spPr>
        <p:txBody>
          <a:bodyPr/>
          <a:lstStyle/>
          <a:p>
            <a:pPr eaLnBrk="1" hangingPunct="1"/>
            <a:r>
              <a:rPr lang="en-US" altLang="en-US" dirty="0">
                <a:ea typeface="ＭＳ Ｐゴシック" panose="020B0600070205080204" pitchFamily="34" charset="-128"/>
              </a:rPr>
              <a:t>Sequences of Bits</a:t>
            </a:r>
          </a:p>
        </p:txBody>
      </p:sp>
      <p:sp>
        <p:nvSpPr>
          <p:cNvPr id="3" name="Content Placeholder 2">
            <a:extLst>
              <a:ext uri="{FF2B5EF4-FFF2-40B4-BE49-F238E27FC236}">
                <a16:creationId xmlns:a16="http://schemas.microsoft.com/office/drawing/2014/main" id="{D7CDD189-AC0E-DF4B-95CF-A617BFC2B7FC}"/>
              </a:ext>
            </a:extLst>
          </p:cNvPr>
          <p:cNvSpPr>
            <a:spLocks noGrp="1" noChangeArrowheads="1"/>
          </p:cNvSpPr>
          <p:nvPr>
            <p:ph idx="1"/>
          </p:nvPr>
        </p:nvSpPr>
        <p:spPr>
          <a:xfrm>
            <a:off x="119641" y="710528"/>
            <a:ext cx="8938901" cy="4933730"/>
          </a:xfrm>
        </p:spPr>
        <p:txBody>
          <a:bodyPr>
            <a:normAutofit/>
          </a:bodyPr>
          <a:lstStyle/>
          <a:p>
            <a:pPr marL="0" indent="0">
              <a:buNone/>
            </a:pPr>
            <a:r>
              <a:rPr lang="en-US" dirty="0"/>
              <a:t>What does a list of numbers, an image and an audio file have in common? </a:t>
            </a:r>
          </a:p>
          <a:p>
            <a:pPr marL="0" indent="0">
              <a:buNone/>
            </a:pPr>
            <a:r>
              <a:rPr lang="en-US" dirty="0"/>
              <a:t>They are all just lists of numbers!</a:t>
            </a:r>
          </a:p>
          <a:p>
            <a:pPr marL="0" indent="0">
              <a:buNone/>
            </a:pPr>
            <a:endParaRPr lang="en-US" dirty="0"/>
          </a:p>
          <a:p>
            <a:pPr marL="0" indent="0">
              <a:buNone/>
            </a:pPr>
            <a:r>
              <a:rPr lang="en-US" dirty="0"/>
              <a:t>The same sequence of bits may represent different types of data in different contexts. </a:t>
            </a:r>
          </a:p>
          <a:p>
            <a:pPr marL="0" indent="0">
              <a:buNone/>
            </a:pPr>
            <a:r>
              <a:rPr lang="en-US" sz="1800" b="1" dirty="0">
                <a:solidFill>
                  <a:srgbClr val="34A327"/>
                </a:solidFill>
                <a:latin typeface="Inconsolata" panose="020B0609030003000000" pitchFamily="49" charset="77"/>
              </a:rPr>
              <a:t>import </a:t>
            </a:r>
            <a:r>
              <a:rPr lang="en-US" sz="1800" b="1" dirty="0" err="1">
                <a:solidFill>
                  <a:srgbClr val="3C9FF2"/>
                </a:solidFill>
                <a:latin typeface="Inconsolata" panose="020B0609030003000000" pitchFamily="49" charset="77"/>
              </a:rPr>
              <a:t>numpy</a:t>
            </a:r>
            <a:r>
              <a:rPr lang="en-US" sz="1800" b="1" dirty="0">
                <a:solidFill>
                  <a:srgbClr val="34A327"/>
                </a:solidFill>
                <a:latin typeface="Inconsolata" panose="020B0609030003000000" pitchFamily="49" charset="77"/>
              </a:rPr>
              <a:t> as </a:t>
            </a:r>
            <a:r>
              <a:rPr lang="en-US" sz="1800" b="1" dirty="0">
                <a:solidFill>
                  <a:srgbClr val="3C9FF2"/>
                </a:solidFill>
                <a:latin typeface="Inconsolata" panose="020B0609030003000000" pitchFamily="49" charset="77"/>
              </a:rPr>
              <a:t>np</a:t>
            </a:r>
            <a:endParaRPr lang="en-US" sz="1800" b="1" dirty="0">
              <a:solidFill>
                <a:srgbClr val="34A327"/>
              </a:solidFill>
              <a:latin typeface="Inconsolata" panose="020B0609030003000000" pitchFamily="49" charset="77"/>
            </a:endParaRPr>
          </a:p>
          <a:p>
            <a:pPr marL="0" indent="0">
              <a:buNone/>
            </a:pPr>
            <a:r>
              <a:rPr lang="en-US" sz="1800" b="1" dirty="0">
                <a:solidFill>
                  <a:srgbClr val="34A327"/>
                </a:solidFill>
                <a:latin typeface="Inconsolata" panose="020B0609030003000000" pitchFamily="49" charset="77"/>
              </a:rPr>
              <a:t>import</a:t>
            </a:r>
            <a:r>
              <a:rPr lang="en-US" sz="1800" b="1" dirty="0">
                <a:solidFill>
                  <a:srgbClr val="000000"/>
                </a:solidFill>
                <a:latin typeface="Inconsolata" panose="020B0609030003000000" pitchFamily="49" charset="77"/>
              </a:rPr>
              <a:t> </a:t>
            </a:r>
            <a:r>
              <a:rPr lang="en-US" sz="1800" b="1" dirty="0" err="1">
                <a:solidFill>
                  <a:srgbClr val="3C9FF2"/>
                </a:solidFill>
                <a:latin typeface="Inconsolata" panose="020B0609030003000000" pitchFamily="49" charset="77"/>
              </a:rPr>
              <a:t>matplotlib.pyplot</a:t>
            </a:r>
            <a:r>
              <a:rPr lang="en-US" sz="1800" b="1" dirty="0">
                <a:solidFill>
                  <a:srgbClr val="000000"/>
                </a:solidFill>
                <a:latin typeface="Inconsolata" panose="020B0609030003000000" pitchFamily="49" charset="77"/>
              </a:rPr>
              <a:t> </a:t>
            </a:r>
            <a:r>
              <a:rPr lang="en-US" sz="1800" b="1" dirty="0">
                <a:solidFill>
                  <a:srgbClr val="34A327"/>
                </a:solidFill>
                <a:latin typeface="Inconsolata" panose="020B0609030003000000" pitchFamily="49" charset="77"/>
              </a:rPr>
              <a:t>as</a:t>
            </a:r>
            <a:r>
              <a:rPr lang="en-US" sz="1800" b="1" dirty="0">
                <a:solidFill>
                  <a:srgbClr val="000000"/>
                </a:solidFill>
                <a:latin typeface="Inconsolata" panose="020B0609030003000000" pitchFamily="49" charset="77"/>
              </a:rPr>
              <a:t> </a:t>
            </a:r>
            <a:r>
              <a:rPr lang="en-US" sz="1800" b="1" dirty="0" err="1">
                <a:solidFill>
                  <a:srgbClr val="3C9FF2"/>
                </a:solidFill>
                <a:latin typeface="Inconsolata" panose="020B0609030003000000" pitchFamily="49" charset="77"/>
              </a:rPr>
              <a:t>plt</a:t>
            </a:r>
            <a:r>
              <a:rPr lang="en-US" sz="1800" b="1" dirty="0">
                <a:solidFill>
                  <a:srgbClr val="000000"/>
                </a:solidFill>
                <a:latin typeface="Inconsolata" panose="020B0609030003000000" pitchFamily="49" charset="77"/>
              </a:rPr>
              <a:t> </a:t>
            </a:r>
            <a:endParaRPr lang="en-US" sz="1800" b="1" dirty="0">
              <a:solidFill>
                <a:srgbClr val="34A327"/>
              </a:solidFill>
              <a:latin typeface="Inconsolata" panose="020B0609030003000000" pitchFamily="49" charset="77"/>
            </a:endParaRPr>
          </a:p>
          <a:p>
            <a:pPr marL="0" indent="0">
              <a:buNone/>
            </a:pPr>
            <a:r>
              <a:rPr lang="en-US" sz="1800" b="1" dirty="0" err="1">
                <a:latin typeface="Inconsolata" panose="020B0609030003000000" pitchFamily="49" charset="77"/>
              </a:rPr>
              <a:t>nums</a:t>
            </a:r>
            <a:r>
              <a:rPr lang="en-US" sz="1800" b="1" dirty="0">
                <a:latin typeface="Inconsolata" panose="020B0609030003000000" pitchFamily="49" charset="77"/>
              </a:rPr>
              <a:t> = </a:t>
            </a:r>
            <a:r>
              <a:rPr lang="en-US" sz="1800" b="1" dirty="0" err="1">
                <a:latin typeface="Inconsolata" panose="020B0609030003000000" pitchFamily="49" charset="77"/>
              </a:rPr>
              <a:t>np.loadtxt</a:t>
            </a:r>
            <a:r>
              <a:rPr lang="en-US" sz="1800" b="1" dirty="0">
                <a:latin typeface="Inconsolata" panose="020B0609030003000000" pitchFamily="49" charset="77"/>
              </a:rPr>
              <a:t>("</a:t>
            </a:r>
            <a:r>
              <a:rPr lang="en-US" sz="1800" b="1" dirty="0" err="1">
                <a:latin typeface="Inconsolata" panose="020B0609030003000000" pitchFamily="49" charset="77"/>
              </a:rPr>
              <a:t>numbers.txt</a:t>
            </a:r>
            <a:r>
              <a:rPr lang="en-US" sz="1800" b="1" dirty="0">
                <a:latin typeface="Inconsolata" panose="020B0609030003000000" pitchFamily="49" charset="77"/>
              </a:rPr>
              <a:t>")</a:t>
            </a:r>
          </a:p>
          <a:p>
            <a:pPr marL="0" indent="0">
              <a:buNone/>
            </a:pPr>
            <a:r>
              <a:rPr lang="en-US" sz="1800" b="1" dirty="0">
                <a:latin typeface="Inconsolata" panose="020B0609030003000000" pitchFamily="49" charset="77"/>
              </a:rPr>
              <a:t>print(</a:t>
            </a:r>
            <a:r>
              <a:rPr lang="en-US" sz="1800" b="1" dirty="0" err="1">
                <a:latin typeface="Inconsolata" panose="020B0609030003000000" pitchFamily="49" charset="77"/>
              </a:rPr>
              <a:t>nums</a:t>
            </a:r>
            <a:r>
              <a:rPr lang="en-US" sz="1800" b="1" dirty="0">
                <a:latin typeface="Inconsolata" panose="020B0609030003000000" pitchFamily="49" charset="77"/>
              </a:rPr>
              <a:t>) 		</a:t>
            </a:r>
            <a:r>
              <a:rPr lang="en-US" sz="1800" b="1" dirty="0">
                <a:solidFill>
                  <a:srgbClr val="FF0000"/>
                </a:solidFill>
                <a:latin typeface="Inconsolata" panose="020B0609030003000000" pitchFamily="49" charset="77"/>
              </a:rPr>
              <a:t># </a:t>
            </a:r>
            <a:r>
              <a:rPr lang="en-US" sz="1800" b="1" dirty="0">
                <a:solidFill>
                  <a:srgbClr val="FF0000"/>
                </a:solidFill>
                <a:latin typeface="INCONSOLATA" panose="020B0609030003000000" pitchFamily="49" charset="77"/>
              </a:rPr>
              <a:t>array([210 190 225 ..., ])</a:t>
            </a:r>
          </a:p>
          <a:p>
            <a:pPr marL="0" indent="0">
              <a:buNone/>
            </a:pPr>
            <a:r>
              <a:rPr lang="en-US" sz="1800" b="1" dirty="0">
                <a:latin typeface="Inconsolata" panose="020B0609030003000000" pitchFamily="49" charset="77"/>
              </a:rPr>
              <a:t>print(</a:t>
            </a:r>
            <a:r>
              <a:rPr lang="en-US" sz="1800" b="1" dirty="0" err="1">
                <a:latin typeface="Inconsolata" panose="020B0609030003000000" pitchFamily="49" charset="77"/>
              </a:rPr>
              <a:t>nums.size</a:t>
            </a:r>
            <a:r>
              <a:rPr lang="en-US" sz="1800" b="1" dirty="0">
                <a:latin typeface="Inconsolata" panose="020B0609030003000000" pitchFamily="49" charset="77"/>
              </a:rPr>
              <a:t>) 		</a:t>
            </a:r>
            <a:r>
              <a:rPr lang="en-US" sz="1800" b="1" dirty="0">
                <a:solidFill>
                  <a:srgbClr val="FF0000"/>
                </a:solidFill>
                <a:latin typeface="INCONSOLATA" panose="020B0609030003000000" pitchFamily="49" charset="77"/>
              </a:rPr>
              <a:t># 783126</a:t>
            </a:r>
          </a:p>
          <a:p>
            <a:pPr marL="0" indent="0">
              <a:buNone/>
            </a:pPr>
            <a:endParaRPr lang="en-US" sz="1800" dirty="0">
              <a:solidFill>
                <a:srgbClr val="000000"/>
              </a:solidFill>
              <a:latin typeface="Gill Sans MT" panose="020B0502020104020203" pitchFamily="34" charset="77"/>
            </a:endParaRPr>
          </a:p>
          <a:p>
            <a:pPr marL="0" indent="0">
              <a:buNone/>
            </a:pPr>
            <a:r>
              <a:rPr lang="en-US" sz="1800" dirty="0">
                <a:solidFill>
                  <a:srgbClr val="000000"/>
                </a:solidFill>
                <a:latin typeface="Gill Sans MT" panose="020B0502020104020203" pitchFamily="34" charset="77"/>
              </a:rPr>
              <a:t>These numbers can represent anything. For example, it could represent the number of characters in a list of </a:t>
            </a:r>
            <a:r>
              <a:rPr lang="en-US" sz="1800" dirty="0">
                <a:latin typeface="Gill Sans MT" panose="020B0502020104020203" pitchFamily="34" charset="77"/>
              </a:rPr>
              <a:t>783,126 </a:t>
            </a:r>
            <a:r>
              <a:rPr lang="en-US" sz="1800" dirty="0">
                <a:solidFill>
                  <a:srgbClr val="000000"/>
                </a:solidFill>
                <a:latin typeface="Gill Sans MT" panose="020B0502020104020203" pitchFamily="34" charset="77"/>
              </a:rPr>
              <a:t>tweets that were tweeted over some one-minute interval. </a:t>
            </a:r>
          </a:p>
          <a:p>
            <a:pPr marL="0" indent="0">
              <a:buNone/>
            </a:pPr>
            <a:r>
              <a:rPr lang="en-US" sz="1800" dirty="0">
                <a:solidFill>
                  <a:srgbClr val="000000"/>
                </a:solidFill>
                <a:latin typeface="Gill Sans MT" panose="020B0502020104020203" pitchFamily="34" charset="77"/>
              </a:rPr>
              <a:t>Or this same list could represent something else entirely. See the next slide!</a:t>
            </a:r>
          </a:p>
          <a:p>
            <a:pPr marL="0" indent="0">
              <a:buNone/>
            </a:pPr>
            <a:endParaRPr lang="en-US" sz="1800" b="1" dirty="0">
              <a:solidFill>
                <a:srgbClr val="000000"/>
              </a:solidFill>
              <a:latin typeface="Inconsolata" panose="020B0609030003000000" pitchFamily="49" charset="77"/>
            </a:endParaRPr>
          </a:p>
          <a:p>
            <a:pPr marL="0" indent="0">
              <a:buNone/>
            </a:pPr>
            <a:endParaRPr lang="en-US" sz="1800" b="1" dirty="0">
              <a:solidFill>
                <a:srgbClr val="000000"/>
              </a:solidFill>
              <a:latin typeface="Inconsolata" panose="020B0609030003000000" pitchFamily="49" charset="77"/>
            </a:endParaRPr>
          </a:p>
        </p:txBody>
      </p:sp>
      <p:sp>
        <p:nvSpPr>
          <p:cNvPr id="37891" name="TextBox 3">
            <a:extLst>
              <a:ext uri="{FF2B5EF4-FFF2-40B4-BE49-F238E27FC236}">
                <a16:creationId xmlns:a16="http://schemas.microsoft.com/office/drawing/2014/main" id="{AA4154A8-D2A5-0F4B-A28A-26FA8A4D8EE6}"/>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sp>
        <p:nvSpPr>
          <p:cNvPr id="2" name="Slide Number Placeholder 1">
            <a:extLst>
              <a:ext uri="{FF2B5EF4-FFF2-40B4-BE49-F238E27FC236}">
                <a16:creationId xmlns:a16="http://schemas.microsoft.com/office/drawing/2014/main" id="{3F304BA3-D08F-F451-F93A-4E5C804004F8}"/>
              </a:ext>
            </a:extLst>
          </p:cNvPr>
          <p:cNvSpPr>
            <a:spLocks noGrp="1"/>
          </p:cNvSpPr>
          <p:nvPr>
            <p:ph type="sldNum" sz="quarter" idx="12"/>
          </p:nvPr>
        </p:nvSpPr>
        <p:spPr/>
        <p:txBody>
          <a:bodyPr/>
          <a:lstStyle/>
          <a:p>
            <a:fld id="{D57F1E4F-1CFF-5643-939E-02111984F565}" type="slidenum">
              <a:rPr lang="en-US" smtClean="0"/>
              <a:t>31</a:t>
            </a:fld>
            <a:endParaRPr lang="en-US" dirty="0"/>
          </a:p>
        </p:txBody>
      </p:sp>
    </p:spTree>
    <p:extLst>
      <p:ext uri="{BB962C8B-B14F-4D97-AF65-F5344CB8AC3E}">
        <p14:creationId xmlns:p14="http://schemas.microsoft.com/office/powerpoint/2010/main" val="781734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AC3C8F6C-38DD-984D-AB5D-B5D4807018F9}"/>
              </a:ext>
            </a:extLst>
          </p:cNvPr>
          <p:cNvSpPr>
            <a:spLocks noGrp="1" noChangeArrowheads="1"/>
          </p:cNvSpPr>
          <p:nvPr>
            <p:ph type="title"/>
          </p:nvPr>
        </p:nvSpPr>
        <p:spPr>
          <a:xfrm>
            <a:off x="226998" y="70742"/>
            <a:ext cx="7886700" cy="639786"/>
          </a:xfrm>
        </p:spPr>
        <p:txBody>
          <a:bodyPr/>
          <a:lstStyle/>
          <a:p>
            <a:pPr eaLnBrk="1" hangingPunct="1"/>
            <a:r>
              <a:rPr lang="en-US" altLang="en-US" dirty="0">
                <a:ea typeface="ＭＳ Ｐゴシック" panose="020B0600070205080204" pitchFamily="34" charset="-128"/>
              </a:rPr>
              <a:t>List of Numbers is An Image</a:t>
            </a:r>
          </a:p>
        </p:txBody>
      </p:sp>
      <p:sp>
        <p:nvSpPr>
          <p:cNvPr id="3" name="Content Placeholder 2">
            <a:extLst>
              <a:ext uri="{FF2B5EF4-FFF2-40B4-BE49-F238E27FC236}">
                <a16:creationId xmlns:a16="http://schemas.microsoft.com/office/drawing/2014/main" id="{D7CDD189-AC0E-DF4B-95CF-A617BFC2B7FC}"/>
              </a:ext>
            </a:extLst>
          </p:cNvPr>
          <p:cNvSpPr>
            <a:spLocks noGrp="1" noChangeArrowheads="1"/>
          </p:cNvSpPr>
          <p:nvPr>
            <p:ph idx="1"/>
          </p:nvPr>
        </p:nvSpPr>
        <p:spPr>
          <a:xfrm>
            <a:off x="119641" y="710528"/>
            <a:ext cx="8938901" cy="4933730"/>
          </a:xfrm>
        </p:spPr>
        <p:txBody>
          <a:bodyPr/>
          <a:lstStyle/>
          <a:p>
            <a:pPr marL="0" indent="0">
              <a:buNone/>
            </a:pPr>
            <a:r>
              <a:rPr lang="en-US" dirty="0"/>
              <a:t>The list of numbers in the previous example is now an image! We'll discuss how to write the code below in the next lecture. </a:t>
            </a:r>
          </a:p>
          <a:p>
            <a:pPr marL="0" indent="0">
              <a:buNone/>
            </a:pPr>
            <a:r>
              <a:rPr lang="en-US" sz="1800" b="1" dirty="0">
                <a:solidFill>
                  <a:srgbClr val="34A327"/>
                </a:solidFill>
                <a:latin typeface="Inconsolata" panose="020B0609030003000000" pitchFamily="49" charset="77"/>
              </a:rPr>
              <a:t>import </a:t>
            </a:r>
            <a:r>
              <a:rPr lang="en-US" sz="1800" b="1" dirty="0" err="1">
                <a:solidFill>
                  <a:srgbClr val="3C9FF2"/>
                </a:solidFill>
                <a:latin typeface="Inconsolata" panose="020B0609030003000000" pitchFamily="49" charset="77"/>
              </a:rPr>
              <a:t>numpy</a:t>
            </a:r>
            <a:r>
              <a:rPr lang="en-US" sz="1800" b="1" dirty="0">
                <a:solidFill>
                  <a:srgbClr val="34A327"/>
                </a:solidFill>
                <a:latin typeface="Inconsolata" panose="020B0609030003000000" pitchFamily="49" charset="77"/>
              </a:rPr>
              <a:t> as </a:t>
            </a:r>
            <a:r>
              <a:rPr lang="en-US" sz="1800" b="1" dirty="0">
                <a:solidFill>
                  <a:srgbClr val="3C9FF2"/>
                </a:solidFill>
                <a:latin typeface="Inconsolata" panose="020B0609030003000000" pitchFamily="49" charset="77"/>
              </a:rPr>
              <a:t>np</a:t>
            </a:r>
            <a:endParaRPr lang="en-US" sz="1800" b="1" dirty="0">
              <a:solidFill>
                <a:srgbClr val="34A327"/>
              </a:solidFill>
              <a:latin typeface="Inconsolata" panose="020B0609030003000000" pitchFamily="49" charset="77"/>
            </a:endParaRPr>
          </a:p>
          <a:p>
            <a:pPr marL="0" indent="0">
              <a:buNone/>
            </a:pPr>
            <a:r>
              <a:rPr lang="en-US" sz="1800" b="1" dirty="0">
                <a:solidFill>
                  <a:srgbClr val="34A327"/>
                </a:solidFill>
                <a:latin typeface="Inconsolata" panose="020B0609030003000000" pitchFamily="49" charset="77"/>
              </a:rPr>
              <a:t>import</a:t>
            </a:r>
            <a:r>
              <a:rPr lang="en-US" sz="1800" b="1" dirty="0">
                <a:solidFill>
                  <a:srgbClr val="000000"/>
                </a:solidFill>
                <a:latin typeface="Inconsolata" panose="020B0609030003000000" pitchFamily="49" charset="77"/>
              </a:rPr>
              <a:t> </a:t>
            </a:r>
            <a:r>
              <a:rPr lang="en-US" sz="1800" b="1" dirty="0" err="1">
                <a:solidFill>
                  <a:srgbClr val="3C9FF2"/>
                </a:solidFill>
                <a:latin typeface="Inconsolata" panose="020B0609030003000000" pitchFamily="49" charset="77"/>
              </a:rPr>
              <a:t>matplotlib.pyplot</a:t>
            </a:r>
            <a:r>
              <a:rPr lang="en-US" sz="1800" b="1" dirty="0">
                <a:solidFill>
                  <a:srgbClr val="000000"/>
                </a:solidFill>
                <a:latin typeface="Inconsolata" panose="020B0609030003000000" pitchFamily="49" charset="77"/>
              </a:rPr>
              <a:t> </a:t>
            </a:r>
            <a:r>
              <a:rPr lang="en-US" sz="1800" b="1" dirty="0">
                <a:solidFill>
                  <a:srgbClr val="34A327"/>
                </a:solidFill>
                <a:latin typeface="Inconsolata" panose="020B0609030003000000" pitchFamily="49" charset="77"/>
              </a:rPr>
              <a:t>as</a:t>
            </a:r>
            <a:r>
              <a:rPr lang="en-US" sz="1800" b="1" dirty="0">
                <a:solidFill>
                  <a:srgbClr val="000000"/>
                </a:solidFill>
                <a:latin typeface="Inconsolata" panose="020B0609030003000000" pitchFamily="49" charset="77"/>
              </a:rPr>
              <a:t> </a:t>
            </a:r>
            <a:r>
              <a:rPr lang="en-US" sz="1800" b="1" dirty="0" err="1">
                <a:solidFill>
                  <a:srgbClr val="3C9FF2"/>
                </a:solidFill>
                <a:latin typeface="Inconsolata" panose="020B0609030003000000" pitchFamily="49" charset="77"/>
              </a:rPr>
              <a:t>plt</a:t>
            </a:r>
            <a:r>
              <a:rPr lang="en-US" sz="1800" b="1" dirty="0">
                <a:solidFill>
                  <a:srgbClr val="000000"/>
                </a:solidFill>
                <a:latin typeface="Inconsolata" panose="020B0609030003000000" pitchFamily="49" charset="77"/>
              </a:rPr>
              <a:t> </a:t>
            </a:r>
          </a:p>
          <a:p>
            <a:pPr marL="0" indent="0">
              <a:buNone/>
            </a:pPr>
            <a:r>
              <a:rPr lang="en-US" sz="1800" b="1" dirty="0" err="1">
                <a:latin typeface="Inconsolata" panose="020B0609030003000000" pitchFamily="49" charset="77"/>
              </a:rPr>
              <a:t>nums</a:t>
            </a:r>
            <a:r>
              <a:rPr lang="en-US" sz="1800" b="1" dirty="0">
                <a:latin typeface="Inconsolata" panose="020B0609030003000000" pitchFamily="49" charset="77"/>
              </a:rPr>
              <a:t> = </a:t>
            </a:r>
            <a:r>
              <a:rPr lang="en-US" sz="1800" b="1" dirty="0" err="1">
                <a:latin typeface="Inconsolata" panose="020B0609030003000000" pitchFamily="49" charset="77"/>
              </a:rPr>
              <a:t>np.loadtxt</a:t>
            </a:r>
            <a:r>
              <a:rPr lang="en-US" sz="1800" b="1" dirty="0">
                <a:latin typeface="Inconsolata" panose="020B0609030003000000" pitchFamily="49" charset="77"/>
              </a:rPr>
              <a:t>("</a:t>
            </a:r>
            <a:r>
              <a:rPr lang="en-US" sz="1800" b="1" dirty="0" err="1">
                <a:latin typeface="Inconsolata" panose="020B0609030003000000" pitchFamily="49" charset="77"/>
              </a:rPr>
              <a:t>numbers.txt</a:t>
            </a:r>
            <a:r>
              <a:rPr lang="en-US" sz="1800" b="1" dirty="0">
                <a:latin typeface="Inconsolata" panose="020B0609030003000000" pitchFamily="49" charset="77"/>
              </a:rPr>
              <a:t>", </a:t>
            </a:r>
            <a:r>
              <a:rPr lang="en-US" sz="1800" b="1" dirty="0" err="1">
                <a:latin typeface="Inconsolata" panose="020B0609030003000000" pitchFamily="49" charset="77"/>
              </a:rPr>
              <a:t>dtype</a:t>
            </a:r>
            <a:r>
              <a:rPr lang="en-US" sz="1800" b="1" dirty="0">
                <a:latin typeface="Inconsolata" panose="020B0609030003000000" pitchFamily="49" charset="77"/>
              </a:rPr>
              <a:t>="uint8")</a:t>
            </a:r>
          </a:p>
          <a:p>
            <a:pPr marL="0" indent="0">
              <a:buNone/>
            </a:pPr>
            <a:r>
              <a:rPr lang="en-US" sz="1800" b="1" dirty="0">
                <a:latin typeface="Inconsolata" panose="020B0609030003000000" pitchFamily="49" charset="77"/>
              </a:rPr>
              <a:t>print(</a:t>
            </a:r>
            <a:r>
              <a:rPr lang="en-US" sz="1800" b="1" dirty="0" err="1">
                <a:latin typeface="Inconsolata" panose="020B0609030003000000" pitchFamily="49" charset="77"/>
              </a:rPr>
              <a:t>nums</a:t>
            </a:r>
            <a:r>
              <a:rPr lang="en-US" sz="1800" b="1" dirty="0">
                <a:latin typeface="Inconsolata" panose="020B0609030003000000" pitchFamily="49" charset="77"/>
              </a:rPr>
              <a:t>) 	</a:t>
            </a:r>
            <a:r>
              <a:rPr lang="en-US" sz="1800" b="1" dirty="0">
                <a:solidFill>
                  <a:srgbClr val="FF0000"/>
                </a:solidFill>
                <a:latin typeface="Inconsolata" panose="020B0609030003000000" pitchFamily="49" charset="77"/>
              </a:rPr>
              <a:t># </a:t>
            </a:r>
            <a:r>
              <a:rPr lang="en-US" sz="1800" b="1" dirty="0">
                <a:solidFill>
                  <a:srgbClr val="FF0000"/>
                </a:solidFill>
                <a:latin typeface="INCONSOLATA" panose="020B0609030003000000" pitchFamily="49" charset="77"/>
              </a:rPr>
              <a:t>array([210 190 225 ..., ]), same list of numbers</a:t>
            </a:r>
            <a:endParaRPr lang="en-US" sz="1800" b="1" dirty="0">
              <a:solidFill>
                <a:srgbClr val="34A327"/>
              </a:solidFill>
              <a:latin typeface="Inconsolata" panose="020B0609030003000000" pitchFamily="49" charset="77"/>
            </a:endParaRPr>
          </a:p>
          <a:p>
            <a:pPr marL="0" indent="0">
              <a:buNone/>
            </a:pPr>
            <a:r>
              <a:rPr lang="en-US" sz="1800" b="1" dirty="0" err="1">
                <a:solidFill>
                  <a:srgbClr val="000000"/>
                </a:solidFill>
                <a:latin typeface="Inconsolata" panose="020B0609030003000000" pitchFamily="49" charset="77"/>
              </a:rPr>
              <a:t>nums</a:t>
            </a:r>
            <a:r>
              <a:rPr lang="en-US" sz="1800" b="1" dirty="0">
                <a:solidFill>
                  <a:srgbClr val="000000"/>
                </a:solidFill>
                <a:latin typeface="Inconsolata" panose="020B0609030003000000" pitchFamily="49" charset="77"/>
              </a:rPr>
              <a:t> = </a:t>
            </a:r>
            <a:r>
              <a:rPr lang="en-US" sz="1800" b="1" dirty="0" err="1">
                <a:solidFill>
                  <a:srgbClr val="000000"/>
                </a:solidFill>
                <a:latin typeface="Inconsolata" panose="020B0609030003000000" pitchFamily="49" charset="77"/>
              </a:rPr>
              <a:t>nums.reshape</a:t>
            </a:r>
            <a:r>
              <a:rPr lang="en-US" sz="1800" b="1" dirty="0">
                <a:solidFill>
                  <a:srgbClr val="000000"/>
                </a:solidFill>
                <a:latin typeface="Inconsolata" panose="020B0609030003000000" pitchFamily="49" charset="77"/>
              </a:rPr>
              <a:t>(417, 626, 3)</a:t>
            </a:r>
          </a:p>
          <a:p>
            <a:pPr marL="0" indent="0">
              <a:buNone/>
            </a:pPr>
            <a:r>
              <a:rPr lang="en-US" sz="1800" b="1" dirty="0">
                <a:solidFill>
                  <a:srgbClr val="000000"/>
                </a:solidFill>
                <a:latin typeface="Inconsolata" panose="020B0609030003000000" pitchFamily="49" charset="77"/>
              </a:rPr>
              <a:t>fig, ax = </a:t>
            </a:r>
            <a:r>
              <a:rPr lang="en-US" sz="1800" b="1" dirty="0" err="1">
                <a:solidFill>
                  <a:srgbClr val="000000"/>
                </a:solidFill>
                <a:latin typeface="Inconsolata" panose="020B0609030003000000" pitchFamily="49" charset="77"/>
              </a:rPr>
              <a:t>plt.subplots</a:t>
            </a:r>
            <a:r>
              <a:rPr lang="en-US" sz="1800" b="1" dirty="0">
                <a:solidFill>
                  <a:srgbClr val="000000"/>
                </a:solidFill>
                <a:latin typeface="Inconsolata" panose="020B0609030003000000" pitchFamily="49" charset="77"/>
              </a:rPr>
              <a:t>()</a:t>
            </a:r>
          </a:p>
          <a:p>
            <a:pPr marL="0" indent="0">
              <a:buNone/>
            </a:pPr>
            <a:r>
              <a:rPr lang="en-US" altLang="en-US" sz="1800" b="1" dirty="0" err="1">
                <a:latin typeface="Inconsolata" panose="020B0609030003000000" pitchFamily="49" charset="77"/>
                <a:ea typeface="ＭＳ Ｐゴシック" panose="020B0600070205080204" pitchFamily="34" charset="-128"/>
              </a:rPr>
              <a:t>ax.imshow</a:t>
            </a:r>
            <a:r>
              <a:rPr lang="en-US" altLang="en-US" sz="1800" b="1" dirty="0">
                <a:latin typeface="Inconsolata" panose="020B0609030003000000" pitchFamily="49" charset="77"/>
                <a:ea typeface="ＭＳ Ｐゴシック" panose="020B0600070205080204" pitchFamily="34" charset="-128"/>
              </a:rPr>
              <a:t>(</a:t>
            </a:r>
            <a:r>
              <a:rPr lang="en-US" altLang="en-US" sz="1800" b="1" dirty="0" err="1">
                <a:latin typeface="Inconsolata" panose="020B0609030003000000" pitchFamily="49" charset="77"/>
                <a:ea typeface="ＭＳ Ｐゴシック" panose="020B0600070205080204" pitchFamily="34" charset="-128"/>
              </a:rPr>
              <a:t>nums</a:t>
            </a:r>
            <a:r>
              <a:rPr lang="en-US" altLang="en-US" sz="1800" b="1" dirty="0">
                <a:latin typeface="Inconsolata" panose="020B0609030003000000" pitchFamily="49" charset="77"/>
                <a:ea typeface="ＭＳ Ｐゴシック" panose="020B0600070205080204" pitchFamily="34" charset="-128"/>
              </a:rPr>
              <a:t>)</a:t>
            </a:r>
          </a:p>
          <a:p>
            <a:pPr marL="0" indent="0">
              <a:buNone/>
            </a:pPr>
            <a:endParaRPr lang="en-US" sz="1800" b="1" dirty="0">
              <a:solidFill>
                <a:srgbClr val="34A327"/>
              </a:solidFill>
              <a:latin typeface="Inconsolata" panose="020B0609030003000000" pitchFamily="49" charset="77"/>
            </a:endParaRPr>
          </a:p>
          <a:p>
            <a:pPr marL="0" indent="0">
              <a:buNone/>
            </a:pPr>
            <a:endParaRPr lang="en-US" altLang="en-US" sz="1800" dirty="0">
              <a:latin typeface="Tahoma" panose="020B0604030504040204" pitchFamily="34" charset="0"/>
              <a:ea typeface="ＭＳ Ｐゴシック" panose="020B0600070205080204" pitchFamily="34" charset="-128"/>
            </a:endParaRPr>
          </a:p>
          <a:p>
            <a:pPr marL="0" indent="0">
              <a:buNone/>
            </a:pPr>
            <a:endParaRPr lang="en-US" altLang="en-US" sz="1833" dirty="0">
              <a:ea typeface="ＭＳ Ｐゴシック" panose="020B0600070205080204" pitchFamily="34" charset="-128"/>
            </a:endParaRPr>
          </a:p>
        </p:txBody>
      </p:sp>
      <p:sp>
        <p:nvSpPr>
          <p:cNvPr id="37891" name="TextBox 3">
            <a:extLst>
              <a:ext uri="{FF2B5EF4-FFF2-40B4-BE49-F238E27FC236}">
                <a16:creationId xmlns:a16="http://schemas.microsoft.com/office/drawing/2014/main" id="{AA4154A8-D2A5-0F4B-A28A-26FA8A4D8EE6}"/>
              </a:ext>
            </a:extLst>
          </p:cNvPr>
          <p:cNvSpPr txBox="1">
            <a:spLocks noChangeArrowheads="1"/>
          </p:cNvSpPr>
          <p:nvPr/>
        </p:nvSpPr>
        <p:spPr bwMode="auto">
          <a:xfrm>
            <a:off x="3892021" y="6747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500"/>
          </a:p>
        </p:txBody>
      </p:sp>
      <p:pic>
        <p:nvPicPr>
          <p:cNvPr id="2" name="Picture 1">
            <a:extLst>
              <a:ext uri="{FF2B5EF4-FFF2-40B4-BE49-F238E27FC236}">
                <a16:creationId xmlns:a16="http://schemas.microsoft.com/office/drawing/2014/main" id="{26261424-4D92-434A-9647-D9B174BCFE30}"/>
              </a:ext>
            </a:extLst>
          </p:cNvPr>
          <p:cNvPicPr>
            <a:picLocks noChangeAspect="1"/>
          </p:cNvPicPr>
          <p:nvPr/>
        </p:nvPicPr>
        <p:blipFill>
          <a:blip r:embed="rId2"/>
          <a:stretch>
            <a:fillRect/>
          </a:stretch>
        </p:blipFill>
        <p:spPr>
          <a:xfrm>
            <a:off x="5084748" y="2828621"/>
            <a:ext cx="3957111" cy="2815637"/>
          </a:xfrm>
          <a:prstGeom prst="rect">
            <a:avLst/>
          </a:prstGeom>
        </p:spPr>
      </p:pic>
      <p:sp>
        <p:nvSpPr>
          <p:cNvPr id="4" name="TextBox 3">
            <a:extLst>
              <a:ext uri="{FF2B5EF4-FFF2-40B4-BE49-F238E27FC236}">
                <a16:creationId xmlns:a16="http://schemas.microsoft.com/office/drawing/2014/main" id="{82244787-A2A1-4749-A8B7-E2FA026920E8}"/>
              </a:ext>
            </a:extLst>
          </p:cNvPr>
          <p:cNvSpPr txBox="1"/>
          <p:nvPr/>
        </p:nvSpPr>
        <p:spPr>
          <a:xfrm>
            <a:off x="717847" y="4236439"/>
            <a:ext cx="3487943" cy="1015663"/>
          </a:xfrm>
          <a:prstGeom prst="rect">
            <a:avLst/>
          </a:prstGeom>
          <a:noFill/>
        </p:spPr>
        <p:txBody>
          <a:bodyPr wrap="none" rtlCol="0">
            <a:spAutoFit/>
          </a:bodyPr>
          <a:lstStyle/>
          <a:p>
            <a:r>
              <a:rPr lang="en-US" sz="2000" dirty="0">
                <a:solidFill>
                  <a:srgbClr val="FF0000"/>
                </a:solidFill>
              </a:rPr>
              <a:t>The following output is </a:t>
            </a:r>
          </a:p>
          <a:p>
            <a:r>
              <a:rPr lang="en-US" sz="2000" dirty="0">
                <a:solidFill>
                  <a:srgbClr val="FF0000"/>
                </a:solidFill>
              </a:rPr>
              <a:t>produced by running the above </a:t>
            </a:r>
          </a:p>
          <a:p>
            <a:r>
              <a:rPr lang="en-US" sz="2000" dirty="0">
                <a:solidFill>
                  <a:srgbClr val="FF0000"/>
                </a:solidFill>
              </a:rPr>
              <a:t>code on the </a:t>
            </a:r>
            <a:r>
              <a:rPr lang="en-US" sz="2000" dirty="0" err="1">
                <a:solidFill>
                  <a:srgbClr val="FF0000"/>
                </a:solidFill>
              </a:rPr>
              <a:t>Jupyter</a:t>
            </a:r>
            <a:r>
              <a:rPr lang="en-US" sz="2000" dirty="0">
                <a:solidFill>
                  <a:srgbClr val="FF0000"/>
                </a:solidFill>
              </a:rPr>
              <a:t> Notebook</a:t>
            </a:r>
          </a:p>
        </p:txBody>
      </p:sp>
      <p:cxnSp>
        <p:nvCxnSpPr>
          <p:cNvPr id="7" name="Straight Arrow Connector 6">
            <a:extLst>
              <a:ext uri="{FF2B5EF4-FFF2-40B4-BE49-F238E27FC236}">
                <a16:creationId xmlns:a16="http://schemas.microsoft.com/office/drawing/2014/main" id="{30424A34-CC6B-CA47-AE5D-5E507CCCA0D2}"/>
              </a:ext>
            </a:extLst>
          </p:cNvPr>
          <p:cNvCxnSpPr>
            <a:cxnSpLocks/>
          </p:cNvCxnSpPr>
          <p:nvPr/>
        </p:nvCxnSpPr>
        <p:spPr>
          <a:xfrm>
            <a:off x="3564855" y="4391143"/>
            <a:ext cx="146007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668A867-E1EF-5B37-0B6C-E1E285610D68}"/>
              </a:ext>
            </a:extLst>
          </p:cNvPr>
          <p:cNvSpPr>
            <a:spLocks noGrp="1"/>
          </p:cNvSpPr>
          <p:nvPr>
            <p:ph type="sldNum" sz="quarter" idx="12"/>
          </p:nvPr>
        </p:nvSpPr>
        <p:spPr/>
        <p:txBody>
          <a:bodyPr/>
          <a:lstStyle/>
          <a:p>
            <a:fld id="{D57F1E4F-1CFF-5643-939E-02111984F565}" type="slidenum">
              <a:rPr lang="en-US" smtClean="0"/>
              <a:t>32</a:t>
            </a:fld>
            <a:endParaRPr lang="en-US" dirty="0"/>
          </a:p>
        </p:txBody>
      </p:sp>
    </p:spTree>
    <p:extLst>
      <p:ext uri="{BB962C8B-B14F-4D97-AF65-F5344CB8AC3E}">
        <p14:creationId xmlns:p14="http://schemas.microsoft.com/office/powerpoint/2010/main" val="418910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1680CCD0-15B9-9C43-A98A-AA8370C7D7D7}"/>
              </a:ext>
            </a:extLst>
          </p:cNvPr>
          <p:cNvSpPr>
            <a:spLocks noGrp="1" noChangeArrowheads="1"/>
          </p:cNvSpPr>
          <p:nvPr>
            <p:ph type="title"/>
          </p:nvPr>
        </p:nvSpPr>
        <p:spPr>
          <a:xfrm>
            <a:off x="113207" y="127000"/>
            <a:ext cx="7886700" cy="565989"/>
          </a:xfrm>
        </p:spPr>
        <p:txBody>
          <a:bodyPr/>
          <a:lstStyle/>
          <a:p>
            <a:pPr eaLnBrk="1" hangingPunct="1"/>
            <a:r>
              <a:rPr lang="en-US" altLang="en-US" dirty="0">
                <a:latin typeface="Tahoma" panose="020B0604030504040204" pitchFamily="34" charset="0"/>
                <a:ea typeface="ＭＳ Ｐゴシック" panose="020B0600070205080204" pitchFamily="34" charset="-128"/>
              </a:rPr>
              <a:t>Digital vs. Analog</a:t>
            </a:r>
          </a:p>
        </p:txBody>
      </p:sp>
      <p:sp>
        <p:nvSpPr>
          <p:cNvPr id="16386" name="Rectangle 3">
            <a:extLst>
              <a:ext uri="{FF2B5EF4-FFF2-40B4-BE49-F238E27FC236}">
                <a16:creationId xmlns:a16="http://schemas.microsoft.com/office/drawing/2014/main" id="{BDE71382-597F-7140-BB2A-61A70538093D}"/>
              </a:ext>
            </a:extLst>
          </p:cNvPr>
          <p:cNvSpPr>
            <a:spLocks noGrp="1" noChangeArrowheads="1"/>
          </p:cNvSpPr>
          <p:nvPr>
            <p:ph type="body" idx="1"/>
          </p:nvPr>
        </p:nvSpPr>
        <p:spPr>
          <a:xfrm>
            <a:off x="188007" y="692989"/>
            <a:ext cx="8842786" cy="4895011"/>
          </a:xfrm>
        </p:spPr>
        <p:txBody>
          <a:bodyPr>
            <a:normAutofit/>
          </a:bodyPr>
          <a:lstStyle/>
          <a:p>
            <a:pPr marL="0" indent="0">
              <a:buNone/>
            </a:pPr>
            <a:r>
              <a:rPr lang="en-US" altLang="en-US" sz="2000" dirty="0">
                <a:latin typeface="Gill Sans MT" panose="020B0502020104020203" pitchFamily="34" charset="77"/>
                <a:ea typeface="ＭＳ Ｐゴシック" panose="020B0600070205080204" pitchFamily="34" charset="-128"/>
              </a:rPr>
              <a:t>Computers can only understand </a:t>
            </a:r>
            <a:r>
              <a:rPr lang="en-US" altLang="en-US" sz="2000" b="1" dirty="0">
                <a:latin typeface="Gill Sans MT" panose="020B0502020104020203" pitchFamily="34" charset="77"/>
                <a:ea typeface="ＭＳ Ｐゴシック" panose="020B0600070205080204" pitchFamily="34" charset="-128"/>
              </a:rPr>
              <a:t>digital</a:t>
            </a:r>
            <a:r>
              <a:rPr lang="en-US" altLang="en-US" sz="2000" dirty="0">
                <a:latin typeface="Gill Sans MT" panose="020B0502020104020203" pitchFamily="34" charset="77"/>
                <a:ea typeface="ＭＳ Ｐゴシック" panose="020B0600070205080204" pitchFamily="34" charset="-128"/>
              </a:rPr>
              <a:t> </a:t>
            </a:r>
            <a:r>
              <a:rPr lang="en-US" altLang="en-US" sz="2000" b="1" dirty="0">
                <a:latin typeface="Gill Sans MT" panose="020B0502020104020203" pitchFamily="34" charset="77"/>
                <a:ea typeface="ＭＳ Ｐゴシック" panose="020B0600070205080204" pitchFamily="34" charset="-128"/>
              </a:rPr>
              <a:t>data</a:t>
            </a:r>
            <a:r>
              <a:rPr lang="en-US" altLang="en-US" sz="2000" dirty="0">
                <a:latin typeface="Gill Sans MT" panose="020B0502020104020203" pitchFamily="34" charset="77"/>
                <a:ea typeface="ＭＳ Ｐゴシック" panose="020B0600070205080204" pitchFamily="34" charset="-128"/>
              </a:rPr>
              <a:t>: discrete values like a list of integers, sequences of 0's and 1's. </a:t>
            </a:r>
          </a:p>
          <a:p>
            <a:pPr marL="0" indent="0">
              <a:buNone/>
            </a:pPr>
            <a:endParaRPr lang="en-US" altLang="en-US" sz="2000" dirty="0">
              <a:latin typeface="Gill Sans MT" panose="020B0502020104020203" pitchFamily="34" charset="77"/>
              <a:ea typeface="ＭＳ Ｐゴシック" panose="020B0600070205080204" pitchFamily="34" charset="-128"/>
            </a:endParaRPr>
          </a:p>
          <a:p>
            <a:pPr marL="0" indent="0">
              <a:buNone/>
            </a:pPr>
            <a:r>
              <a:rPr lang="en-US" altLang="en-US" sz="2000" b="1" dirty="0">
                <a:latin typeface="Gill Sans MT" panose="020B0502020104020203" pitchFamily="34" charset="77"/>
                <a:ea typeface="ＭＳ Ｐゴシック" panose="020B0600070205080204" pitchFamily="34" charset="-128"/>
              </a:rPr>
              <a:t>Analog data</a:t>
            </a:r>
            <a:r>
              <a:rPr lang="en-US" altLang="en-US" sz="2000" dirty="0">
                <a:latin typeface="Gill Sans MT" panose="020B0502020104020203" pitchFamily="34" charset="77"/>
                <a:ea typeface="ＭＳ Ｐゴシック" panose="020B0600070205080204" pitchFamily="34" charset="-128"/>
              </a:rPr>
              <a:t> have values that change smoothly, rather than in discrete intervals, over time. Some examples of analog data include temperatures over a period of time, pitch and volume of music, colors of a painting, or position of a sprinter during a race. </a:t>
            </a:r>
          </a:p>
          <a:p>
            <a:pPr lvl="1" eaLnBrk="1" hangingPunct="1"/>
            <a:r>
              <a:rPr lang="en-US" altLang="en-US" sz="2000" dirty="0">
                <a:latin typeface="Gill Sans MT" panose="020B0502020104020203" pitchFamily="34" charset="77"/>
              </a:rPr>
              <a:t>analog signals are continuous and can take on an infinite possible values(the real numbers)</a:t>
            </a:r>
          </a:p>
          <a:p>
            <a:pPr lvl="1" eaLnBrk="1" hangingPunct="1"/>
            <a:r>
              <a:rPr lang="en-US" altLang="en-US" sz="2000" dirty="0">
                <a:latin typeface="Gill Sans MT" panose="020B0502020104020203" pitchFamily="34" charset="77"/>
              </a:rPr>
              <a:t>digital signals are finite. For example, 8-bit colors can take on one of 256 discrete, finite possibilities. But actual colors can take on any of an infinite possible values or shades. </a:t>
            </a:r>
          </a:p>
          <a:p>
            <a:pPr eaLnBrk="1" hangingPunct="1"/>
            <a:endParaRPr lang="en-US" altLang="en-US" sz="2000" dirty="0">
              <a:latin typeface="Gill Sans MT" panose="020B0502020104020203" pitchFamily="34" charset="77"/>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CA6313AC-4191-AE91-1732-923B98342B31}"/>
              </a:ext>
            </a:extLst>
          </p:cNvPr>
          <p:cNvSpPr>
            <a:spLocks noGrp="1"/>
          </p:cNvSpPr>
          <p:nvPr>
            <p:ph type="sldNum" sz="quarter" idx="12"/>
          </p:nvPr>
        </p:nvSpPr>
        <p:spPr/>
        <p:txBody>
          <a:bodyPr/>
          <a:lstStyle/>
          <a:p>
            <a:fld id="{D57F1E4F-1CFF-5643-939E-02111984F565}" type="slidenum">
              <a:rPr lang="en-US" smtClean="0"/>
              <a:t>33</a:t>
            </a:fld>
            <a:endParaRPr lang="en-US" dirty="0"/>
          </a:p>
        </p:txBody>
      </p:sp>
    </p:spTree>
    <p:extLst>
      <p:ext uri="{BB962C8B-B14F-4D97-AF65-F5344CB8AC3E}">
        <p14:creationId xmlns:p14="http://schemas.microsoft.com/office/powerpoint/2010/main" val="6304086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1680CCD0-15B9-9C43-A98A-AA8370C7D7D7}"/>
              </a:ext>
            </a:extLst>
          </p:cNvPr>
          <p:cNvSpPr>
            <a:spLocks noGrp="1" noChangeArrowheads="1"/>
          </p:cNvSpPr>
          <p:nvPr>
            <p:ph type="title"/>
          </p:nvPr>
        </p:nvSpPr>
        <p:spPr>
          <a:xfrm>
            <a:off x="113207" y="127000"/>
            <a:ext cx="7886700" cy="565989"/>
          </a:xfrm>
        </p:spPr>
        <p:txBody>
          <a:bodyPr/>
          <a:lstStyle/>
          <a:p>
            <a:pPr eaLnBrk="1" hangingPunct="1"/>
            <a:r>
              <a:rPr lang="en-US" altLang="en-US" dirty="0">
                <a:latin typeface="Tahoma" panose="020B0604030504040204" pitchFamily="34" charset="0"/>
                <a:ea typeface="ＭＳ Ｐゴシック" panose="020B0600070205080204" pitchFamily="34" charset="-128"/>
              </a:rPr>
              <a:t>Digital vs. Analog</a:t>
            </a:r>
          </a:p>
        </p:txBody>
      </p:sp>
      <p:sp>
        <p:nvSpPr>
          <p:cNvPr id="16386" name="Rectangle 3">
            <a:extLst>
              <a:ext uri="{FF2B5EF4-FFF2-40B4-BE49-F238E27FC236}">
                <a16:creationId xmlns:a16="http://schemas.microsoft.com/office/drawing/2014/main" id="{BDE71382-597F-7140-BB2A-61A70538093D}"/>
              </a:ext>
            </a:extLst>
          </p:cNvPr>
          <p:cNvSpPr>
            <a:spLocks noGrp="1" noChangeArrowheads="1"/>
          </p:cNvSpPr>
          <p:nvPr>
            <p:ph type="body" idx="1"/>
          </p:nvPr>
        </p:nvSpPr>
        <p:spPr>
          <a:xfrm>
            <a:off x="188007" y="692989"/>
            <a:ext cx="8842786" cy="4895011"/>
          </a:xfrm>
        </p:spPr>
        <p:txBody>
          <a:bodyPr>
            <a:noAutofit/>
          </a:bodyPr>
          <a:lstStyle/>
          <a:p>
            <a:pPr marL="0" indent="0" eaLnBrk="1" hangingPunct="1">
              <a:buNone/>
            </a:pPr>
            <a:r>
              <a:rPr lang="en-US" sz="2000" dirty="0"/>
              <a:t>Analog data can be closely approximated digitally using a </a:t>
            </a:r>
            <a:r>
              <a:rPr lang="en-US" sz="2000" b="1" dirty="0"/>
              <a:t>sampling technique</a:t>
            </a:r>
            <a:r>
              <a:rPr lang="en-US" sz="2000" dirty="0"/>
              <a:t>, which means measuring values of the analog signal at regular intervals called </a:t>
            </a:r>
            <a:r>
              <a:rPr lang="en-US" sz="2000" b="1" dirty="0"/>
              <a:t>samples</a:t>
            </a:r>
            <a:r>
              <a:rPr lang="en-US" sz="2000" dirty="0"/>
              <a:t>.</a:t>
            </a:r>
          </a:p>
          <a:p>
            <a:pPr marL="0" indent="0" eaLnBrk="1" hangingPunct="1">
              <a:buNone/>
            </a:pPr>
            <a:endParaRPr lang="en-US" sz="2000" dirty="0"/>
          </a:p>
          <a:p>
            <a:pPr marL="0" indent="0" eaLnBrk="1" hangingPunct="1">
              <a:buNone/>
            </a:pPr>
            <a:r>
              <a:rPr lang="en-US" sz="2000" dirty="0"/>
              <a:t>The samples are measured to figure out the exact bits required to store each sample. </a:t>
            </a:r>
            <a:r>
              <a:rPr lang="en-US" altLang="en-US" sz="2000" dirty="0">
                <a:latin typeface="Gill Sans MT" panose="020B0502020104020203" pitchFamily="34" charset="77"/>
                <a:ea typeface="ＭＳ Ｐゴシック" panose="020B0600070205080204" pitchFamily="34" charset="-128"/>
              </a:rPr>
              <a:t>The number of samples measured per second is the </a:t>
            </a:r>
            <a:r>
              <a:rPr lang="en-US" altLang="en-US" sz="2000" b="1" dirty="0">
                <a:latin typeface="Gill Sans MT" panose="020B0502020104020203" pitchFamily="34" charset="77"/>
                <a:ea typeface="ＭＳ Ｐゴシック" panose="020B0600070205080204" pitchFamily="34" charset="-128"/>
              </a:rPr>
              <a:t>sampling rate</a:t>
            </a:r>
            <a:r>
              <a:rPr lang="en-US" altLang="en-US" sz="2000" dirty="0">
                <a:latin typeface="Gill Sans MT" panose="020B0502020104020203" pitchFamily="34" charset="77"/>
                <a:ea typeface="ＭＳ Ｐゴシック" panose="020B0600070205080204" pitchFamily="34" charset="-128"/>
              </a:rPr>
              <a:t>, the higher the rate the better the quality.</a:t>
            </a:r>
          </a:p>
          <a:p>
            <a:pPr eaLnBrk="1" hangingPunct="1">
              <a:buFontTx/>
              <a:buNone/>
            </a:pPr>
            <a:endParaRPr lang="en-US" altLang="en-US" sz="2000" dirty="0">
              <a:latin typeface="Gill Sans MT" panose="020B0502020104020203" pitchFamily="34" charset="77"/>
              <a:ea typeface="ＭＳ Ｐゴシック" panose="020B0600070205080204" pitchFamily="34" charset="-128"/>
            </a:endParaRPr>
          </a:p>
          <a:p>
            <a:pPr marL="0" indent="0">
              <a:buNone/>
            </a:pPr>
            <a:r>
              <a:rPr lang="en-US" altLang="en-US" sz="2000" dirty="0">
                <a:latin typeface="Gill Sans MT" panose="020B0502020104020203" pitchFamily="34" charset="77"/>
                <a:ea typeface="ＭＳ Ｐゴシック" panose="020B0600070205080204" pitchFamily="34" charset="-128"/>
              </a:rPr>
              <a:t>CD-quality has a rate of 44,100 samples</a:t>
            </a:r>
          </a:p>
          <a:p>
            <a:pPr marL="0" indent="0">
              <a:buNone/>
            </a:pPr>
            <a:r>
              <a:rPr lang="en-US" altLang="en-US" sz="2000" dirty="0">
                <a:latin typeface="Gill Sans MT" panose="020B0502020104020203" pitchFamily="34" charset="77"/>
                <a:ea typeface="ＭＳ Ｐゴシック" panose="020B0600070205080204" pitchFamily="34" charset="-128"/>
              </a:rPr>
              <a:t> per second(44,100 Hz or 44.1 kHz). </a:t>
            </a:r>
          </a:p>
          <a:p>
            <a:pPr marL="0" indent="0">
              <a:buNone/>
            </a:pPr>
            <a:endParaRPr lang="en-US" altLang="en-US" sz="2000" dirty="0">
              <a:latin typeface="Gill Sans MT" panose="020B0502020104020203" pitchFamily="34" charset="77"/>
              <a:ea typeface="ＭＳ Ｐゴシック" panose="020B0600070205080204" pitchFamily="34" charset="-128"/>
            </a:endParaRPr>
          </a:p>
          <a:p>
            <a:pPr marL="0" indent="0">
              <a:buNone/>
            </a:pPr>
            <a:endParaRPr lang="en-US" altLang="en-US" sz="2000" dirty="0">
              <a:latin typeface="Gill Sans MT" panose="020B0502020104020203" pitchFamily="34" charset="77"/>
              <a:ea typeface="ＭＳ Ｐゴシック" panose="020B0600070205080204" pitchFamily="34" charset="-128"/>
            </a:endParaRPr>
          </a:p>
          <a:p>
            <a:pPr marL="0" indent="0">
              <a:buNone/>
            </a:pPr>
            <a:endParaRPr lang="en-US" altLang="en-US" sz="2000" dirty="0">
              <a:latin typeface="Gill Sans MT" panose="020B0502020104020203" pitchFamily="34" charset="77"/>
              <a:ea typeface="ＭＳ Ｐゴシック" panose="020B0600070205080204" pitchFamily="34" charset="-128"/>
            </a:endParaRPr>
          </a:p>
          <a:p>
            <a:pPr marL="0" indent="0">
              <a:buNone/>
            </a:pPr>
            <a:r>
              <a:rPr lang="en-US" altLang="en-US" sz="1800" dirty="0">
                <a:latin typeface="Tahoma" panose="020B0604030504040204" pitchFamily="34" charset="0"/>
                <a:ea typeface="ＭＳ Ｐゴシック" panose="020B0600070205080204" pitchFamily="34" charset="-128"/>
              </a:rPr>
              <a:t>       Analog	       Low sampling rate	  High sampling rate</a:t>
            </a:r>
          </a:p>
          <a:p>
            <a:pPr marL="0" indent="0">
              <a:buNone/>
            </a:pPr>
            <a:endParaRPr lang="en-US" altLang="en-US" sz="2000" dirty="0">
              <a:latin typeface="Gill Sans MT" panose="020B0502020104020203" pitchFamily="34" charset="77"/>
              <a:ea typeface="ＭＳ Ｐゴシック" panose="020B0600070205080204" pitchFamily="34" charset="-128"/>
            </a:endParaRPr>
          </a:p>
          <a:p>
            <a:pPr marL="0" indent="0" eaLnBrk="1" hangingPunct="1">
              <a:buNone/>
            </a:pPr>
            <a:endParaRPr lang="en-US" altLang="en-US" sz="2000" dirty="0">
              <a:latin typeface="Gill Sans MT" panose="020B0502020104020203" pitchFamily="34" charset="77"/>
              <a:ea typeface="ＭＳ Ｐゴシック" panose="020B0600070205080204" pitchFamily="34" charset="-128"/>
            </a:endParaRPr>
          </a:p>
        </p:txBody>
      </p:sp>
      <p:pic>
        <p:nvPicPr>
          <p:cNvPr id="47107" name="Picture 3">
            <a:extLst>
              <a:ext uri="{FF2B5EF4-FFF2-40B4-BE49-F238E27FC236}">
                <a16:creationId xmlns:a16="http://schemas.microsoft.com/office/drawing/2014/main" id="{3DDFC360-56E5-D24E-96BC-A8AE220FFD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21047" y="2690354"/>
            <a:ext cx="3344827" cy="1650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D8EE8A97-9242-D644-A186-3494C7C3D77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5074" y="4370106"/>
            <a:ext cx="5355167"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02F41146-BD60-91FC-1968-0D8B30141120}"/>
              </a:ext>
            </a:extLst>
          </p:cNvPr>
          <p:cNvSpPr>
            <a:spLocks noGrp="1"/>
          </p:cNvSpPr>
          <p:nvPr>
            <p:ph type="sldNum" sz="quarter" idx="12"/>
          </p:nvPr>
        </p:nvSpPr>
        <p:spPr/>
        <p:txBody>
          <a:bodyPr/>
          <a:lstStyle/>
          <a:p>
            <a:fld id="{D57F1E4F-1CFF-5643-939E-02111984F565}" type="slidenum">
              <a:rPr lang="en-US" smtClean="0"/>
              <a:t>34</a:t>
            </a:fld>
            <a:endParaRPr lang="en-US" dirty="0"/>
          </a:p>
        </p:txBody>
      </p:sp>
    </p:spTree>
    <p:extLst>
      <p:ext uri="{BB962C8B-B14F-4D97-AF65-F5344CB8AC3E}">
        <p14:creationId xmlns:p14="http://schemas.microsoft.com/office/powerpoint/2010/main" val="14980213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4349</TotalTime>
  <Words>2695</Words>
  <Application>Microsoft Macintosh PowerPoint</Application>
  <PresentationFormat>On-screen Show (16:10)</PresentationFormat>
  <Paragraphs>327</Paragraphs>
  <Slides>34</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ＭＳ Ｐゴシック</vt:lpstr>
      <vt:lpstr>宋体</vt:lpstr>
      <vt:lpstr>Arial</vt:lpstr>
      <vt:lpstr>Calibri</vt:lpstr>
      <vt:lpstr>Cambria Math</vt:lpstr>
      <vt:lpstr>Courier New</vt:lpstr>
      <vt:lpstr>Gill Sans MT</vt:lpstr>
      <vt:lpstr>Inconsolata</vt:lpstr>
      <vt:lpstr>Inconsolata</vt:lpstr>
      <vt:lpstr>Tahoma</vt:lpstr>
      <vt:lpstr>Wingdings</vt:lpstr>
      <vt:lpstr>Office Theme</vt:lpstr>
      <vt:lpstr>Understanding Data Part 1</vt:lpstr>
      <vt:lpstr>Data</vt:lpstr>
      <vt:lpstr>Base 10 (Decimal numbers)</vt:lpstr>
      <vt:lpstr>Base 10 (Decimal numbers)</vt:lpstr>
      <vt:lpstr>Base 10 (Decimal)</vt:lpstr>
      <vt:lpstr>Base 2 (Binary)</vt:lpstr>
      <vt:lpstr>Subscripts Notation</vt:lpstr>
      <vt:lpstr>Bits and Bytes</vt:lpstr>
      <vt:lpstr>Decimal to Binary(Method 1)</vt:lpstr>
      <vt:lpstr>Decimal to Binary(Method 1)</vt:lpstr>
      <vt:lpstr>Decimal to Binary(Method 1)</vt:lpstr>
      <vt:lpstr>People</vt:lpstr>
      <vt:lpstr>Decimal to Binary(Method 2)</vt:lpstr>
      <vt:lpstr>Hexadecimal</vt:lpstr>
      <vt:lpstr>Hexadecimal</vt:lpstr>
      <vt:lpstr>Binary to Hex</vt:lpstr>
      <vt:lpstr>Counting</vt:lpstr>
      <vt:lpstr>Quick Quiz</vt:lpstr>
      <vt:lpstr>Overflow Error</vt:lpstr>
      <vt:lpstr>Overflow Error</vt:lpstr>
      <vt:lpstr>Round Off Errors</vt:lpstr>
      <vt:lpstr>Abstraction</vt:lpstr>
      <vt:lpstr>Abstraction</vt:lpstr>
      <vt:lpstr>Encoding</vt:lpstr>
      <vt:lpstr>ASCII</vt:lpstr>
      <vt:lpstr>PowerPoint Presentation</vt:lpstr>
      <vt:lpstr>ASCII Sample</vt:lpstr>
      <vt:lpstr>Unicode</vt:lpstr>
      <vt:lpstr>UTF-32</vt:lpstr>
      <vt:lpstr>UTF-16 and UTF-8</vt:lpstr>
      <vt:lpstr>Sequences of Bits</vt:lpstr>
      <vt:lpstr>List of Numbers is An Image</vt:lpstr>
      <vt:lpstr>Digital vs. Analog</vt:lpstr>
      <vt:lpstr>Digital vs. Analog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Coding Games in Python</dc:title>
  <dc:creator>Long B Nguyen</dc:creator>
  <cp:lastModifiedBy>Long B Nguyen</cp:lastModifiedBy>
  <cp:revision>4</cp:revision>
  <dcterms:created xsi:type="dcterms:W3CDTF">2019-05-29T16:38:51Z</dcterms:created>
  <dcterms:modified xsi:type="dcterms:W3CDTF">2026-02-10T17:53:00Z</dcterms:modified>
</cp:coreProperties>
</file>