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1" r:id="rId1"/>
  </p:sldMasterIdLst>
  <p:notesMasterIdLst>
    <p:notesMasterId r:id="rId32"/>
  </p:notesMasterIdLst>
  <p:sldIdLst>
    <p:sldId id="349" r:id="rId2"/>
    <p:sldId id="584" r:id="rId3"/>
    <p:sldId id="634" r:id="rId4"/>
    <p:sldId id="632" r:id="rId5"/>
    <p:sldId id="630" r:id="rId6"/>
    <p:sldId id="586" r:id="rId7"/>
    <p:sldId id="587" r:id="rId8"/>
    <p:sldId id="589" r:id="rId9"/>
    <p:sldId id="633" r:id="rId10"/>
    <p:sldId id="590" r:id="rId11"/>
    <p:sldId id="591" r:id="rId12"/>
    <p:sldId id="592" r:id="rId13"/>
    <p:sldId id="593" r:id="rId14"/>
    <p:sldId id="598" r:id="rId15"/>
    <p:sldId id="601" r:id="rId16"/>
    <p:sldId id="596" r:id="rId17"/>
    <p:sldId id="599" r:id="rId18"/>
    <p:sldId id="600" r:id="rId19"/>
    <p:sldId id="602" r:id="rId20"/>
    <p:sldId id="603" r:id="rId21"/>
    <p:sldId id="604" r:id="rId22"/>
    <p:sldId id="606" r:id="rId23"/>
    <p:sldId id="607" r:id="rId24"/>
    <p:sldId id="617" r:id="rId25"/>
    <p:sldId id="609" r:id="rId26"/>
    <p:sldId id="610" r:id="rId27"/>
    <p:sldId id="611" r:id="rId28"/>
    <p:sldId id="613" r:id="rId29"/>
    <p:sldId id="614" r:id="rId30"/>
    <p:sldId id="631" r:id="rId31"/>
  </p:sldIdLst>
  <p:sldSz cx="9144000" cy="5715000" type="screen16x10"/>
  <p:notesSz cx="6858000" cy="9144000"/>
  <p:defaultTextStyle>
    <a:defPPr>
      <a:defRPr lang="en-US"/>
    </a:defPPr>
    <a:lvl1pPr marL="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CB62E1-7729-AC44-8CEA-41ED91598FBE}" v="39" dt="2026-02-25T18:54:57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37"/>
    <p:restoredTop sz="93963"/>
  </p:normalViewPr>
  <p:slideViewPr>
    <p:cSldViewPr snapToGrid="0" snapToObjects="1">
      <p:cViewPr>
        <p:scale>
          <a:sx n="176" d="100"/>
          <a:sy n="176" d="100"/>
        </p:scale>
        <p:origin x="616" y="-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B Nguyen" userId="f59fb8f3-a021-417a-8bc1-65c8d471c621" providerId="ADAL" clId="{93BE87BA-F8CA-5C1F-82FF-B4CAB5F485A1}"/>
    <pc:docChg chg="modSld">
      <pc:chgData name="Long B Nguyen" userId="f59fb8f3-a021-417a-8bc1-65c8d471c621" providerId="ADAL" clId="{93BE87BA-F8CA-5C1F-82FF-B4CAB5F485A1}" dt="2026-02-25T18:54:57.354" v="38" actId="1076"/>
      <pc:docMkLst>
        <pc:docMk/>
      </pc:docMkLst>
      <pc:sldChg chg="addSp delSp modSp modAnim">
        <pc:chgData name="Long B Nguyen" userId="f59fb8f3-a021-417a-8bc1-65c8d471c621" providerId="ADAL" clId="{93BE87BA-F8CA-5C1F-82FF-B4CAB5F485A1}" dt="2026-02-25T18:54:57.354" v="38" actId="1076"/>
        <pc:sldMkLst>
          <pc:docMk/>
          <pc:sldMk cId="2963124289" sldId="593"/>
        </pc:sldMkLst>
        <pc:picChg chg="add mod">
          <ac:chgData name="Long B Nguyen" userId="f59fb8f3-a021-417a-8bc1-65c8d471c621" providerId="ADAL" clId="{93BE87BA-F8CA-5C1F-82FF-B4CAB5F485A1}" dt="2026-02-25T18:54:04.745" v="33" actId="1076"/>
          <ac:picMkLst>
            <pc:docMk/>
            <pc:sldMk cId="2963124289" sldId="593"/>
            <ac:picMk id="2" creationId="{ED58A264-102B-7A50-F3AE-8D4F466A0C24}"/>
          </ac:picMkLst>
        </pc:picChg>
        <pc:picChg chg="mod">
          <ac:chgData name="Long B Nguyen" userId="f59fb8f3-a021-417a-8bc1-65c8d471c621" providerId="ADAL" clId="{93BE87BA-F8CA-5C1F-82FF-B4CAB5F485A1}" dt="2026-02-25T18:54:57.354" v="38" actId="1076"/>
          <ac:picMkLst>
            <pc:docMk/>
            <pc:sldMk cId="2963124289" sldId="593"/>
            <ac:picMk id="38916" creationId="{8720B090-DCDD-0E44-B6F5-49D2ED5D8A00}"/>
          </ac:picMkLst>
        </pc:picChg>
        <pc:picChg chg="del mod">
          <ac:chgData name="Long B Nguyen" userId="f59fb8f3-a021-417a-8bc1-65c8d471c621" providerId="ADAL" clId="{93BE87BA-F8CA-5C1F-82FF-B4CAB5F485A1}" dt="2026-02-25T18:17:34.273" v="9" actId="21"/>
          <ac:picMkLst>
            <pc:docMk/>
            <pc:sldMk cId="2963124289" sldId="593"/>
            <ac:picMk id="38917" creationId="{1B40FF63-EA73-7A44-8137-79F00DEAED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59725-BFEE-644C-A872-B7D4268C562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290AE-058D-1344-A3D3-E0EB99844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1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8E3A1009-731F-C64E-AD8E-D1DB73ACC0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030869-8102-9E45-98B5-EF336C50A7E9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5DAFCEC-735E-3C4C-9766-B03B39AF90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6AF218D-0C4A-AB42-ACEA-759FBC9D1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2280874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009B3-083A-732E-4FF8-BF0ED75C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61E570DF-15C9-CB2C-38D2-735DE38A0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030869-8102-9E45-98B5-EF336C50A7E9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A5A1C9AF-E756-8872-59F3-EEAB90FD23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74FAFF7-D849-59BB-9184-4C31ECBB2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3671925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8E3A1009-731F-C64E-AD8E-D1DB73ACC0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030869-8102-9E45-98B5-EF336C50A7E9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5DAFCEC-735E-3C4C-9766-B03B39AF90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6AF218D-0C4A-AB42-ACEA-759FBC9D1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938725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103C4A4A-3489-384E-8A33-70E287D84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5CDC6D7-7147-7C45-A0D3-3F45B69BD2C5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612C6BD0-6A57-7A49-8297-ADE78D7BD7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02CAD7A-27CE-C84B-98CC-95210E431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38595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A082C065-48A4-C849-B575-C0CA856782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168702-401B-2B4A-9E6B-F517A662C62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506262F-9712-5B4C-A088-9EF0B7EACD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AD16A30-8D43-474E-B662-E42D1EBB7F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270643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E80D1FD7-A32B-6645-B1E2-FB71C36B69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C6E0EBF-39B6-9E4D-8845-8E571CD46FAA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9D7D580C-9183-624B-90BF-C6471E2DD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027B81E-9A48-464D-AED8-13D7F72D4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2765380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E80D1FD7-A32B-6645-B1E2-FB71C36B69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C6E0EBF-39B6-9E4D-8845-8E571CD46FAA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9D7D580C-9183-624B-90BF-C6471E2DD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027B81E-9A48-464D-AED8-13D7F72D4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577463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34EC38EE-BC49-8540-8E2B-7E4B462BCB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32B0A93-0C85-4F4E-9B7F-BDC843BD88F6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36BF8EA4-5C73-BD44-995A-B1A3AFEEA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01D857E-F3E6-6540-9261-A33E3F080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2624498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7E2FDE53-D1FB-D246-B03A-6704167DC8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80E44B5-BFDF-BC48-BCF6-7BCA82CC9BA9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3DD76B0F-666F-BA4F-9484-821883D16B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0365C64-06A2-C64A-BB38-329B37C0F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793942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0B0900A4-EBDD-884D-BBCE-182364D35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02D3D98-C5C7-2248-8B26-216E519D6D32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953AA851-64E7-704E-A45B-46EC3FD42F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B588807-2342-3A45-8D0D-80FCCE5EA9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754129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2943432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3173632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571164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610883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3516080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761766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2571734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39288020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2072700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22872001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33847612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3504130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3826713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32532779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6651283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7678506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264E55D-2FAC-504E-8F76-AF69BC033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1680EB-C86D-2347-AE16-D730A41D6A9A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5402874-F9B7-4D4A-9A88-499672169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7388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232413-FB05-4844-B594-DAF3406D2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Crash Course: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49927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9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70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38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480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8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4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54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1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4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9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23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727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mp.org/2.6/en/gimp-tool-desaturate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616" y="0"/>
            <a:ext cx="8182719" cy="5715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566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17A749-B1BA-E24B-8FB0-0604EF651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9421" y="1592461"/>
            <a:ext cx="4925157" cy="1692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Understanding Data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C47C8-6776-7B44-9CD4-95FC9145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4026" y="3395598"/>
            <a:ext cx="4578895" cy="5683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Images and Compression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4071586-F58C-CD48-BB49-60F4B2277ED8}"/>
              </a:ext>
            </a:extLst>
          </p:cNvPr>
          <p:cNvSpPr txBox="1">
            <a:spLocks/>
          </p:cNvSpPr>
          <p:nvPr/>
        </p:nvSpPr>
        <p:spPr>
          <a:xfrm>
            <a:off x="2183952" y="3285007"/>
            <a:ext cx="4507445" cy="542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571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2D2E821-4DA7-1A4C-90AB-7D29E754B9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66704" cy="632388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Bitmap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FDE21009-F167-294A-90DA-D3129AD4DE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641" y="536507"/>
            <a:ext cx="8904720" cy="5178493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en-US" sz="2000" dirty="0">
                <a:latin typeface="Gill Sans MT" panose="020B0502020104020203" pitchFamily="34" charset="77"/>
              </a:rPr>
              <a:t>An image is 2D grid of squares(</a:t>
            </a:r>
            <a:r>
              <a:rPr lang="en-US" sz="2000" b="1" dirty="0">
                <a:latin typeface="Gill Sans MT" panose="020B0502020104020203" pitchFamily="34" charset="77"/>
              </a:rPr>
              <a:t>bitmap</a:t>
            </a:r>
            <a:r>
              <a:rPr lang="en-US" sz="2000" dirty="0">
                <a:latin typeface="Gill Sans MT" panose="020B0502020104020203" pitchFamily="34" charset="77"/>
              </a:rPr>
              <a:t>), where each square is filled with only one color; this is kind of structure is called a </a:t>
            </a:r>
            <a:r>
              <a:rPr lang="en-US" sz="2000" b="1" dirty="0">
                <a:latin typeface="Gill Sans MT" panose="020B0502020104020203" pitchFamily="34" charset="77"/>
              </a:rPr>
              <a:t>raster graphics image.</a:t>
            </a:r>
          </a:p>
          <a:p>
            <a:pPr marL="0" indent="0" eaLnBrk="1" hangingPunct="1">
              <a:buNone/>
              <a:defRPr/>
            </a:pPr>
            <a:endParaRPr lang="en-US" sz="2000" dirty="0">
              <a:latin typeface="Gill Sans MT" panose="020B0502020104020203" pitchFamily="34" charset="77"/>
            </a:endParaRPr>
          </a:p>
          <a:p>
            <a:pPr marL="0" indent="0" eaLnBrk="1" hangingPunct="1">
              <a:buNone/>
              <a:defRPr/>
            </a:pPr>
            <a:r>
              <a:rPr lang="en-US" sz="2000" dirty="0">
                <a:latin typeface="Gill Sans MT" panose="020B0502020104020203" pitchFamily="34" charset="77"/>
              </a:rPr>
              <a:t>Each of these small squares, called a </a:t>
            </a:r>
            <a:r>
              <a:rPr lang="en-US" sz="2000" b="1" dirty="0">
                <a:latin typeface="Gill Sans MT" panose="020B0502020104020203" pitchFamily="34" charset="77"/>
              </a:rPr>
              <a:t>pixel</a:t>
            </a:r>
            <a:r>
              <a:rPr lang="en-US" sz="2000" dirty="0">
                <a:latin typeface="Gill Sans MT" panose="020B0502020104020203" pitchFamily="34" charset="77"/>
              </a:rPr>
              <a:t>, can be filled with exactly one color. Computers use </a:t>
            </a:r>
            <a:r>
              <a:rPr lang="en-US" sz="2000" b="1" dirty="0">
                <a:latin typeface="Gill Sans MT" panose="020B0502020104020203" pitchFamily="34" charset="77"/>
              </a:rPr>
              <a:t>additive color mixing </a:t>
            </a:r>
            <a:r>
              <a:rPr lang="en-US" sz="2000" dirty="0">
                <a:latin typeface="Gill Sans MT" panose="020B0502020104020203" pitchFamily="34" charset="77"/>
              </a:rPr>
              <a:t>to produce colors. Primary colors are red, green and blue(RGB)</a:t>
            </a:r>
          </a:p>
          <a:p>
            <a:pPr marL="0" indent="0" eaLnBrk="1" hangingPunct="1">
              <a:buNone/>
              <a:defRPr/>
            </a:pPr>
            <a:endParaRPr lang="en-US" sz="2000" dirty="0">
              <a:latin typeface="Gill Sans MT" panose="020B0502020104020203" pitchFamily="34" charset="77"/>
            </a:endParaRPr>
          </a:p>
          <a:p>
            <a:pPr marL="0" indent="0" eaLnBrk="1" hangingPunct="1">
              <a:buNone/>
              <a:defRPr/>
            </a:pPr>
            <a:endParaRPr lang="en-US" sz="2000" dirty="0">
              <a:latin typeface="Gill Sans MT" panose="020B0502020104020203" pitchFamily="34" charset="77"/>
            </a:endParaRPr>
          </a:p>
          <a:p>
            <a:pPr marL="0" indent="0" eaLnBrk="1" hangingPunct="1">
              <a:buNone/>
              <a:defRPr/>
            </a:pPr>
            <a:endParaRPr lang="en-US" sz="2000" dirty="0">
              <a:latin typeface="Gill Sans MT" panose="020B0502020104020203" pitchFamily="34" charset="77"/>
            </a:endParaRPr>
          </a:p>
          <a:p>
            <a:pPr marL="0" indent="0" eaLnBrk="1" hangingPunct="1">
              <a:buNone/>
              <a:defRPr/>
            </a:pPr>
            <a:r>
              <a:rPr lang="en-US" sz="2000" dirty="0">
                <a:latin typeface="Gill Sans MT" panose="020B0502020104020203" pitchFamily="34" charset="77"/>
              </a:rPr>
              <a:t>Typically, bitmaps use 24-bit(3 bytes) for colors.</a:t>
            </a:r>
          </a:p>
          <a:p>
            <a:pPr marL="342900" lvl="1" indent="0" eaLnBrk="1" hangingPunct="1">
              <a:buNone/>
              <a:defRPr/>
            </a:pPr>
            <a:r>
              <a:rPr lang="en-US" sz="2000" dirty="0">
                <a:latin typeface="Gill Sans MT" panose="020B0502020104020203" pitchFamily="34" charset="77"/>
              </a:rPr>
              <a:t>- 8 bits for each of the three primary colors.</a:t>
            </a:r>
          </a:p>
          <a:p>
            <a:pPr marL="342900" lvl="1" indent="0" eaLnBrk="1" hangingPunct="1">
              <a:buNone/>
              <a:defRPr/>
            </a:pPr>
            <a:r>
              <a:rPr lang="en-US" sz="2000" dirty="0">
                <a:latin typeface="Gill Sans MT" panose="020B0502020104020203" pitchFamily="34" charset="77"/>
              </a:rPr>
              <a:t>- each color has values 0 to 255.</a:t>
            </a:r>
          </a:p>
          <a:p>
            <a:pPr lvl="1" eaLnBrk="1" hangingPunct="1">
              <a:buFontTx/>
              <a:buChar char="-"/>
              <a:defRPr/>
            </a:pPr>
            <a:r>
              <a:rPr lang="en-US" sz="2000" dirty="0">
                <a:latin typeface="Gill Sans MT" panose="020B0502020104020203" pitchFamily="34" charset="77"/>
              </a:rPr>
              <a:t>24-bit equals approximately </a:t>
            </a:r>
          </a:p>
          <a:p>
            <a:pPr marL="342900" lvl="1" indent="0" eaLnBrk="1" hangingPunct="1">
              <a:buNone/>
              <a:defRPr/>
            </a:pPr>
            <a:r>
              <a:rPr lang="en-US" sz="2000" dirty="0">
                <a:latin typeface="Gill Sans MT" panose="020B0502020104020203" pitchFamily="34" charset="77"/>
              </a:rPr>
              <a:t>                         2^24 = 16.8 million colors. </a:t>
            </a:r>
          </a:p>
          <a:p>
            <a:pPr marL="0" indent="0">
              <a:buNone/>
              <a:defRPr/>
            </a:pPr>
            <a:endParaRPr lang="en-US" sz="20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marL="0" indent="0">
              <a:buNone/>
              <a:defRPr/>
            </a:pPr>
            <a:endParaRPr lang="en-US" sz="2300" b="1" dirty="0">
              <a:solidFill>
                <a:srgbClr val="008000"/>
              </a:solidFill>
              <a:latin typeface="Gill Sans MT" panose="020B0502020104020203" pitchFamily="34" charset="77"/>
            </a:endParaRPr>
          </a:p>
          <a:p>
            <a:pPr marL="380985" lvl="1" indent="0">
              <a:buNone/>
              <a:defRPr/>
            </a:pPr>
            <a:endParaRPr lang="en-US" sz="2000" b="1" dirty="0">
              <a:solidFill>
                <a:srgbClr val="0080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AA6402AE-27BA-C94A-8CDB-C660D25DC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376" y="2538101"/>
            <a:ext cx="3453984" cy="317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537AAE-EC0D-054E-82AD-A976564A8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828" y="2414685"/>
            <a:ext cx="1404114" cy="127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04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87172-E6C3-1F6C-BD25-AB7BB72E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87EA8C7D-4BDB-2F51-9763-A78F04930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66704" cy="632388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Red Green Blue(RGB) model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EEB3325B-373F-D81A-55F3-2633F3E0D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641" y="536507"/>
            <a:ext cx="8904720" cy="5178493"/>
          </a:xfrm>
        </p:spPr>
        <p:txBody>
          <a:bodyPr>
            <a:normAutofit/>
          </a:bodyPr>
          <a:lstStyle/>
          <a:p>
            <a:pPr marL="380985" lvl="1" indent="0">
              <a:buNone/>
              <a:defRPr/>
            </a:pPr>
            <a:endParaRPr lang="en-US" sz="2000" b="1" dirty="0">
              <a:solidFill>
                <a:srgbClr val="0080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C1BD21-EC59-1698-A41E-A0BE9D1FB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858" y="632388"/>
            <a:ext cx="3148802" cy="28484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4D8BFC-5C84-2B21-1B7D-0D613CCC9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086" y="3576724"/>
            <a:ext cx="6682618" cy="197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95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2D2E821-4DA7-1A4C-90AB-7D29E754B9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66704" cy="632388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Metadata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FDE21009-F167-294A-90DA-D3129AD4DE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641" y="536507"/>
            <a:ext cx="8904720" cy="517849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0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marL="0" indent="0"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Gill Sans MT" panose="020B0502020104020203" pitchFamily="34" charset="77"/>
                <a:cs typeface="Tahoma"/>
              </a:rPr>
              <a:t>The pixels of an image is its data. An image may contain some </a:t>
            </a:r>
            <a:r>
              <a:rPr lang="en-US" sz="2000" b="1" dirty="0">
                <a:solidFill>
                  <a:srgbClr val="000000"/>
                </a:solidFill>
                <a:latin typeface="Gill Sans MT" panose="020B0502020104020203" pitchFamily="34" charset="77"/>
                <a:cs typeface="Tahoma"/>
              </a:rPr>
              <a:t>metadata</a:t>
            </a:r>
            <a:r>
              <a:rPr lang="en-US" sz="2000" dirty="0">
                <a:solidFill>
                  <a:srgbClr val="000000"/>
                </a:solidFill>
                <a:latin typeface="Gill Sans MT" panose="020B0502020104020203" pitchFamily="34" charset="77"/>
                <a:cs typeface="Tahoma"/>
              </a:rPr>
              <a:t>(data that describes a file's data) such as width, height, size, location of the image. </a:t>
            </a:r>
          </a:p>
          <a:p>
            <a:pPr marL="0" indent="0">
              <a:buNone/>
            </a:pPr>
            <a:endParaRPr lang="en-US" sz="2000" dirty="0">
              <a:latin typeface="Gill Sans MT" panose="020B0502020104020203" pitchFamily="34" charset="77"/>
            </a:endParaRPr>
          </a:p>
          <a:p>
            <a:pPr marL="0" indent="0">
              <a:buNone/>
            </a:pPr>
            <a:r>
              <a:rPr lang="en-US" dirty="0"/>
              <a:t>Metadata allow data to be structured and organized. </a:t>
            </a:r>
            <a:endParaRPr lang="en-US" sz="2000" dirty="0"/>
          </a:p>
          <a:p>
            <a:pPr marL="0" indent="0">
              <a:buNone/>
            </a:pPr>
            <a:endParaRPr lang="en-US" sz="2000" dirty="0">
              <a:latin typeface="Gill Sans MT" panose="020B0502020104020203" pitchFamily="34" charset="77"/>
            </a:endParaRPr>
          </a:p>
          <a:p>
            <a:pPr marL="0" indent="0">
              <a:buNone/>
            </a:pPr>
            <a:r>
              <a:rPr lang="en-US" sz="2000" dirty="0">
                <a:latin typeface="Gill Sans MT" panose="020B0502020104020203" pitchFamily="34" charset="77"/>
              </a:rPr>
              <a:t>Metadata are used for finding, organizing, and managing information. Metadata can increase the effective use of data or data sets by providing additional information about various aspects of that data. </a:t>
            </a:r>
          </a:p>
          <a:p>
            <a:pPr marL="0" indent="0">
              <a:buNone/>
            </a:pPr>
            <a:endParaRPr lang="en-US" sz="2000" dirty="0">
              <a:latin typeface="Gill Sans MT" panose="020B0502020104020203" pitchFamily="34" charset="77"/>
            </a:endParaRPr>
          </a:p>
          <a:p>
            <a:pPr marL="0" indent="0">
              <a:buNone/>
            </a:pPr>
            <a:r>
              <a:rPr lang="en-US" sz="2000" dirty="0">
                <a:latin typeface="Gill Sans MT" panose="020B0502020104020203" pitchFamily="34" charset="77"/>
              </a:rPr>
              <a:t>Changes and deletions made to metadata do not change the primary data.</a:t>
            </a:r>
          </a:p>
          <a:p>
            <a:pPr marL="0" indent="0">
              <a:buNone/>
              <a:defRPr/>
            </a:pPr>
            <a:endParaRPr lang="en-US" sz="20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marL="0" indent="0">
              <a:buNone/>
              <a:defRPr/>
            </a:pPr>
            <a:endParaRPr lang="en-US" sz="2300" b="1" dirty="0">
              <a:solidFill>
                <a:srgbClr val="008000"/>
              </a:solidFill>
              <a:latin typeface="Gill Sans MT" panose="020B0502020104020203" pitchFamily="34" charset="77"/>
            </a:endParaRPr>
          </a:p>
          <a:p>
            <a:pPr marL="380985" lvl="1" indent="0">
              <a:buNone/>
              <a:defRPr/>
            </a:pPr>
            <a:endParaRPr lang="en-US" sz="2000" b="1" dirty="0">
              <a:solidFill>
                <a:srgbClr val="00800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87856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F93EFB5A-2152-CA4E-8209-79AFCC889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65" y="109521"/>
            <a:ext cx="7886700" cy="665423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RGB Model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88C18CF3-A385-1342-B176-A9E1BBAE96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1833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2771" name="TextBox 3">
            <a:extLst>
              <a:ext uri="{FF2B5EF4-FFF2-40B4-BE49-F238E27FC236}">
                <a16:creationId xmlns:a16="http://schemas.microsoft.com/office/drawing/2014/main" id="{19983533-11B9-B247-99D5-771D1D114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199" y="1993636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sp>
        <p:nvSpPr>
          <p:cNvPr id="32772" name="TextBox 4">
            <a:extLst>
              <a:ext uri="{FF2B5EF4-FFF2-40B4-BE49-F238E27FC236}">
                <a16:creationId xmlns:a16="http://schemas.microsoft.com/office/drawing/2014/main" id="{581A37D6-AC3A-0C42-804E-64E00DB86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7824" y="1514741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7" name="Picture 3" descr="matrix.png">
            <a:extLst>
              <a:ext uri="{FF2B5EF4-FFF2-40B4-BE49-F238E27FC236}">
                <a16:creationId xmlns:a16="http://schemas.microsoft.com/office/drawing/2014/main" id="{3CC77AF3-D007-5C44-97AB-706CC25BB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72" y="1391930"/>
            <a:ext cx="6398300" cy="2293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DF1D8F-8D46-4A48-A242-5A85A28AEE11}"/>
              </a:ext>
            </a:extLst>
          </p:cNvPr>
          <p:cNvSpPr txBox="1"/>
          <p:nvPr/>
        </p:nvSpPr>
        <p:spPr>
          <a:xfrm>
            <a:off x="90265" y="4009229"/>
            <a:ext cx="8746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As we will see later in this lecture, this image can be represented by a </a:t>
            </a:r>
          </a:p>
          <a:p>
            <a:r>
              <a:rPr lang="en-US" sz="2000" dirty="0"/>
              <a:t>three-dimensional </a:t>
            </a:r>
            <a:r>
              <a:rPr lang="en-US" sz="2000" dirty="0" err="1"/>
              <a:t>Numpy</a:t>
            </a:r>
            <a:r>
              <a:rPr lang="en-US" sz="2000" dirty="0"/>
              <a:t> array of shape (7, 10, 3). The 7 represents 7 rows; the 10 is for 10 columns and the 3 is for three components: red, green blue. </a:t>
            </a:r>
          </a:p>
        </p:txBody>
      </p:sp>
    </p:spTree>
    <p:extLst>
      <p:ext uri="{BB962C8B-B14F-4D97-AF65-F5344CB8AC3E}">
        <p14:creationId xmlns:p14="http://schemas.microsoft.com/office/powerpoint/2010/main" val="3673832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34F107FE-33DC-4D41-BCD4-F69C922D4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732" y="0"/>
            <a:ext cx="7886700" cy="665423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Resolution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7D23A51-CC23-2D46-9966-5D2C05DBB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732" y="665423"/>
            <a:ext cx="8245268" cy="4922577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1833" dirty="0">
                <a:latin typeface="Tahoma" charset="0"/>
              </a:rPr>
              <a:t>Raster graphics image has to be made up of a grid of squares, but how big should each square be? </a:t>
            </a:r>
          </a:p>
          <a:p>
            <a:pPr marL="342900" lvl="1" indent="0" eaLnBrk="1" hangingPunct="1">
              <a:buNone/>
              <a:defRPr/>
            </a:pPr>
            <a:r>
              <a:rPr lang="en-US" sz="1500" dirty="0">
                <a:latin typeface="Tahoma" charset="0"/>
              </a:rPr>
              <a:t>the </a:t>
            </a:r>
            <a:r>
              <a:rPr lang="en-US" sz="1500" b="1" dirty="0">
                <a:latin typeface="Tahoma" charset="0"/>
              </a:rPr>
              <a:t>resolution</a:t>
            </a:r>
            <a:r>
              <a:rPr lang="en-US" sz="1500" dirty="0">
                <a:latin typeface="Tahoma" charset="0"/>
              </a:rPr>
              <a:t> of an image, or the amount of information stored in the image</a:t>
            </a:r>
          </a:p>
          <a:p>
            <a:pPr marL="0" indent="0" eaLnBrk="1" hangingPunct="1">
              <a:buNone/>
              <a:defRPr/>
            </a:pPr>
            <a:r>
              <a:rPr lang="en-US" sz="1833" dirty="0">
                <a:latin typeface="Tahoma" charset="0"/>
              </a:rPr>
              <a:t>- same image size but smaller pixel size equals higher resolution(more detail) and therefore larger number of pixels in the image.</a:t>
            </a:r>
          </a:p>
          <a:p>
            <a:pPr marL="0" indent="0" eaLnBrk="1" hangingPunct="1">
              <a:buNone/>
              <a:defRPr/>
            </a:pPr>
            <a:r>
              <a:rPr lang="en-US" sz="1833" dirty="0">
                <a:latin typeface="Tahoma" charset="0"/>
              </a:rPr>
              <a:t>- for example, the left image below is 16 pixels by 16 pixels resolution but the right image is a higher resolution 512x512.</a:t>
            </a:r>
          </a:p>
          <a:p>
            <a:pPr marL="0" indent="0">
              <a:buNone/>
              <a:defRPr/>
            </a:pPr>
            <a:endParaRPr lang="en-US" sz="1833" dirty="0">
              <a:latin typeface="Tahoma" charset="0"/>
            </a:endParaRPr>
          </a:p>
          <a:p>
            <a:pPr lvl="1" eaLnBrk="1" hangingPunct="1">
              <a:defRPr/>
            </a:pPr>
            <a:endParaRPr lang="en-US" sz="1167" b="1" dirty="0">
              <a:solidFill>
                <a:srgbClr val="008000"/>
              </a:solidFill>
              <a:latin typeface="Courier New" charset="0"/>
            </a:endParaRPr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A446CD24-D602-8541-8180-3194E673D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03" y="3110419"/>
            <a:ext cx="7620000" cy="2155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2340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5132E559-1A3E-C34F-A562-E3FCB5A26E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88" y="94004"/>
            <a:ext cx="7886700" cy="615152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Lossless Compression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511EFDDD-BDA3-DC45-A705-DF99D46F5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187" y="709155"/>
            <a:ext cx="9015813" cy="5073079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What would the bitmap data look like for the image below? A lot of the data would be the same! Is there a way to encode the image with an abbreviation for “500 black pixels” rather than listing each pixel individually?</a:t>
            </a: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Data compression can reduce the size(number of bits) of stored data. CompuServe develops GIF, or the Graphics Interchange Format, in 1987. </a:t>
            </a:r>
          </a:p>
          <a:p>
            <a:pPr lvl="1"/>
            <a:r>
              <a:rPr lang="en-US" altLang="en-US" sz="1900" dirty="0">
                <a:latin typeface="Gill Sans MT" panose="020B0502020104020203" pitchFamily="34" charset="77"/>
              </a:rPr>
              <a:t>can be pronounced “GIF” or “JIF”</a:t>
            </a:r>
            <a:endParaRPr lang="en-US" altLang="en-US" sz="19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Unlike bitmaps, GIFs are compressed: </a:t>
            </a:r>
            <a:r>
              <a:rPr lang="en-US" altLang="en-US" sz="1900" dirty="0">
                <a:latin typeface="Gill Sans MT" panose="020B0502020104020203" pitchFamily="34" charset="77"/>
              </a:rPr>
              <a:t>can represent exactly the same information as some bitmaps using a smaller number of bits essentially, if two </a:t>
            </a: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</a:rPr>
              <a:t>pixels that are horizontally adjacent are exactly the same, then </a:t>
            </a: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</a:rPr>
              <a:t>GIF compresses the data.</a:t>
            </a:r>
          </a:p>
          <a:p>
            <a:pPr marL="0" indent="0" eaLnBrk="1" hangingPunct="1">
              <a:buNone/>
            </a:pPr>
            <a:endParaRPr lang="en-US" altLang="en-US" sz="19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This method is called </a:t>
            </a:r>
            <a:r>
              <a:rPr lang="en-US" altLang="en-US" sz="1900" b="1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lossless compression: </a:t>
            </a: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reducing number of bits stored while guaranteeing complete reconstruction of the original data, </a:t>
            </a:r>
            <a:r>
              <a:rPr lang="en-US" altLang="en-US" sz="1900" dirty="0" err="1">
                <a:latin typeface="Gill Sans MT" panose="020B0502020104020203" pitchFamily="34" charset="77"/>
                <a:ea typeface="ＭＳ Ｐゴシック" panose="020B0600070205080204" pitchFamily="34" charset="-128"/>
              </a:rPr>
              <a:t>i.e</a:t>
            </a: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, no data is lost. Thus few bits does not necessarily mean less information.</a:t>
            </a: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Besides images, you may have used RAR, ZIP, GZIP, LZW to compress any file.</a:t>
            </a:r>
          </a:p>
          <a:p>
            <a:pPr marL="342900" lvl="1" indent="0" eaLnBrk="1" hangingPunct="1">
              <a:buNone/>
            </a:pPr>
            <a:endParaRPr lang="en-US" altLang="en-US" sz="1900" b="1" dirty="0">
              <a:solidFill>
                <a:srgbClr val="0080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28675" name="Picture 1">
            <a:extLst>
              <a:ext uri="{FF2B5EF4-FFF2-40B4-BE49-F238E27FC236}">
                <a16:creationId xmlns:a16="http://schemas.microsoft.com/office/drawing/2014/main" id="{BCF5C1D4-BD7B-A74D-B5D7-82EC9CAD7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765" y="2018421"/>
            <a:ext cx="2330824" cy="140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68347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7E7F59BF-58A2-1549-8579-E6A7412FA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926" y="127000"/>
            <a:ext cx="7886700" cy="702984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Lossy Compression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89B15976-ACD8-4742-B244-3AB3D0262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926" y="829984"/>
            <a:ext cx="9032074" cy="48850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While lossless compression preserves all of a file's data, </a:t>
            </a:r>
            <a:r>
              <a:rPr lang="en-US" altLang="en-US" sz="1900" b="1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lossy compression</a:t>
            </a: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 throws away some data in the interest of compressing the file even more.  </a:t>
            </a:r>
          </a:p>
          <a:p>
            <a:pPr marL="0" indent="0">
              <a:buNone/>
            </a:pPr>
            <a:endParaRPr lang="en-US" sz="19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sz="1900" dirty="0"/>
              <a:t>Lossy</a:t>
            </a:r>
            <a:r>
              <a:rPr lang="en-US" sz="1900" i="1" dirty="0"/>
              <a:t> </a:t>
            </a:r>
            <a:r>
              <a:rPr lang="en-US" sz="1900" dirty="0"/>
              <a:t>data compression algorithms can significantly reduce the number of bits stored or transmitted but only allow reconstruction of an approximation of the original data. </a:t>
            </a:r>
            <a:endParaRPr lang="en-US" altLang="en-US" sz="19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19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Effective lossy compression should preserve the essential data. You use effective lossy compression every time you text someone!</a:t>
            </a:r>
          </a:p>
          <a:p>
            <a:pPr marL="342900" lvl="1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</a:rPr>
              <a:t>Hey wat r u </a:t>
            </a:r>
            <a:r>
              <a:rPr lang="en-US" altLang="en-US" sz="1900" dirty="0" err="1">
                <a:latin typeface="Gill Sans MT" panose="020B0502020104020203" pitchFamily="34" charset="77"/>
              </a:rPr>
              <a:t>doin</a:t>
            </a:r>
            <a:r>
              <a:rPr lang="en-US" altLang="en-US" sz="1900" dirty="0">
                <a:latin typeface="Gill Sans MT" panose="020B0502020104020203" pitchFamily="34" charset="77"/>
              </a:rPr>
              <a:t> tmrw? I </a:t>
            </a:r>
            <a:r>
              <a:rPr lang="en-US" altLang="en-US" sz="1900" dirty="0" err="1">
                <a:latin typeface="Gill Sans MT" panose="020B0502020104020203" pitchFamily="34" charset="77"/>
              </a:rPr>
              <a:t>wntd</a:t>
            </a:r>
            <a:r>
              <a:rPr lang="en-US" altLang="en-US" sz="1900" dirty="0">
                <a:latin typeface="Gill Sans MT" panose="020B0502020104020203" pitchFamily="34" charset="77"/>
              </a:rPr>
              <a:t> 2 go 2 c Ben.(43 characters)</a:t>
            </a:r>
          </a:p>
          <a:p>
            <a:pPr marL="342900" lvl="1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</a:rPr>
              <a:t>Hey, what are you doing tomorrow? I wanted to go to see Ben.(57 characters)</a:t>
            </a:r>
          </a:p>
          <a:p>
            <a:pPr marL="342900" lvl="1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</a:rPr>
              <a:t>(compressed by about 25%.) </a:t>
            </a:r>
          </a:p>
          <a:p>
            <a:pPr marL="342900" lvl="1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</a:rPr>
              <a:t>(you can “</a:t>
            </a:r>
            <a:r>
              <a:rPr lang="en-US" altLang="ja-JP" sz="1900" dirty="0">
                <a:latin typeface="Gill Sans MT" panose="020B0502020104020203" pitchFamily="34" charset="77"/>
              </a:rPr>
              <a:t>probs</a:t>
            </a:r>
            <a:r>
              <a:rPr lang="en-US" altLang="en-US" sz="1900" dirty="0">
                <a:latin typeface="Gill Sans MT" panose="020B0502020104020203" pitchFamily="34" charset="77"/>
              </a:rPr>
              <a:t>”</a:t>
            </a:r>
            <a:r>
              <a:rPr lang="en-US" altLang="ja-JP" sz="1900" dirty="0">
                <a:latin typeface="Gill Sans MT" panose="020B0502020104020203" pitchFamily="34" charset="77"/>
              </a:rPr>
              <a:t> do even better.)</a:t>
            </a: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GIF uses lossless compression</a:t>
            </a: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JPEG(Joint Photographic Experts Group), for example, uses lossy compression.</a:t>
            </a:r>
          </a:p>
          <a:p>
            <a:pPr marL="0" indent="0" eaLnBrk="1" hangingPunct="1">
              <a:buNone/>
            </a:pPr>
            <a:r>
              <a:rPr lang="en-US" altLang="en-US" sz="19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PNG(Portable Network Graphic) is another popular format.</a:t>
            </a:r>
          </a:p>
          <a:p>
            <a:pPr marL="342900" lvl="1" indent="0" eaLnBrk="1" hangingPunct="1">
              <a:buNone/>
            </a:pPr>
            <a:endParaRPr lang="en-US" altLang="en-US" sz="1900" dirty="0">
              <a:latin typeface="Gill Sans MT" panose="020B0502020104020203" pitchFamily="34" charset="77"/>
            </a:endParaRPr>
          </a:p>
          <a:p>
            <a:pPr marL="0" indent="0" eaLnBrk="1" hangingPunct="1">
              <a:buNone/>
            </a:pPr>
            <a:endParaRPr lang="en-US" altLang="en-US" sz="19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1195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7E7F59BF-58A2-1549-8579-E6A7412FA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926" y="127000"/>
            <a:ext cx="7886700" cy="702984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Data Compression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89B15976-ACD8-4742-B244-3AB3D0262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926" y="829984"/>
            <a:ext cx="9032074" cy="48850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The amount of size reduction from compression depends on both the amount of redundancy in the original data representation and the compression algorithm applied.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Lossy data compression algorithms can usually reduce the number of bits stored or transmitted more than lossless compression algorithms. </a:t>
            </a:r>
            <a:endParaRPr lang="en-US" sz="2000" dirty="0"/>
          </a:p>
          <a:p>
            <a:pPr marL="0" indent="0" eaLnBrk="1" hangingPunct="1">
              <a:buNone/>
            </a:pPr>
            <a:endParaRPr lang="en-US" altLang="en-US" sz="19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dirty="0"/>
              <a:t>In situations where quality or ability to reconstruct the original is maximally important, lossless compression algorithms are typically chosen. </a:t>
            </a:r>
            <a:endParaRPr lang="en-US" sz="2000" dirty="0"/>
          </a:p>
          <a:p>
            <a:pPr marL="0" indent="0" eaLnBrk="1" hangingPunct="1">
              <a:buNone/>
            </a:pPr>
            <a:endParaRPr lang="en-US" altLang="en-US" sz="19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dirty="0"/>
              <a:t>In situations where minimizing data size or transmission time is maximally important, lossy compression algorithms are typically chosen. </a:t>
            </a:r>
            <a:endParaRPr lang="en-US" sz="2000" dirty="0"/>
          </a:p>
          <a:p>
            <a:pPr marL="0" indent="0" eaLnBrk="1" hangingPunct="1">
              <a:buNone/>
            </a:pPr>
            <a:endParaRPr lang="en-US" altLang="en-US" sz="19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145949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1B088F74-50C6-5E46-9298-7B7197F07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030" y="0"/>
            <a:ext cx="7886700" cy="1104636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Comparison(Optional)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346E11F-912B-AB4D-9456-8D4A45A63C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030" y="765810"/>
            <a:ext cx="8141970" cy="482219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Like GIF, PNG uses lossless compression, and like JPEG, PNG uses 24 bits for color.</a:t>
            </a:r>
          </a:p>
          <a:p>
            <a:pPr marL="0" indent="0" eaLnBrk="1" hangingPunct="1">
              <a:buNone/>
            </a:pP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Another feature of the PNG format is support for alpha, or transparency. BMP and JPEG, on the other hand, don't have a channel devoted to </a:t>
            </a:r>
            <a:r>
              <a:rPr lang="en-US" altLang="en-US" sz="1833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transparency</a:t>
            </a: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. </a:t>
            </a:r>
          </a:p>
          <a:p>
            <a:pPr marL="0" indent="0" eaLnBrk="1" hangingPunct="1">
              <a:buNone/>
            </a:pP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GIF does have the distinct advantage of supporting animation achieved by repeatedly showing a series of frames.</a:t>
            </a:r>
          </a:p>
          <a:p>
            <a:pPr eaLnBrk="1" hangingPunct="1"/>
            <a:endParaRPr lang="en-US" altLang="en-US" sz="1833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B1008-F8C1-4642-A366-06208A011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583" y="3459426"/>
            <a:ext cx="3898239" cy="2128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12328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18DA8B69-B798-804C-973E-906C527C3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750" y="127000"/>
            <a:ext cx="7886700" cy="1104636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Comparison(Optional)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F1CF24F7-9832-0642-8537-701ACD95F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0" y="1079500"/>
            <a:ext cx="8096250" cy="45085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1833" dirty="0">
                <a:latin typeface="Tahoma" charset="0"/>
              </a:rPr>
              <a:t>Summary of these formats. The alpha channel is one reason .</a:t>
            </a:r>
            <a:r>
              <a:rPr lang="en-US" sz="1833" dirty="0" err="1">
                <a:latin typeface="Tahoma" charset="0"/>
              </a:rPr>
              <a:t>png</a:t>
            </a:r>
            <a:r>
              <a:rPr lang="en-US" sz="1833" dirty="0">
                <a:latin typeface="Tahoma" charset="0"/>
              </a:rPr>
              <a:t> files are popular in game images(Sprites). </a:t>
            </a:r>
          </a:p>
          <a:p>
            <a:pPr marL="0" indent="0">
              <a:buNone/>
              <a:defRPr/>
            </a:pPr>
            <a:endParaRPr lang="en-US" sz="1833" dirty="0">
              <a:latin typeface="Tahoma" charset="0"/>
            </a:endParaRPr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C8AC01AF-5EB5-F546-80CD-C1BA0EEB6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965960"/>
            <a:ext cx="8206377" cy="1997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22499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084600A3-0BF1-F14F-948C-5778CBD47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030" y="127000"/>
            <a:ext cx="7886700" cy="1104636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Vector Graphics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C499422-9A33-914A-AF06-438EF3811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030" y="1079500"/>
            <a:ext cx="8141970" cy="45085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If a raster graphics image is scaled larger, the image will appear pixelated.  </a:t>
            </a:r>
          </a:p>
          <a:p>
            <a:pPr marL="0" indent="0" eaLnBrk="1" hangingPunct="1">
              <a:buNone/>
            </a:pPr>
            <a:r>
              <a:rPr lang="en-US" altLang="en-US" sz="1833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Vector graphics</a:t>
            </a: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 can scale without losing quality.</a:t>
            </a:r>
          </a:p>
          <a:p>
            <a:pPr marL="0" indent="0" eaLnBrk="1" hangingPunct="1">
              <a:buNone/>
            </a:pPr>
            <a:endParaRPr lang="en-US" altLang="en-US" sz="1833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Unlike raster graphics, vector graphics doesn't involve turning an image into a grid and storing the values of individual pixels.</a:t>
            </a:r>
          </a:p>
          <a:p>
            <a:pPr marL="0" indent="0" eaLnBrk="1" hangingPunct="1">
              <a:buNone/>
            </a:pP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Instead, vector graphics stores images using mathematics.</a:t>
            </a:r>
          </a:p>
          <a:p>
            <a:pPr marL="342900" lvl="1" indent="0" eaLnBrk="1" hangingPunct="1">
              <a:buNone/>
            </a:pPr>
            <a:r>
              <a:rPr lang="en-US" altLang="en-US" sz="1500" dirty="0">
                <a:latin typeface="Tahoma" panose="020B0604030504040204" pitchFamily="34" charset="0"/>
              </a:rPr>
              <a:t>For example, let's say we want to represent a circle. In raster graphics, we'd create a grid of squares and then trace out a circle by filling in squares with some color.</a:t>
            </a:r>
          </a:p>
          <a:p>
            <a:pPr marL="342900" lvl="1" indent="0" eaLnBrk="1" hangingPunct="1">
              <a:buNone/>
            </a:pPr>
            <a:r>
              <a:rPr lang="en-US" altLang="en-US" sz="1500" dirty="0">
                <a:latin typeface="Tahoma" panose="020B0604030504040204" pitchFamily="34" charset="0"/>
              </a:rPr>
              <a:t>Using vector graphics, we'd instead say that the equation for a square looks something like x^2 + y^2 = r^2.</a:t>
            </a:r>
          </a:p>
          <a:p>
            <a:pPr marL="342900" lvl="1" indent="0" eaLnBrk="1" hangingPunct="1">
              <a:buNone/>
            </a:pPr>
            <a:r>
              <a:rPr lang="en-US" altLang="en-US" sz="1500" dirty="0">
                <a:latin typeface="Tahoma" panose="020B0604030504040204" pitchFamily="34" charset="0"/>
              </a:rPr>
              <a:t>We can create a raster graphic simply by picking a size for the image, then using the equation to figure out which pixels should be colored.</a:t>
            </a:r>
          </a:p>
          <a:p>
            <a:pPr marL="342900" lvl="1" indent="0" eaLnBrk="1" hangingPunct="1">
              <a:buNone/>
            </a:pPr>
            <a:r>
              <a:rPr lang="en-US" altLang="en-US" sz="1500" dirty="0">
                <a:latin typeface="Tahoma" panose="020B0604030504040204" pitchFamily="34" charset="0"/>
              </a:rPr>
              <a:t>This representation doesn't depend on any pixels. </a:t>
            </a:r>
            <a:r>
              <a:rPr lang="en-US" altLang="en-US" sz="1500" b="1" dirty="0">
                <a:latin typeface="Tahoma" panose="020B0604030504040204" pitchFamily="34" charset="0"/>
              </a:rPr>
              <a:t>If we want to create a larger circle, we can just pick a larger value for r, and our equation will create a larger circle without any loss in quality. </a:t>
            </a:r>
          </a:p>
        </p:txBody>
      </p:sp>
    </p:spTree>
    <p:extLst>
      <p:ext uri="{BB962C8B-B14F-4D97-AF65-F5344CB8AC3E}">
        <p14:creationId xmlns:p14="http://schemas.microsoft.com/office/powerpoint/2010/main" val="35672356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450" y="25135"/>
            <a:ext cx="7886700" cy="1104636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Scalable Vector Graphics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1079500"/>
            <a:ext cx="8881110" cy="45085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1833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Scalable Vector Graphics(SVG)</a:t>
            </a: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 is an example of a vector graphic.</a:t>
            </a:r>
          </a:p>
          <a:p>
            <a:pPr marL="0" indent="0" eaLnBrk="1" hangingPunct="1">
              <a:buNone/>
            </a:pPr>
            <a:endParaRPr lang="en-US" altLang="en-US" sz="1833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1833" dirty="0">
                <a:latin typeface="Tahoma" panose="020B0604030504040204" pitchFamily="34" charset="0"/>
                <a:ea typeface="ＭＳ Ｐゴシック" panose="020B0600070205080204" pitchFamily="34" charset="-128"/>
              </a:rPr>
              <a:t>Notice the difference below between a JPEG and a SVG after some rescaling.</a:t>
            </a:r>
          </a:p>
          <a:p>
            <a:pPr marL="0" indent="0" eaLnBrk="1" hangingPunct="1">
              <a:buNone/>
            </a:pPr>
            <a:endParaRPr lang="en-US" altLang="en-US" sz="1833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1833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In the </a:t>
            </a:r>
            <a:r>
              <a:rPr lang="en-US" altLang="en-US" sz="1833" b="1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powerpoint</a:t>
            </a:r>
            <a:r>
              <a:rPr lang="en-US" altLang="en-US" sz="1833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 version </a:t>
            </a:r>
          </a:p>
          <a:p>
            <a:pPr marL="0" indent="0" eaLnBrk="1" hangingPunct="1">
              <a:buNone/>
            </a:pPr>
            <a:r>
              <a:rPr lang="en-US" altLang="en-US" sz="1833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of this slides, you can play </a:t>
            </a:r>
          </a:p>
          <a:p>
            <a:pPr marL="0" indent="0" eaLnBrk="1" hangingPunct="1">
              <a:buNone/>
            </a:pPr>
            <a:r>
              <a:rPr lang="en-US" altLang="en-US" sz="1833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around with the SVG on </a:t>
            </a:r>
          </a:p>
          <a:p>
            <a:pPr marL="0" indent="0" eaLnBrk="1" hangingPunct="1">
              <a:buNone/>
            </a:pPr>
            <a:r>
              <a:rPr lang="en-US" altLang="en-US" sz="1833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the right.</a:t>
            </a:r>
            <a:endParaRPr lang="en-US" altLang="en-US" sz="1500" b="1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38916" name="Picture 1" descr="sqrt_b^2-4ac.pdf">
            <a:extLst>
              <a:ext uri="{FF2B5EF4-FFF2-40B4-BE49-F238E27FC236}">
                <a16:creationId xmlns:a16="http://schemas.microsoft.com/office/drawing/2014/main" id="{8720B090-DCDD-0E44-B6F5-49D2ED5D8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2602117"/>
            <a:ext cx="1870710" cy="510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58A264-102B-7A50-F3AE-8D4F466A0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229" y="3636579"/>
            <a:ext cx="2958796" cy="99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31242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Numpy</a:t>
            </a:r>
            <a:endParaRPr lang="en-US" altLang="en-US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Python is currently one of most popular languages. It has many optimized libraries for working with data. </a:t>
            </a: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2000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Numpy</a:t>
            </a: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 is a Python library that provides a high-performing multidimensional array object(matrices) and mathematical operations to work with these arrays.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numpy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>
                <a:solidFill>
                  <a:srgbClr val="3C9FF2"/>
                </a:solidFill>
                <a:latin typeface="Inconsolata" panose="020B0609030003000000" pitchFamily="49" charset="77"/>
              </a:rPr>
              <a:t>np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 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a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np.array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([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1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3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4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])  </a:t>
            </a:r>
            <a:endParaRPr lang="en-US" sz="20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b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np.array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([[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1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3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4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], [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5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6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7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8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]])  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print(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a.shape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)   # </a:t>
            </a:r>
            <a:r>
              <a:rPr lang="en-US" sz="2000" b="1" dirty="0">
                <a:latin typeface="Inconsolata" panose="020B0609030003000000" pitchFamily="49" charset="77"/>
              </a:rPr>
              <a:t>(4,)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print(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b.shape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)   # (2, 4)</a:t>
            </a:r>
          </a:p>
          <a:p>
            <a:pPr marL="0" indent="0">
              <a:buNone/>
            </a:pPr>
            <a:r>
              <a:rPr lang="en-US" sz="2000" b="1" dirty="0">
                <a:latin typeface="Inconsolata" panose="020B0609030003000000" pitchFamily="49" charset="77"/>
              </a:rPr>
              <a:t>print(</a:t>
            </a:r>
            <a:r>
              <a:rPr lang="en-US" sz="2000" b="1" dirty="0" err="1">
                <a:latin typeface="Inconsolata" panose="020B0609030003000000" pitchFamily="49" charset="77"/>
              </a:rPr>
              <a:t>b.dtype</a:t>
            </a:r>
            <a:r>
              <a:rPr lang="en-US" sz="2000" b="1" dirty="0">
                <a:latin typeface="Inconsolata" panose="020B0609030003000000" pitchFamily="49" charset="77"/>
              </a:rPr>
              <a:t>)	# int64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AAF74-F00C-F040-8E4A-7243A6B2470A}"/>
              </a:ext>
            </a:extLst>
          </p:cNvPr>
          <p:cNvSpPr txBox="1"/>
          <p:nvPr/>
        </p:nvSpPr>
        <p:spPr>
          <a:xfrm>
            <a:off x="5246371" y="3366823"/>
            <a:ext cx="37376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FF0000"/>
                </a:solidFill>
              </a:rPr>
              <a:t>Numpy</a:t>
            </a:r>
            <a:r>
              <a:rPr lang="en-US" sz="1800" dirty="0">
                <a:solidFill>
                  <a:srgbClr val="FF0000"/>
                </a:solidFill>
              </a:rPr>
              <a:t> arrays can only store data of a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single type and are super fast. 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Python lists can hold objects of different types and are very slow.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F2D51-B1F8-2344-A1E7-8773AEFAFAB6}"/>
              </a:ext>
            </a:extLst>
          </p:cNvPr>
          <p:cNvSpPr txBox="1"/>
          <p:nvPr/>
        </p:nvSpPr>
        <p:spPr>
          <a:xfrm>
            <a:off x="3230805" y="2830282"/>
            <a:ext cx="26023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np is an alias for </a:t>
            </a:r>
            <a:r>
              <a:rPr lang="en-US" sz="2000" dirty="0" err="1">
                <a:solidFill>
                  <a:srgbClr val="FF0000"/>
                </a:solidFill>
              </a:rPr>
              <a:t>numpy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100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Numpy</a:t>
            </a:r>
            <a:endParaRPr lang="en-US" altLang="en-US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numpy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>
                <a:solidFill>
                  <a:srgbClr val="3C9FF2"/>
                </a:solidFill>
                <a:latin typeface="Inconsolata" panose="020B0609030003000000" pitchFamily="49" charset="77"/>
              </a:rPr>
              <a:t>np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 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a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np.array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([[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1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3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4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],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             [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5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6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7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8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],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             [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9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10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11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,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12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]])  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print(a[0, 0]) 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# 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print(a[1, 3] 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# 8</a:t>
            </a:r>
          </a:p>
          <a:p>
            <a:pPr marL="0" indent="0">
              <a:buNone/>
            </a:pPr>
            <a:endParaRPr lang="en-US" sz="2000" b="1" dirty="0">
              <a:solidFill>
                <a:srgbClr val="000000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endParaRPr lang="en-US" sz="2000" b="1" dirty="0">
              <a:solidFill>
                <a:srgbClr val="000000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print(a[:, 1:3])   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Inconsolata" panose="020B0609030003000000" pitchFamily="49" charset="77"/>
              </a:rPr>
              <a:t>[[ 2, 3],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Inconsolata" panose="020B0609030003000000" pitchFamily="49" charset="77"/>
              </a:rPr>
              <a:t> [ 6, 7],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Inconsolata" panose="020B0609030003000000" pitchFamily="49" charset="77"/>
              </a:rPr>
              <a:t> [10, 11]]</a:t>
            </a:r>
            <a:endParaRPr lang="en-US" altLang="en-US" sz="2000" b="1" dirty="0">
              <a:solidFill>
                <a:srgbClr val="FFC000"/>
              </a:solidFill>
              <a:latin typeface="Inconsolata" panose="020B0609030003000000" pitchFamily="49" charset="77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000" b="1" dirty="0">
              <a:latin typeface="Inconsolata" panose="020B0609030003000000" pitchFamily="49" charset="77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000" b="1" dirty="0">
              <a:latin typeface="Inconsolata" panose="020B0609030003000000" pitchFamily="49" charset="77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AAF74-F00C-F040-8E4A-7243A6B2470A}"/>
              </a:ext>
            </a:extLst>
          </p:cNvPr>
          <p:cNvSpPr txBox="1"/>
          <p:nvPr/>
        </p:nvSpPr>
        <p:spPr>
          <a:xfrm>
            <a:off x="3053572" y="4545128"/>
            <a:ext cx="2956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Similar to Python lists, slicing works with </a:t>
            </a:r>
            <a:r>
              <a:rPr lang="en-US" sz="1800" dirty="0" err="1">
                <a:solidFill>
                  <a:srgbClr val="FF0000"/>
                </a:solidFill>
              </a:rPr>
              <a:t>Numpy</a:t>
            </a:r>
            <a:r>
              <a:rPr lang="en-US" sz="1800" dirty="0">
                <a:solidFill>
                  <a:srgbClr val="FF0000"/>
                </a:solidFill>
              </a:rPr>
              <a:t> arrays!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DA85D8-BAC7-F342-BB7F-F6038CD9EA6E}"/>
              </a:ext>
            </a:extLst>
          </p:cNvPr>
          <p:cNvCxnSpPr>
            <a:cxnSpLocks/>
          </p:cNvCxnSpPr>
          <p:nvPr/>
        </p:nvCxnSpPr>
        <p:spPr>
          <a:xfrm flipH="1" flipV="1">
            <a:off x="1874520" y="4342474"/>
            <a:ext cx="971551" cy="59528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EEE966-90E5-CD43-AFCD-52079A2E1D4C}"/>
              </a:ext>
            </a:extLst>
          </p:cNvPr>
          <p:cNvSpPr txBox="1"/>
          <p:nvPr/>
        </p:nvSpPr>
        <p:spPr>
          <a:xfrm>
            <a:off x="4361657" y="1980337"/>
            <a:ext cx="29568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Note the use of commas, if it was a 2D Python list:</a:t>
            </a:r>
          </a:p>
          <a:p>
            <a:r>
              <a:rPr lang="en-US" sz="1800" dirty="0">
                <a:solidFill>
                  <a:srgbClr val="FF0000"/>
                </a:solidFill>
              </a:rPr>
              <a:t>print(a[0][0])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 err="1">
                <a:solidFill>
                  <a:srgbClr val="FF0000"/>
                </a:solidFill>
              </a:rPr>
              <a:t>Numpy</a:t>
            </a:r>
            <a:r>
              <a:rPr lang="en-US" sz="1800" dirty="0">
                <a:solidFill>
                  <a:srgbClr val="FF0000"/>
                </a:solidFill>
              </a:rPr>
              <a:t> uses commas(tuples) for indexing.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E8172B-0EF6-3B41-9FFC-196528577C4F}"/>
              </a:ext>
            </a:extLst>
          </p:cNvPr>
          <p:cNvCxnSpPr>
            <a:cxnSpLocks/>
          </p:cNvCxnSpPr>
          <p:nvPr/>
        </p:nvCxnSpPr>
        <p:spPr>
          <a:xfrm flipH="1">
            <a:off x="2251710" y="2564004"/>
            <a:ext cx="2109947" cy="1095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996AE9-AD39-854F-9B80-3B4C14E48D43}"/>
              </a:ext>
            </a:extLst>
          </p:cNvPr>
          <p:cNvSpPr txBox="1"/>
          <p:nvPr/>
        </p:nvSpPr>
        <p:spPr>
          <a:xfrm>
            <a:off x="8583930" y="514350"/>
            <a:ext cx="184731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3180C8-8F58-4D40-A53D-0C3BE519403B}"/>
              </a:ext>
            </a:extLst>
          </p:cNvPr>
          <p:cNvSpPr txBox="1"/>
          <p:nvPr/>
        </p:nvSpPr>
        <p:spPr>
          <a:xfrm>
            <a:off x="2846071" y="3970618"/>
            <a:ext cx="3299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# all rows, columns 1 and 2.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3465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Matplotlib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Matplotlib is built on top of </a:t>
            </a:r>
            <a:r>
              <a:rPr lang="en-US" altLang="en-US" sz="2000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Numpy</a:t>
            </a: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 and provides plotting capabilities. It is recommended that you use the </a:t>
            </a:r>
            <a:r>
              <a:rPr lang="en-US" altLang="en-US" sz="2000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Jupyter</a:t>
            </a: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 Notebook when working with these libraries.</a:t>
            </a: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matplotlib.pyplot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plt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 </a:t>
            </a:r>
            <a:endParaRPr lang="en-US" sz="20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plt.imread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("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flower.jpg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")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print(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img.shape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(859, 840, 3)</a:t>
            </a:r>
            <a:endParaRPr lang="en-US" sz="2000" dirty="0">
              <a:solidFill>
                <a:srgbClr val="FFC000"/>
              </a:solidFill>
              <a:latin typeface="Menlo" panose="020B0609030804020204" pitchFamily="49" charset="0"/>
            </a:endParaRP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1596A-996B-9249-8652-7F75EB9AE1C5}"/>
              </a:ext>
            </a:extLst>
          </p:cNvPr>
          <p:cNvSpPr txBox="1"/>
          <p:nvPr/>
        </p:nvSpPr>
        <p:spPr>
          <a:xfrm>
            <a:off x="342900" y="4342474"/>
            <a:ext cx="9813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rows</a:t>
            </a:r>
          </a:p>
          <a:p>
            <a:r>
              <a:rPr lang="en-US" sz="2000" dirty="0"/>
              <a:t>(height)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4BC49-1F1F-0341-9507-44825541CE0B}"/>
              </a:ext>
            </a:extLst>
          </p:cNvPr>
          <p:cNvSpPr txBox="1"/>
          <p:nvPr/>
        </p:nvSpPr>
        <p:spPr>
          <a:xfrm>
            <a:off x="1281785" y="4311994"/>
            <a:ext cx="10470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columns</a:t>
            </a:r>
          </a:p>
          <a:p>
            <a:r>
              <a:rPr lang="en-US" sz="2000" dirty="0"/>
              <a:t>(width)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CE870C-E10D-A248-9785-5753225BC3F9}"/>
              </a:ext>
            </a:extLst>
          </p:cNvPr>
          <p:cNvSpPr txBox="1"/>
          <p:nvPr/>
        </p:nvSpPr>
        <p:spPr>
          <a:xfrm>
            <a:off x="1981876" y="3911884"/>
            <a:ext cx="1529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RGB channel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B1E42E-1957-2042-B32D-2BBF2CBEA7A2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551184" y="3749040"/>
            <a:ext cx="282396" cy="5934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BE839-451B-BA49-97BA-0ED8C7313C5B}"/>
              </a:ext>
            </a:extLst>
          </p:cNvPr>
          <p:cNvCxnSpPr>
            <a:cxnSpLocks/>
          </p:cNvCxnSpPr>
          <p:nvPr/>
        </p:nvCxnSpPr>
        <p:spPr>
          <a:xfrm flipH="1" flipV="1">
            <a:off x="1211791" y="3718560"/>
            <a:ext cx="142486" cy="5934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B47E41-5C33-8A4C-8CBF-CE87B35F966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588770" y="3718560"/>
            <a:ext cx="393106" cy="3933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247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Matplotlib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</a:rPr>
              <a:t>In Matplotlib, the </a:t>
            </a:r>
            <a:r>
              <a:rPr lang="en-US" sz="2000" dirty="0">
                <a:latin typeface="Gill Sans MT" panose="020B0502020104020203" pitchFamily="34" charset="77"/>
              </a:rPr>
              <a:t>Figure</a:t>
            </a:r>
            <a:r>
              <a:rPr lang="en-US" dirty="0">
                <a:latin typeface="Gill Sans MT" panose="020B0502020104020203" pitchFamily="34" charset="77"/>
              </a:rPr>
              <a:t> object is used to contain one or more sets of </a:t>
            </a:r>
            <a:r>
              <a:rPr lang="en-US" sz="2000" dirty="0">
                <a:latin typeface="Gill Sans MT" panose="020B0502020104020203" pitchFamily="34" charset="77"/>
              </a:rPr>
              <a:t>Axes</a:t>
            </a:r>
            <a:r>
              <a:rPr lang="en-US" dirty="0">
                <a:latin typeface="Gill Sans MT" panose="020B0502020104020203" pitchFamily="34" charset="77"/>
              </a:rPr>
              <a:t> objects. Data is plotted within a given set of axes.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</a:rPr>
              <a:t>The </a:t>
            </a:r>
            <a:r>
              <a:rPr lang="en-US" sz="2000" b="1" dirty="0">
                <a:latin typeface="Gill Sans MT" panose="020B0502020104020203" pitchFamily="34" charset="77"/>
              </a:rPr>
              <a:t>subplots()</a:t>
            </a:r>
            <a:r>
              <a:rPr lang="en-US" dirty="0">
                <a:latin typeface="Gill Sans MT" panose="020B0502020104020203" pitchFamily="34" charset="77"/>
              </a:rPr>
              <a:t> function can be used to create a figure along with a specified layout of axes. 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matplotlib.pyplot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plt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 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fig, ax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plt.subplots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()</a:t>
            </a:r>
          </a:p>
          <a:p>
            <a:pPr marL="0" indent="0">
              <a:buNone/>
            </a:pPr>
            <a:endParaRPr lang="en-US" sz="20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1596A-996B-9249-8652-7F75EB9AE1C5}"/>
              </a:ext>
            </a:extLst>
          </p:cNvPr>
          <p:cNvSpPr txBox="1"/>
          <p:nvPr/>
        </p:nvSpPr>
        <p:spPr>
          <a:xfrm>
            <a:off x="99190" y="4342474"/>
            <a:ext cx="88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Figure </a:t>
            </a:r>
          </a:p>
          <a:p>
            <a:r>
              <a:rPr lang="en-US" sz="2000" dirty="0"/>
              <a:t>object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4BC49-1F1F-0341-9507-44825541CE0B}"/>
              </a:ext>
            </a:extLst>
          </p:cNvPr>
          <p:cNvSpPr txBox="1"/>
          <p:nvPr/>
        </p:nvSpPr>
        <p:spPr>
          <a:xfrm>
            <a:off x="1077244" y="4413442"/>
            <a:ext cx="14161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Axes object</a:t>
            </a:r>
          </a:p>
          <a:p>
            <a:endParaRPr lang="en-US" sz="2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B1E42E-1957-2042-B32D-2BBF2CBEA7A2}"/>
              </a:ext>
            </a:extLst>
          </p:cNvPr>
          <p:cNvCxnSpPr>
            <a:cxnSpLocks/>
          </p:cNvCxnSpPr>
          <p:nvPr/>
        </p:nvCxnSpPr>
        <p:spPr>
          <a:xfrm flipV="1">
            <a:off x="551187" y="3749040"/>
            <a:ext cx="0" cy="5934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BE839-451B-BA49-97BA-0ED8C7313C5B}"/>
              </a:ext>
            </a:extLst>
          </p:cNvPr>
          <p:cNvCxnSpPr>
            <a:cxnSpLocks/>
          </p:cNvCxnSpPr>
          <p:nvPr/>
        </p:nvCxnSpPr>
        <p:spPr>
          <a:xfrm flipH="1" flipV="1">
            <a:off x="1211791" y="3718560"/>
            <a:ext cx="142486" cy="5934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349B6E7-9385-1247-A5D2-421CE2A2A78F}"/>
              </a:ext>
            </a:extLst>
          </p:cNvPr>
          <p:cNvSpPr txBox="1"/>
          <p:nvPr/>
        </p:nvSpPr>
        <p:spPr>
          <a:xfrm>
            <a:off x="4689565" y="3514071"/>
            <a:ext cx="28803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By default, subplots will create a figure with a single set of axes; calling it will return the figure object and its axes object in a tuple.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1046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imshow</a:t>
            </a:r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()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matplotlib.pyplot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plt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 </a:t>
            </a:r>
            <a:endParaRPr lang="en-US" sz="20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plt.imread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("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flower.jpg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")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print(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img.shape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) 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#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(859, 840, 3)</a:t>
            </a:r>
            <a:endParaRPr lang="en-US" sz="1800" dirty="0">
              <a:solidFill>
                <a:schemeClr val="accent1">
                  <a:lumMod val="75000"/>
                </a:schemeClr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rgbClr val="000000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fig, ax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plt.subplots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()</a:t>
            </a:r>
          </a:p>
          <a:p>
            <a:pPr marL="0" indent="0">
              <a:buNone/>
            </a:pP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ax.imshow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(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)</a:t>
            </a:r>
          </a:p>
          <a:p>
            <a:pPr marL="0" indent="0">
              <a:buNone/>
            </a:pPr>
            <a:endParaRPr lang="en-US" sz="20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 eaLnBrk="1" hangingPunct="1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2000" b="1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imshow</a:t>
            </a:r>
            <a:r>
              <a:rPr lang="en-US" altLang="en-US" sz="20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()  displays the 2D </a:t>
            </a:r>
          </a:p>
          <a:p>
            <a:pPr marL="0" indent="0" eaLnBrk="1" hangingPunct="1">
              <a:buNone/>
            </a:pPr>
            <a:r>
              <a:rPr lang="en-US" altLang="en-US" sz="20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grid of pixels as an image. </a:t>
            </a: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9B1BA9-6040-FA49-9CAF-103DB8B9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140" y="2363556"/>
            <a:ext cx="4932660" cy="27143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BE839-451B-BA49-97BA-0ED8C7313C5B}"/>
              </a:ext>
            </a:extLst>
          </p:cNvPr>
          <p:cNvCxnSpPr>
            <a:cxnSpLocks/>
          </p:cNvCxnSpPr>
          <p:nvPr/>
        </p:nvCxnSpPr>
        <p:spPr>
          <a:xfrm>
            <a:off x="3421083" y="2057598"/>
            <a:ext cx="1379517" cy="14742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B1E42E-1957-2042-B32D-2BBF2CBEA7A2}"/>
              </a:ext>
            </a:extLst>
          </p:cNvPr>
          <p:cNvCxnSpPr>
            <a:cxnSpLocks/>
          </p:cNvCxnSpPr>
          <p:nvPr/>
        </p:nvCxnSpPr>
        <p:spPr>
          <a:xfrm>
            <a:off x="3989070" y="2057598"/>
            <a:ext cx="2085869" cy="6130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120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Pixels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A327"/>
                </a:solidFill>
                <a:latin typeface="Inconsolata" panose="020B0609030003000000" pitchFamily="49" charset="77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18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matplotlib.pyplot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1800" b="1" dirty="0">
                <a:solidFill>
                  <a:srgbClr val="34A327"/>
                </a:solidFill>
                <a:latin typeface="Inconsolata" panose="020B0609030003000000" pitchFamily="49" charset="77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18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plt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 </a:t>
            </a:r>
            <a:endParaRPr lang="en-US" sz="18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18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plt.imread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("</a:t>
            </a:r>
            <a:r>
              <a:rPr lang="en-US" sz="18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flower.jpg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")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print(</a:t>
            </a:r>
            <a:r>
              <a:rPr lang="en-US" sz="18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img.shape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)   # </a:t>
            </a:r>
            <a:r>
              <a:rPr lang="en-US" sz="1800" dirty="0"/>
              <a:t>(859, 840, 3)</a:t>
            </a:r>
            <a:endParaRPr lang="en-US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000000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fig, ax = </a:t>
            </a:r>
            <a:r>
              <a:rPr lang="en-US" sz="18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plt.subplots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()</a:t>
            </a:r>
          </a:p>
          <a:p>
            <a:pPr marL="0" indent="0">
              <a:buNone/>
            </a:pPr>
            <a:r>
              <a:rPr lang="en-US" altLang="en-US" sz="18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ax.imshow</a:t>
            </a:r>
            <a:r>
              <a:rPr lang="en-US" altLang="en-US" sz="18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(</a:t>
            </a:r>
            <a:r>
              <a:rPr lang="en-US" altLang="en-US" sz="18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</a:t>
            </a:r>
            <a:r>
              <a:rPr lang="en-US" altLang="en-US" sz="18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)</a:t>
            </a:r>
          </a:p>
          <a:p>
            <a:pPr marL="0" indent="0">
              <a:buNone/>
            </a:pPr>
            <a:endParaRPr lang="en-US" sz="18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# (0,0) pixel, slicing all colors</a:t>
            </a:r>
            <a:endParaRPr lang="en-US" sz="18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print(</a:t>
            </a:r>
            <a:r>
              <a:rPr lang="en-US" sz="18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</a:t>
            </a:r>
            <a:r>
              <a:rPr lang="en-US" sz="1800" b="1" dirty="0">
                <a:solidFill>
                  <a:srgbClr val="000000"/>
                </a:solidFill>
                <a:latin typeface="Inconsolata" panose="020B0609030003000000" pitchFamily="49" charset="77"/>
              </a:rPr>
              <a:t>[0,0,:])  </a:t>
            </a:r>
            <a:endParaRPr lang="en-US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Inconsolata" panose="020B0609030003000000" pitchFamily="49" charset="77"/>
              </a:rPr>
              <a:t>array([255, 255, 255], </a:t>
            </a:r>
            <a:r>
              <a:rPr lang="en-US" sz="1800" b="1" dirty="0" err="1">
                <a:solidFill>
                  <a:srgbClr val="FFC000"/>
                </a:solidFill>
                <a:latin typeface="Inconsolata" panose="020B0609030003000000" pitchFamily="49" charset="77"/>
              </a:rPr>
              <a:t>dtype</a:t>
            </a:r>
            <a:r>
              <a:rPr lang="en-US" sz="1800" b="1" dirty="0">
                <a:solidFill>
                  <a:srgbClr val="FFC000"/>
                </a:solidFill>
                <a:latin typeface="Inconsolata" panose="020B0609030003000000" pitchFamily="49" charset="77"/>
              </a:rPr>
              <a:t>=uint8)</a:t>
            </a:r>
          </a:p>
          <a:p>
            <a:pPr marL="0" indent="0">
              <a:buNone/>
            </a:pPr>
            <a:endParaRPr lang="en-US" altLang="en-US" sz="1800" b="1" dirty="0">
              <a:latin typeface="Inconsolata" panose="020B0609030003000000" pitchFamily="49" charset="77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9B1BA9-6040-FA49-9CAF-103DB8B9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382" y="2364144"/>
            <a:ext cx="4407926" cy="242561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BE839-451B-BA49-97BA-0ED8C7313C5B}"/>
              </a:ext>
            </a:extLst>
          </p:cNvPr>
          <p:cNvCxnSpPr>
            <a:cxnSpLocks/>
          </p:cNvCxnSpPr>
          <p:nvPr/>
        </p:nvCxnSpPr>
        <p:spPr>
          <a:xfrm>
            <a:off x="3452718" y="2057598"/>
            <a:ext cx="2125122" cy="16310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B1E42E-1957-2042-B32D-2BBF2CBEA7A2}"/>
              </a:ext>
            </a:extLst>
          </p:cNvPr>
          <p:cNvCxnSpPr>
            <a:cxnSpLocks/>
          </p:cNvCxnSpPr>
          <p:nvPr/>
        </p:nvCxnSpPr>
        <p:spPr>
          <a:xfrm>
            <a:off x="3989070" y="2057598"/>
            <a:ext cx="2085869" cy="6130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C40619-CB38-1148-8E28-2AB18D7D8F68}"/>
              </a:ext>
            </a:extLst>
          </p:cNvPr>
          <p:cNvSpPr txBox="1"/>
          <p:nvPr/>
        </p:nvSpPr>
        <p:spPr>
          <a:xfrm>
            <a:off x="3053572" y="4629995"/>
            <a:ext cx="2956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The (0, 0) pixel is at the top left corner of the image. 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94D49A-B128-6D44-9857-8BA5ECA6A5EE}"/>
              </a:ext>
            </a:extLst>
          </p:cNvPr>
          <p:cNvCxnSpPr>
            <a:cxnSpLocks/>
          </p:cNvCxnSpPr>
          <p:nvPr/>
        </p:nvCxnSpPr>
        <p:spPr>
          <a:xfrm flipV="1">
            <a:off x="4814443" y="2828222"/>
            <a:ext cx="863501" cy="16902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9538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Decomposing an Image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What would you guess the R, G and B components of the yellow pixel at the center of the flower? 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Since red + green is yellow. We should expect high components in the R and G channels and a low number for the B channel. 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18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print(</a:t>
            </a:r>
            <a:r>
              <a:rPr lang="en-US" altLang="en-US" sz="18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</a:t>
            </a:r>
            <a:r>
              <a:rPr lang="en-US" altLang="en-US" sz="18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[400,400,:])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Inconsolata" panose="020B0609030003000000" pitchFamily="49" charset="77"/>
              </a:rPr>
              <a:t>array([185, 135, 0], </a:t>
            </a:r>
            <a:r>
              <a:rPr lang="en-US" sz="1800" b="1" dirty="0" err="1">
                <a:solidFill>
                  <a:srgbClr val="FFC000"/>
                </a:solidFill>
                <a:latin typeface="Inconsolata" panose="020B0609030003000000" pitchFamily="49" charset="77"/>
              </a:rPr>
              <a:t>dtype</a:t>
            </a:r>
            <a:r>
              <a:rPr lang="en-US" sz="1800" b="1" dirty="0">
                <a:solidFill>
                  <a:srgbClr val="FFC000"/>
                </a:solidFill>
                <a:latin typeface="Inconsolata" panose="020B0609030003000000" pitchFamily="49" charset="77"/>
              </a:rPr>
              <a:t>=uint8)</a:t>
            </a: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9B1BA9-6040-FA49-9CAF-103DB8B9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276" y="2368473"/>
            <a:ext cx="4802270" cy="264261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D2DF99-A1E1-D642-8BA0-70B868CCF76B}"/>
              </a:ext>
            </a:extLst>
          </p:cNvPr>
          <p:cNvCxnSpPr>
            <a:cxnSpLocks/>
          </p:cNvCxnSpPr>
          <p:nvPr/>
        </p:nvCxnSpPr>
        <p:spPr>
          <a:xfrm>
            <a:off x="2991028" y="2768837"/>
            <a:ext cx="3580688" cy="8374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6640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Decomposing an Image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How about a pixel on one of the white petals?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Since red + green + blue is white. We should expect high components in all R, G and B channels. 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18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print(</a:t>
            </a:r>
            <a:r>
              <a:rPr lang="en-US" altLang="en-US" sz="18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</a:t>
            </a:r>
            <a:r>
              <a:rPr lang="en-US" altLang="en-US" sz="18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[200,400,:])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Inconsolata" panose="020B0609030003000000" pitchFamily="49" charset="77"/>
              </a:rPr>
              <a:t>array([218, 222, 225], </a:t>
            </a:r>
            <a:r>
              <a:rPr lang="en-US" sz="1800" b="1" dirty="0" err="1">
                <a:solidFill>
                  <a:srgbClr val="FFC000"/>
                </a:solidFill>
                <a:latin typeface="Inconsolata" panose="020B0609030003000000" pitchFamily="49" charset="77"/>
              </a:rPr>
              <a:t>dtype</a:t>
            </a:r>
            <a:r>
              <a:rPr lang="en-US" sz="1800" b="1" dirty="0">
                <a:solidFill>
                  <a:srgbClr val="FFC000"/>
                </a:solidFill>
                <a:latin typeface="Inconsolata" panose="020B0609030003000000" pitchFamily="49" charset="77"/>
              </a:rPr>
              <a:t>=uint8)</a:t>
            </a: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9B1BA9-6040-FA49-9CAF-103DB8B9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430" y="1916764"/>
            <a:ext cx="4801885" cy="264240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71B8BD-6F05-5848-B6E7-0A67A02907F8}"/>
              </a:ext>
            </a:extLst>
          </p:cNvPr>
          <p:cNvCxnSpPr>
            <a:cxnSpLocks/>
          </p:cNvCxnSpPr>
          <p:nvPr/>
        </p:nvCxnSpPr>
        <p:spPr>
          <a:xfrm>
            <a:off x="2905570" y="2529555"/>
            <a:ext cx="3794333" cy="2136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2950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Decomposing an Image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Let write code to decompose our flower image into its individual components. 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matplotlib.pyplot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plt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 </a:t>
            </a:r>
            <a:endParaRPr lang="en-US" sz="20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plt.imread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("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flower.jpg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")</a:t>
            </a: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# same shape as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img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, all zeroes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img_red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np.zeros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img.shape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img_green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np.zeros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img.shape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)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img_blue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np.zeros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img.shape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)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# extract all rows, all columns, but only one channel at a time</a:t>
            </a:r>
            <a:endParaRPr lang="en-US" altLang="en-US" sz="2000" b="1" dirty="0">
              <a:latin typeface="Inconsolata" panose="020B0609030003000000" pitchFamily="49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img_red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[:, :, 0] =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[:, :, 0]		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 # red channel</a:t>
            </a:r>
            <a:endParaRPr lang="en-US" altLang="en-US" sz="2000" b="1" dirty="0">
              <a:latin typeface="Inconsolata" panose="020B0609030003000000" pitchFamily="49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img_green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[:, :, 1] =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[:, :, 1]	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# green channel</a:t>
            </a:r>
            <a:endParaRPr lang="en-US" altLang="en-US" sz="2000" b="1" dirty="0">
              <a:latin typeface="Inconsolata" panose="020B0609030003000000" pitchFamily="49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img_blue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[:, :, 2] =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[:, :, 2]		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77"/>
              </a:rPr>
              <a:t># blue channel</a:t>
            </a:r>
            <a:endParaRPr lang="en-US" altLang="en-US" sz="2000" b="1" dirty="0">
              <a:latin typeface="Inconsolata" panose="020B0609030003000000" pitchFamily="49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</p:spTree>
    <p:extLst>
      <p:ext uri="{BB962C8B-B14F-4D97-AF65-F5344CB8AC3E}">
        <p14:creationId xmlns:p14="http://schemas.microsoft.com/office/powerpoint/2010/main" val="12307819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095" y="50955"/>
            <a:ext cx="7898664" cy="763038"/>
          </a:xfrm>
        </p:spPr>
        <p:txBody>
          <a:bodyPr/>
          <a:lstStyle/>
          <a:p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Decomposing an Image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553" y="743484"/>
            <a:ext cx="8604547" cy="4844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Gill Sans MT" panose="020B0502020104020203" pitchFamily="34" charset="77"/>
                <a:ea typeface="ＭＳ Ｐゴシック" panose="020B0600070205080204" pitchFamily="34" charset="-128"/>
              </a:rPr>
              <a:t>The following code continues from the previous slide:</a:t>
            </a:r>
          </a:p>
          <a:p>
            <a:pPr marL="0" indent="0">
              <a:buNone/>
            </a:pPr>
            <a:endParaRPr lang="en-US" altLang="en-US" sz="2000" b="1" dirty="0">
              <a:latin typeface="Inconsolata" panose="020B0609030003000000" pitchFamily="49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fig,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axs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 =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plt.subplots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(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nrows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=1,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ncols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=3,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figsize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=(15,5))</a:t>
            </a:r>
            <a:endParaRPr lang="en-US" altLang="en-US" sz="2000" b="1" dirty="0">
              <a:latin typeface="INCONSOLATA" panose="020B0609030003000000" pitchFamily="49" charset="77"/>
              <a:ea typeface="ＭＳ Ｐゴシック" panose="020B0600070205080204" pitchFamily="34" charset="-128"/>
              <a:cs typeface="InaiMathi" pitchFamily="2" charset="0"/>
            </a:endParaRPr>
          </a:p>
          <a:p>
            <a:pPr marL="0" indent="0">
              <a:buNone/>
            </a:pP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axs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[0].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imshow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(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img_red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)</a:t>
            </a:r>
          </a:p>
          <a:p>
            <a:pPr marL="0" indent="0">
              <a:buNone/>
            </a:pP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axs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[1].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imshow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(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img_green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)</a:t>
            </a:r>
          </a:p>
          <a:p>
            <a:pPr marL="0" indent="0">
              <a:buNone/>
            </a:pP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axs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[2].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imshow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(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img_blue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  <a:cs typeface="InaiMathi" pitchFamily="2" charset="0"/>
              </a:rPr>
              <a:t>)</a:t>
            </a: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F910D-BCDA-814B-AE33-5E262772747F}"/>
              </a:ext>
            </a:extLst>
          </p:cNvPr>
          <p:cNvSpPr txBox="1"/>
          <p:nvPr/>
        </p:nvSpPr>
        <p:spPr>
          <a:xfrm>
            <a:off x="5990602" y="935753"/>
            <a:ext cx="2956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Creates 3 Axes objects using 1 row and 3 columns layout.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375954-2625-3941-A804-760A2DF2B15E}"/>
              </a:ext>
            </a:extLst>
          </p:cNvPr>
          <p:cNvCxnSpPr>
            <a:cxnSpLocks/>
          </p:cNvCxnSpPr>
          <p:nvPr/>
        </p:nvCxnSpPr>
        <p:spPr>
          <a:xfrm flipH="1">
            <a:off x="4689987" y="1222267"/>
            <a:ext cx="1300615" cy="2025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761A01-1D14-8949-B413-803644E65921}"/>
              </a:ext>
            </a:extLst>
          </p:cNvPr>
          <p:cNvSpPr txBox="1"/>
          <p:nvPr/>
        </p:nvSpPr>
        <p:spPr>
          <a:xfrm>
            <a:off x="5746125" y="2463806"/>
            <a:ext cx="2318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(width, height) of Figure object</a:t>
            </a: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DCEE4F-12DB-C440-A68D-9EF5BC29E8AE}"/>
              </a:ext>
            </a:extLst>
          </p:cNvPr>
          <p:cNvCxnSpPr>
            <a:cxnSpLocks/>
          </p:cNvCxnSpPr>
          <p:nvPr/>
        </p:nvCxnSpPr>
        <p:spPr>
          <a:xfrm flipV="1">
            <a:off x="6477910" y="1921353"/>
            <a:ext cx="0" cy="4580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89E7DC2-C7B2-2646-B742-09A4F410A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97" y="3299960"/>
            <a:ext cx="7669319" cy="228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508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Decomposing an Image(</a:t>
            </a:r>
            <a:r>
              <a:rPr lang="en-US" altLang="en-US" dirty="0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Optional</a:t>
            </a:r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We can write the previous code using a for loop instead.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matplotlib.pyplot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>
                <a:solidFill>
                  <a:srgbClr val="34A327"/>
                </a:solidFill>
                <a:latin typeface="Inconsolata" panose="020B0609030003000000" pitchFamily="49" charset="77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</a:t>
            </a:r>
            <a:r>
              <a:rPr lang="en-US" sz="2000" b="1" dirty="0" err="1">
                <a:solidFill>
                  <a:srgbClr val="3C9FF2"/>
                </a:solidFill>
                <a:latin typeface="Inconsolata" panose="020B0609030003000000" pitchFamily="49" charset="77"/>
              </a:rPr>
              <a:t>plt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 </a:t>
            </a:r>
            <a:endParaRPr lang="en-US" sz="2000" b="1" dirty="0">
              <a:solidFill>
                <a:srgbClr val="34A327"/>
              </a:solidFill>
              <a:latin typeface="Inconsolata" panose="020B0609030003000000" pitchFamily="49" charset="77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img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plt.imread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("</a:t>
            </a:r>
            <a:r>
              <a:rPr lang="en-US" sz="2000" b="1" dirty="0" err="1">
                <a:solidFill>
                  <a:srgbClr val="000000"/>
                </a:solidFill>
                <a:latin typeface="Inconsolata" panose="020B0609030003000000" pitchFamily="49" charset="77"/>
              </a:rPr>
              <a:t>flower.jpg</a:t>
            </a:r>
            <a:r>
              <a:rPr lang="en-US" sz="2000" b="1" dirty="0">
                <a:solidFill>
                  <a:srgbClr val="000000"/>
                </a:solidFill>
                <a:latin typeface="Inconsolata" panose="020B0609030003000000" pitchFamily="49" charset="77"/>
              </a:rPr>
              <a:t>")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fig,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axs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 =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plt.subplots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(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nrows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=1,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ncols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=3,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figsize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=(15,5))</a:t>
            </a:r>
          </a:p>
          <a:p>
            <a:pPr marL="0" indent="0">
              <a:buNone/>
            </a:pP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for c in range(3):</a:t>
            </a:r>
          </a:p>
          <a:p>
            <a:pPr marL="0" indent="0">
              <a:buNone/>
            </a:pP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   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temp_img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 =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np.zeros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(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img.shape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)</a:t>
            </a:r>
          </a:p>
          <a:p>
            <a:pPr marL="0" indent="0">
              <a:buNone/>
            </a:pP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   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temp_img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[:,:,c] =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img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[:,:,c]</a:t>
            </a:r>
          </a:p>
          <a:p>
            <a:pPr marL="0" indent="0">
              <a:buNone/>
            </a:pP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    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axs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[c].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imshow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(</a:t>
            </a:r>
            <a:r>
              <a:rPr lang="en-US" altLang="en-US" sz="2000" b="1" dirty="0" err="1">
                <a:latin typeface="Inconsolata" panose="020B0609030003000000" pitchFamily="49" charset="77"/>
                <a:ea typeface="ＭＳ Ｐゴシック" panose="020B0600070205080204" pitchFamily="34" charset="-128"/>
              </a:rPr>
              <a:t>temp_img</a:t>
            </a:r>
            <a:r>
              <a:rPr lang="en-US" altLang="en-US" sz="2000" b="1" dirty="0">
                <a:latin typeface="Inconsolata" panose="020B0609030003000000" pitchFamily="49" charset="77"/>
                <a:ea typeface="ＭＳ Ｐゴシック" panose="020B0600070205080204" pitchFamily="34" charset="-128"/>
              </a:rPr>
              <a:t>)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See the next slide for the output. 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F910D-BCDA-814B-AE33-5E262772747F}"/>
              </a:ext>
            </a:extLst>
          </p:cNvPr>
          <p:cNvSpPr txBox="1"/>
          <p:nvPr/>
        </p:nvSpPr>
        <p:spPr>
          <a:xfrm>
            <a:off x="5112735" y="1767079"/>
            <a:ext cx="2956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Creates 3 Axes objects using 1 row and 3 columns layout.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375954-2625-3941-A804-760A2DF2B15E}"/>
              </a:ext>
            </a:extLst>
          </p:cNvPr>
          <p:cNvCxnSpPr>
            <a:cxnSpLocks/>
          </p:cNvCxnSpPr>
          <p:nvPr/>
        </p:nvCxnSpPr>
        <p:spPr>
          <a:xfrm flipH="1">
            <a:off x="4916558" y="2446443"/>
            <a:ext cx="834885" cy="6505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761A01-1D14-8949-B413-803644E65921}"/>
              </a:ext>
            </a:extLst>
          </p:cNvPr>
          <p:cNvSpPr txBox="1"/>
          <p:nvPr/>
        </p:nvSpPr>
        <p:spPr>
          <a:xfrm>
            <a:off x="6529369" y="4210294"/>
            <a:ext cx="2318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(width, height) of Figure object</a:t>
            </a: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DCEE4F-12DB-C440-A68D-9EF5BC29E8AE}"/>
              </a:ext>
            </a:extLst>
          </p:cNvPr>
          <p:cNvCxnSpPr>
            <a:cxnSpLocks/>
          </p:cNvCxnSpPr>
          <p:nvPr/>
        </p:nvCxnSpPr>
        <p:spPr>
          <a:xfrm flipV="1">
            <a:off x="7248939" y="3496364"/>
            <a:ext cx="0" cy="7139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6535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Sum of Its Parts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FA4B18-2409-7443-BAB9-279603F80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80657"/>
            <a:ext cx="7406640" cy="22096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F8619A-03FB-4F4A-9933-28685CD86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285" y="627926"/>
            <a:ext cx="2725420" cy="24690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E6EF9C-C6EC-AA48-BD08-41E2BD6AA3A6}"/>
              </a:ext>
            </a:extLst>
          </p:cNvPr>
          <p:cNvSpPr txBox="1"/>
          <p:nvPr/>
        </p:nvSpPr>
        <p:spPr>
          <a:xfrm>
            <a:off x="5959967" y="1441122"/>
            <a:ext cx="2956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High red, high green component and no blue component gives yellow!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0A6661-8521-3A42-BDD4-D793FFFDE6E2}"/>
              </a:ext>
            </a:extLst>
          </p:cNvPr>
          <p:cNvCxnSpPr>
            <a:cxnSpLocks/>
          </p:cNvCxnSpPr>
          <p:nvPr/>
        </p:nvCxnSpPr>
        <p:spPr>
          <a:xfrm flipV="1">
            <a:off x="2331720" y="1758421"/>
            <a:ext cx="2200275" cy="24468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4E3268-2487-A74F-984B-966D6F904A0F}"/>
              </a:ext>
            </a:extLst>
          </p:cNvPr>
          <p:cNvCxnSpPr>
            <a:cxnSpLocks/>
          </p:cNvCxnSpPr>
          <p:nvPr/>
        </p:nvCxnSpPr>
        <p:spPr>
          <a:xfrm flipV="1">
            <a:off x="4609570" y="1910822"/>
            <a:ext cx="74825" cy="22327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9925D6-6A5C-A24E-A77D-87DD4BA3D4B3}"/>
              </a:ext>
            </a:extLst>
          </p:cNvPr>
          <p:cNvCxnSpPr>
            <a:cxnSpLocks/>
          </p:cNvCxnSpPr>
          <p:nvPr/>
        </p:nvCxnSpPr>
        <p:spPr>
          <a:xfrm flipH="1" flipV="1">
            <a:off x="4843448" y="1841075"/>
            <a:ext cx="1968833" cy="23024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85428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>
            <a:normAutofit/>
          </a:bodyPr>
          <a:lstStyle/>
          <a:p>
            <a:r>
              <a:rPr lang="en-US" altLang="en-US" sz="3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Sum of Its Parts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FA4B18-2409-7443-BAB9-279603F80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80657"/>
            <a:ext cx="7406640" cy="22096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F8619A-03FB-4F4A-9933-28685CD86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285" y="627926"/>
            <a:ext cx="2725420" cy="24690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E6EF9C-C6EC-AA48-BD08-41E2BD6AA3A6}"/>
              </a:ext>
            </a:extLst>
          </p:cNvPr>
          <p:cNvSpPr txBox="1"/>
          <p:nvPr/>
        </p:nvSpPr>
        <p:spPr>
          <a:xfrm>
            <a:off x="5959967" y="1441122"/>
            <a:ext cx="2956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High red, high green component and high blue component gives white!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0A6661-8521-3A42-BDD4-D793FFFDE6E2}"/>
              </a:ext>
            </a:extLst>
          </p:cNvPr>
          <p:cNvCxnSpPr>
            <a:cxnSpLocks/>
          </p:cNvCxnSpPr>
          <p:nvPr/>
        </p:nvCxnSpPr>
        <p:spPr>
          <a:xfrm flipV="1">
            <a:off x="2434590" y="1234440"/>
            <a:ext cx="2249805" cy="25260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4E3268-2487-A74F-984B-966D6F904A0F}"/>
              </a:ext>
            </a:extLst>
          </p:cNvPr>
          <p:cNvCxnSpPr>
            <a:cxnSpLocks/>
          </p:cNvCxnSpPr>
          <p:nvPr/>
        </p:nvCxnSpPr>
        <p:spPr>
          <a:xfrm flipV="1">
            <a:off x="4684395" y="1234440"/>
            <a:ext cx="0" cy="25260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9925D6-6A5C-A24E-A77D-87DD4BA3D4B3}"/>
              </a:ext>
            </a:extLst>
          </p:cNvPr>
          <p:cNvCxnSpPr>
            <a:cxnSpLocks/>
          </p:cNvCxnSpPr>
          <p:nvPr/>
        </p:nvCxnSpPr>
        <p:spPr>
          <a:xfrm flipH="1" flipV="1">
            <a:off x="4684395" y="1234440"/>
            <a:ext cx="2276475" cy="25260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80325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RGB to Grayscale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Many image software allows you to convert your image to a black and white version. This amounts to convert the tuple (R, G, B) to one grayscale number. 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Two common algorithms found in some software uses the </a:t>
            </a:r>
            <a:r>
              <a:rPr lang="en-US" altLang="en-US" sz="2000" b="1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average method </a:t>
            </a: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or the </a:t>
            </a:r>
            <a:r>
              <a:rPr lang="en-US" altLang="en-US" sz="2000" b="1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luminosity method</a:t>
            </a: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. (See, for example, the free, open source, image manipulation program called GIMP).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The average method simply averages the R, G, B components: </a:t>
            </a:r>
          </a:p>
          <a:p>
            <a:pPr marL="0" indent="0" algn="ctr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		(R + G + B) / 3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The luminosity method computes a weighted average taking into account human perception of lightness(for example, human are more sensitive to green, so green has a larger weight):</a:t>
            </a:r>
          </a:p>
          <a:p>
            <a:pPr marL="0" indent="0" algn="ctr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0.21* R + 0.72 * G + 0.07 * B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	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</p:spTree>
    <p:extLst>
      <p:ext uri="{BB962C8B-B14F-4D97-AF65-F5344CB8AC3E}">
        <p14:creationId xmlns:p14="http://schemas.microsoft.com/office/powerpoint/2010/main" val="13008600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" y="127000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RGB to Grayscale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925830"/>
            <a:ext cx="8538210" cy="4662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In your homework,  you'll write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Python code to do the following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conversion to grayscale. 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The left image uses the average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method, the right uses the luminosity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method. 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The luminosity is the 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default method in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GIMP.</a:t>
            </a:r>
          </a:p>
          <a:p>
            <a:pPr marL="0" indent="0">
              <a:buNone/>
            </a:pPr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F03A0-8F0D-5C4D-9293-AC370AAED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022" y="3337131"/>
            <a:ext cx="6230978" cy="22508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57797D-1E82-4F45-B825-271C4541F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061" y="989283"/>
            <a:ext cx="2882900" cy="216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475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1ABAB85-1B1D-E842-8BF4-B8AF1337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013" y="25605"/>
            <a:ext cx="7886700" cy="83259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Tint(Optional)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58E18ED-8D49-8844-A857-3DC2CAD81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890" y="753979"/>
            <a:ext cx="8538210" cy="4834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To tint an image is to mix its colors with white. This will increase the lightness of the image. 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In your lab, you will write a Python function, which takes an image and a percentage value as a parameter. Setting 'percentage' to 0 will not change the image, setting it to one means that the image will be completely whitened.</a:t>
            </a:r>
          </a:p>
          <a:p>
            <a:pPr marL="0" indent="0">
              <a:buNone/>
            </a:pPr>
            <a:r>
              <a:rPr lang="en-US" altLang="en-US" sz="2000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For example, suppose a pixel with RGB components of [0.80, 0.60, 0.40]. Tinting it by 25% means that the pixel is now [0.85, 0.70, 0.55]. </a:t>
            </a:r>
          </a:p>
        </p:txBody>
      </p:sp>
      <p:sp>
        <p:nvSpPr>
          <p:cNvPr id="38915" name="Picture 5" descr="sqrt_b^2-4ac.pdf">
            <a:extLst>
              <a:ext uri="{FF2B5EF4-FFF2-40B4-BE49-F238E27FC236}">
                <a16:creationId xmlns:a16="http://schemas.microsoft.com/office/drawing/2014/main" id="{96383EC4-01AF-BA4A-B24B-794940A33441}"/>
              </a:ext>
            </a:extLst>
          </p:cNvPr>
          <p:cNvSpPr>
            <a:spLocks noChangeAspect="1"/>
          </p:cNvSpPr>
          <p:nvPr/>
        </p:nvSpPr>
        <p:spPr bwMode="auto">
          <a:xfrm>
            <a:off x="791105" y="3366823"/>
            <a:ext cx="7141104" cy="19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5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B0FFF-B2B1-6740-87C2-1A5A80E3D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3" y="3161850"/>
            <a:ext cx="8881110" cy="236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5897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04EF925E-10C6-394F-AB0C-F09871E99C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References</a:t>
            </a:r>
          </a:p>
        </p:txBody>
      </p:sp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id="{4AA38F8C-E2AA-EA4D-A486-FA2F457B38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8610" y="1177290"/>
            <a:ext cx="8595360" cy="4140835"/>
          </a:xfrm>
        </p:spPr>
        <p:txBody>
          <a:bodyPr/>
          <a:lstStyle/>
          <a:p>
            <a:pPr marL="0" indent="0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1) Part of this lecture is taken from a lecture from an </a:t>
            </a:r>
            <a:r>
              <a:rPr lang="en-US" altLang="en-US" sz="2000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OpenCourseWare</a:t>
            </a: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 course below.</a:t>
            </a:r>
          </a:p>
          <a:p>
            <a:pPr marL="0" indent="0">
              <a:buNone/>
            </a:pP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Computer Science E-1 at Harvard Extension School</a:t>
            </a:r>
          </a:p>
          <a:p>
            <a:pPr marL="0" indent="0">
              <a:buNone/>
            </a:pP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Understanding Computers and the Internet</a:t>
            </a:r>
          </a:p>
          <a:p>
            <a:pPr marL="0" indent="0">
              <a:buNone/>
            </a:pP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by Tommy </a:t>
            </a:r>
            <a:r>
              <a:rPr lang="en-US" altLang="en-US" sz="2000" dirty="0" err="1">
                <a:latin typeface="Tahoma" panose="020B0604030504040204" pitchFamily="34" charset="0"/>
                <a:ea typeface="ＭＳ Ｐゴシック" panose="020B0600070205080204" pitchFamily="34" charset="-128"/>
              </a:rPr>
              <a:t>MacWilliam</a:t>
            </a: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.</a:t>
            </a:r>
          </a:p>
          <a:p>
            <a:pPr marL="0" indent="0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2) The formulas for converting RGB to grayscale can be found in the GIMP documentation: </a:t>
            </a:r>
            <a:r>
              <a:rPr lang="en-US" sz="2000" dirty="0">
                <a:hlinkClick r:id="rId2"/>
              </a:rPr>
              <a:t>https://docs.gimp.org/2.6/en/gimp-tool-desaturate.html</a:t>
            </a: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069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4528</TotalTime>
  <Words>2692</Words>
  <Application>Microsoft Macintosh PowerPoint</Application>
  <PresentationFormat>On-screen Show (16:10)</PresentationFormat>
  <Paragraphs>317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ＭＳ Ｐゴシック</vt:lpstr>
      <vt:lpstr>Arial</vt:lpstr>
      <vt:lpstr>Calibri</vt:lpstr>
      <vt:lpstr>Courier New</vt:lpstr>
      <vt:lpstr>Gill Sans MT</vt:lpstr>
      <vt:lpstr>Inconsolata</vt:lpstr>
      <vt:lpstr>Inconsolata</vt:lpstr>
      <vt:lpstr>Menlo</vt:lpstr>
      <vt:lpstr>Tahoma</vt:lpstr>
      <vt:lpstr>Office Theme</vt:lpstr>
      <vt:lpstr>Understanding Data Part 2</vt:lpstr>
      <vt:lpstr>Bitmap</vt:lpstr>
      <vt:lpstr>Red Green Blue(RGB) model</vt:lpstr>
      <vt:lpstr>Metadata</vt:lpstr>
      <vt:lpstr>RGB Model</vt:lpstr>
      <vt:lpstr>Resolution</vt:lpstr>
      <vt:lpstr>Lossless Compression</vt:lpstr>
      <vt:lpstr>Lossy Compression</vt:lpstr>
      <vt:lpstr>Data Compression</vt:lpstr>
      <vt:lpstr>Comparison(Optional)</vt:lpstr>
      <vt:lpstr>Comparison(Optional)</vt:lpstr>
      <vt:lpstr>Vector Graphics</vt:lpstr>
      <vt:lpstr>Scalable Vector Graphics</vt:lpstr>
      <vt:lpstr>Numpy</vt:lpstr>
      <vt:lpstr>Numpy</vt:lpstr>
      <vt:lpstr>Matplotlib</vt:lpstr>
      <vt:lpstr>Matplotlib</vt:lpstr>
      <vt:lpstr>imshow()</vt:lpstr>
      <vt:lpstr>Pixels</vt:lpstr>
      <vt:lpstr>Decomposing an Image</vt:lpstr>
      <vt:lpstr>Decomposing an Image</vt:lpstr>
      <vt:lpstr>Decomposing an Image</vt:lpstr>
      <vt:lpstr>Decomposing an Image</vt:lpstr>
      <vt:lpstr>Decomposing an Image(Optional)</vt:lpstr>
      <vt:lpstr>Sum of Its Parts</vt:lpstr>
      <vt:lpstr>Sum of Its Parts</vt:lpstr>
      <vt:lpstr>RGB to Grayscale</vt:lpstr>
      <vt:lpstr>RGB to Grayscale</vt:lpstr>
      <vt:lpstr>Tint(Optional)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Games in Python</dc:title>
  <dc:creator>Long B Nguyen</dc:creator>
  <cp:lastModifiedBy>Long B Nguyen</cp:lastModifiedBy>
  <cp:revision>4</cp:revision>
  <dcterms:created xsi:type="dcterms:W3CDTF">2019-05-29T16:38:51Z</dcterms:created>
  <dcterms:modified xsi:type="dcterms:W3CDTF">2026-02-25T18:55:07Z</dcterms:modified>
</cp:coreProperties>
</file>