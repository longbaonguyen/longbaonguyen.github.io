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notesMasterIdLst>
    <p:notesMasterId r:id="rId24"/>
  </p:notesMasterIdLst>
  <p:sldIdLst>
    <p:sldId id="256" r:id="rId2"/>
    <p:sldId id="291" r:id="rId30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8" r:id="rId11"/>
    <p:sldId id="277" r:id="rId12"/>
    <p:sldId id="279" r:id="rId13"/>
    <p:sldId id="280" r:id="rId14"/>
    <p:sldId id="281" r:id="rId15"/>
    <p:sldId id="282" r:id="rId16"/>
    <p:sldId id="284" r:id="rId17"/>
    <p:sldId id="285" r:id="rId18"/>
    <p:sldId id="286" r:id="rId19"/>
    <p:sldId id="287" r:id="rId20"/>
    <p:sldId id="288" r:id="rId21"/>
    <p:sldId id="289" r:id="rId22"/>
    <p:sldId id="290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304"/>
    <p:restoredTop sz="94749"/>
  </p:normalViewPr>
  <p:slideViewPr>
    <p:cSldViewPr snapToGrid="0">
      <p:cViewPr varScale="1">
        <p:scale>
          <a:sx n="104" d="100"/>
          <a:sy n="104" d="100"/>
        </p:scale>
        <p:origin x="148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microsoft.com/office/2016/11/relationships/changesInfo" Target="changesInfos/changesInfo1.xml"/><Relationship Id="rId30" Type="http://schemas.openxmlformats.org/officeDocument/2006/relationships/slide" Target="slides/slide2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ng B Nguyen" userId="f59fb8f3-a021-417a-8bc1-65c8d471c621" providerId="ADAL" clId="{93BE87BA-F8CA-5C1F-82FF-B4CAB5F485A1}"/>
    <pc:docChg chg="undo custSel addSld delSld modSld">
      <pc:chgData name="Long B Nguyen" userId="f59fb8f3-a021-417a-8bc1-65c8d471c621" providerId="ADAL" clId="{93BE87BA-F8CA-5C1F-82FF-B4CAB5F485A1}" dt="2026-09-09T17:23:16.261" v="458" actId="2696"/>
      <pc:docMkLst>
        <pc:docMk/>
      </pc:docMkLst>
      <pc:sldChg chg="modSp add del mod">
        <pc:chgData name="Long B Nguyen" userId="f59fb8f3-a021-417a-8bc1-65c8d471c621" providerId="ADAL" clId="{93BE87BA-F8CA-5C1F-82FF-B4CAB5F485A1}" dt="2026-09-09T17:23:16.261" v="458" actId="2696"/>
        <pc:sldMkLst>
          <pc:docMk/>
          <pc:sldMk cId="4171217931" sldId="260"/>
        </pc:sldMkLst>
      </pc:sldChg>
      <pc:sldChg chg="addSp delSp modSp new add del mod">
        <pc:chgData name="Long B Nguyen" userId="f59fb8f3-a021-417a-8bc1-65c8d471c621" providerId="ADAL" clId="{93BE87BA-F8CA-5C1F-82FF-B4CAB5F485A1}" dt="2026-09-09T17:23:13.522" v="457" actId="2696"/>
        <pc:sldMkLst>
          <pc:docMk/>
          <pc:sldMk cId="3341754043" sldId="268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F9E25C-E78A-F049-A5F9-66D132E4491F}" type="datetimeFigureOut">
              <a:rPr lang="en-US" smtClean="0"/>
              <a:t>9/9/26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E30976-F472-FB42-87FA-3F2CAC2C0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681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F74D9-FA73-A442-939C-44543C4B35DD}" type="datetime1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72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CE46C-4868-7A46-88A6-A25EEE25EBFD}" type="datetime1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860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E7396-05DE-4042-A32D-AD40EE8D8AF2}" type="datetime1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636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F6B4-66D4-E64C-99C9-1E207BF31674}" type="datetime1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958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515CF-FD18-D44B-8EB8-EBD16B3F7C9B}" type="datetime1">
              <a:rPr lang="en-US" smtClean="0"/>
              <a:t>9/9/26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431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39518-C35B-E440-996A-CD60917F5F1E}" type="datetime1">
              <a:rPr lang="en-US" smtClean="0"/>
              <a:t>9/9/26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354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D6928-1A37-B143-8A60-ED0AE018B853}" type="datetime1">
              <a:rPr lang="en-US" smtClean="0"/>
              <a:t>9/9/26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370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CF135-FE81-0746-BDEF-466969F3F521}" type="datetime1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802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2209C-0B0D-3B48-AB20-5313FB169767}" type="datetime1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691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F08C2-4570-7545-A452-29F0E1B9EF52}" type="datetime1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466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E05C1-9BE9-5447-9923-E460FB70A0C3}" type="datetime1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2623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F31876-D07F-F645-8940-A0CD4EDD3AD7}" type="datetime1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842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5" r:id="rId6"/>
    <p:sldLayoutId id="2147483680" r:id="rId7"/>
    <p:sldLayoutId id="2147483681" r:id="rId8"/>
    <p:sldLayoutId id="2147483682" r:id="rId9"/>
    <p:sldLayoutId id="2147483684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textbooks.math.gatech.edu/ila/" TargetMode="External"/><Relationship Id="rId3" Type="http://schemas.openxmlformats.org/officeDocument/2006/relationships/hyperlink" Target="https://www.gnu.org/licenses/fdl-1.3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A32057F-F015-B1B2-4E3E-2307F8EFC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64C5A0-1385-7A91-3A0B-7F053BEC4D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5" y="355831"/>
            <a:ext cx="4361688" cy="3475236"/>
          </a:xfrm>
        </p:spPr>
        <p:txBody>
          <a:bodyPr>
            <a:normAutofit/>
          </a:bodyPr>
          <a:lstStyle/>
          <a:p>
            <a:pPr algn="l"/>
            <a:r>
              <a:rPr lang="en-US" sz="5400" dirty="0"/>
              <a:t>Linear Algebra Notes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906E69-9DA0-7100-07FC-16D08761D6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54292" y="4520124"/>
            <a:ext cx="4932908" cy="1514915"/>
          </a:xfrm>
        </p:spPr>
        <p:txBody>
          <a:bodyPr>
            <a:normAutofit/>
          </a:bodyPr>
          <a:lstStyle/>
          <a:p>
            <a:pPr algn="l"/>
            <a:r>
              <a:rPr lang="en-US" sz="2600" b="1" dirty="0"/>
              <a:t>Lecture 1: </a:t>
            </a:r>
          </a:p>
          <a:p>
            <a:pPr algn="l"/>
            <a:r>
              <a:rPr lang="en-US" sz="2000" b="1" dirty="0"/>
              <a:t>Systems of Linear Equations</a:t>
            </a:r>
          </a:p>
          <a:p>
            <a:pPr algn="l"/>
            <a:r>
              <a:rPr lang="en-US" b="1" dirty="0"/>
              <a:t>Math Seminar</a:t>
            </a:r>
          </a:p>
        </p:txBody>
      </p:sp>
      <p:pic>
        <p:nvPicPr>
          <p:cNvPr id="4" name="Picture 3" descr="Water droplet on a petal">
            <a:extLst>
              <a:ext uri="{FF2B5EF4-FFF2-40B4-BE49-F238E27FC236}">
                <a16:creationId xmlns:a16="http://schemas.microsoft.com/office/drawing/2014/main" id="{EE896E19-5236-8FD9-A07D-B18FC61CA4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210" r="19856"/>
          <a:stretch>
            <a:fillRect/>
          </a:stretch>
        </p:blipFill>
        <p:spPr>
          <a:xfrm>
            <a:off x="20" y="1"/>
            <a:ext cx="6575591" cy="68580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7CB3BC-14D6-F9C6-4327-700A17D6F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405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D7D886-E913-B056-189C-5219C0706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C744AB-EC67-EEC7-DE24-ABAB8ABD5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388" y="432672"/>
            <a:ext cx="9455223" cy="14430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506B5A-A144-731D-38AC-BAFD6D03F3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6279" y="2884558"/>
            <a:ext cx="9357332" cy="1734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452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84B124-083D-EF1B-89E1-30AFCF03E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4CFF0E-D74A-9A86-0C1D-5422E1050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050" y="518351"/>
            <a:ext cx="9897621" cy="3233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42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EC2583-4D20-72DA-9ACC-CB9564C83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810454-8E99-1961-C61C-5AB5A56F1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041" y="2229790"/>
            <a:ext cx="10069295" cy="10941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4BE71A7-18DC-A6C2-CEEF-32F8010402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8155" y="415190"/>
            <a:ext cx="9255689" cy="17936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F9A216-0327-5C52-91A0-56637DC9A349}"/>
              </a:ext>
            </a:extLst>
          </p:cNvPr>
          <p:cNvSpPr txBox="1"/>
          <p:nvPr/>
        </p:nvSpPr>
        <p:spPr>
          <a:xfrm>
            <a:off x="8381999" y="703385"/>
            <a:ext cx="1629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inconsistent!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7D11310-EC50-7F1A-9991-C39A344478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8192" y="3429000"/>
            <a:ext cx="6019800" cy="1371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B312BC-D92A-BFEF-36C2-C4DFA9C04A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5592" y="4905644"/>
            <a:ext cx="9648252" cy="154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24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6EB7DF-4C8D-117C-0E65-84DFDEB8C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8E503B-C20B-480D-4D60-146B5CB52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569" y="196614"/>
            <a:ext cx="9958753" cy="19745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5252586-DC16-5FC5-2D44-B6A9A3D806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0507" y="2352357"/>
            <a:ext cx="7772400" cy="4283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698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019483-7CFE-BEA3-E342-858A91054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C68617-1F5B-1A61-BA12-08A184738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238" y="91317"/>
            <a:ext cx="8056685" cy="23793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AC3ADA-B980-948D-068A-69AE3E1993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3893" y="2172841"/>
            <a:ext cx="6418384" cy="442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143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AFFC26-A9BB-1EAF-B7BD-77A62199A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C9C225-E9EB-221C-6D46-8B1F1B7D0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173" y="304909"/>
            <a:ext cx="9539654" cy="29837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82A5EF-8E98-FAB3-8F92-5481DB9533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024" y="4065111"/>
            <a:ext cx="10554960" cy="16791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3DD209-3153-8459-86B4-6194AC79AA60}"/>
              </a:ext>
            </a:extLst>
          </p:cNvPr>
          <p:cNvSpPr txBox="1"/>
          <p:nvPr/>
        </p:nvSpPr>
        <p:spPr>
          <a:xfrm>
            <a:off x="7690339" y="5216769"/>
            <a:ext cx="1718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see next slide</a:t>
            </a:r>
          </a:p>
        </p:txBody>
      </p:sp>
    </p:spTree>
    <p:extLst>
      <p:ext uri="{BB962C8B-B14F-4D97-AF65-F5344CB8AC3E}">
        <p14:creationId xmlns:p14="http://schemas.microsoft.com/office/powerpoint/2010/main" val="3867644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3AAE8D-5DCD-23E4-F127-A40D5AE2B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81253E-1E3C-0E85-E2D7-E00E8CC18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792" y="107153"/>
            <a:ext cx="8364415" cy="55182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E51654-3730-83BF-0538-C6D6B90B5F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846" y="5625430"/>
            <a:ext cx="7772400" cy="1256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315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F65E5A-3E43-AB4A-1AB9-017EA5B8B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891554-0F81-4A25-1E32-BB46384ED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85" y="187570"/>
            <a:ext cx="8967846" cy="15492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E78D6AF-70BD-C35A-B1DB-6F07AA8BB0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277" y="2235708"/>
            <a:ext cx="8376138" cy="16623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9FB4B7-5EF0-9F16-22E8-37D183ACF8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954" y="4396968"/>
            <a:ext cx="7772400" cy="1888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698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A0E816-99E2-926E-1E83-A34B7FCD3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10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03C9D1-A1DD-AF8A-A9F4-267B65E58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21211"/>
            <a:ext cx="7772400" cy="6215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1505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DD4094-1315-CEA2-CEF3-D7B74B836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08EE0F-3854-73B5-B0CE-B1790E8F46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6674" y="739951"/>
            <a:ext cx="9369552" cy="5378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7967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943BE7-0411-CC30-1E0B-D8A7EE4DD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FEEC5C-78FB-3D49-695C-C8479B55A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430" y="1578081"/>
            <a:ext cx="9795896" cy="309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4930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7C7E4-94DD-3D8E-F7A1-3506A3D78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35684A-2651-8E42-2082-7CDB47DAE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4A283A-92CF-96F6-C306-C5A64DE2D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168" y="374138"/>
            <a:ext cx="9284891" cy="186497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CA41EFD-B49A-7CB6-68D7-F120BA9D2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799" y="2506920"/>
            <a:ext cx="8340969" cy="3715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641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D6EDBE-6A9B-E36C-EEC6-AC3FF2D55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CDC816-38A2-C30A-A9B3-491FD8680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346" y="561918"/>
            <a:ext cx="10145445" cy="5158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9394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AC6632-22F0-5CF3-2F61-38C1C1A0C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07BC61-7430-3962-A6E1-13726781A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821" y="902679"/>
            <a:ext cx="9534286" cy="3263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4877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9765E3-3AE4-7E07-0A5C-F4C2E5EAC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FE4EC4-F3D2-D0F3-1F69-74330B8B7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368" y="282096"/>
            <a:ext cx="8833017" cy="4887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4395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72B22A-14CE-0F25-B3E1-3F6F943D9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4C0942-E3CA-32E6-3B19-1E9F2347D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815" y="225217"/>
            <a:ext cx="8575431" cy="5923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5237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B97276-B080-1FB3-9C23-4390C0F3A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B751DC-2F79-0BA7-E2BA-A8665838B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15" y="1940445"/>
            <a:ext cx="9095336" cy="2057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3863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D6DB9-EDF4-EB2D-B64E-7CB08E2ED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64CD27-22A9-2F02-0F67-613125386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78F3F9-B579-0362-D303-3651778E1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91" y="318951"/>
            <a:ext cx="9057598" cy="5800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968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A7688A-5B2D-45D4-380D-E7F378E35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20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2337EA-BAD2-3A8F-8176-0BC19B38D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90558"/>
            <a:ext cx="7772400" cy="6676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3543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6C6BFE-D1CC-14B4-A8DB-E77512160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71592B-EF82-A32F-E271-F7DF7C55F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676" y="2319540"/>
            <a:ext cx="9243646" cy="207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9608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13EC2C-650D-66D2-1B14-0C81D140B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215DF1-998D-520C-7BAB-279CC9E64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629" y="0"/>
            <a:ext cx="75827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801521"/>
      </p:ext>
    </p:extLst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51660"/>
            <a:ext cx="10966704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/>
              <a:t>These notes follow the textbook </a:t>
            </a:r>
            <a:r>
              <a:rPr sz="2000" i="1"/>
              <a:t>Interactive Linear Algebra</a:t>
            </a:r>
            <a:r>
              <a:rPr sz="2000"/>
              <a:t> by Dan Margalit and Joseph Rabinoff, School of Mathematics, Georgia Institute of Technology. Definitions, examples and figures in these slides are taken or adapted from it.</a:t>
            </a:r>
          </a:p>
          <a:p>
            <a:pPr>
              <a:spcAft>
                <a:spcPts val="2800"/>
              </a:spcAft>
            </a:pPr>
            <a:r>
              <a:rPr sz="2000">
                <a:hlinkClick r:id="rId2"/>
              </a:rPr>
              <a:t>https://textbooks.math.gatech.edu/ila/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75569"/>
                </a:solidFill>
              </a:rPr>
              <a:t>Interactive Linear Algebra © 2017 Georgia Institute of Technology. Permission is granted to copy, distribute and/or modify that document under the terms of the GNU Free Documentation License, Version 1.2 or any later version published by the Free Software Foundation; with no Invariant Sections, no Front-Cover Texts, and no Back-Cover Texts.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475569"/>
                </a:solidFill>
              </a:rPr>
              <a:t>These slides are a modified version of that work and are distributed under the same license:</a:t>
            </a:r>
          </a:p>
          <a:p>
            <a:pPr>
              <a:spcAft>
                <a:spcPts val="0"/>
              </a:spcAft>
            </a:pPr>
            <a:r>
              <a:rPr sz="1400">
                <a:hlinkClick r:id="rId3"/>
              </a:rPr>
              <a:t>https://www.gnu.org/licenses/fdl-1.3.html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D7D886-E913-B056-189C-5219C0706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39</Words>
  <Application>Microsoft Macintosh PowerPoint</Application>
  <PresentationFormat>Widescreen</PresentationFormat>
  <Paragraphs>28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Arial</vt:lpstr>
      <vt:lpstr>Neue Haas Grotesk Text Pro</vt:lpstr>
      <vt:lpstr>VanillaVTI</vt:lpstr>
      <vt:lpstr>Linear Algebra Notes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Long B Nguyen</dc:creator>
  <cp:lastModifiedBy>Long B Nguyen</cp:lastModifiedBy>
  <cp:revision>1</cp:revision>
  <dcterms:created xsi:type="dcterms:W3CDTF">2025-09-08T12:33:58Z</dcterms:created>
  <dcterms:modified xsi:type="dcterms:W3CDTF">2026-09-09T17:23:23Z</dcterms:modified>
</cp:coreProperties>
</file>